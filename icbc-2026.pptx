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style2.xml" ContentType="application/vnd.ms-office.chartstyle+xml"/>
  <Override PartName="/ppt/charts/chart2.xml" ContentType="application/vnd.openxmlformats-officedocument.drawingml.chart+xml"/>
  <Override PartName="/ppt/charts/colors2.xml" ContentType="application/vnd.ms-office.chartcolorstyle+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51435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LVPC</c:v>
                </c:pt>
              </c:strCache>
            </c:strRef>
          </c:tx>
          <c:spPr>
            <a:solidFill>
              <a:srgbClr val="94A3B8"/>
            </a:solidFill>
            <a:ln w="0">
              <a:noFill/>
            </a:ln>
          </c:spPr>
          <c:invertIfNegative val="0"/>
          <c:dLbls>
            <c:txPr>
              <a:bodyPr wrap="square"/>
              <a:lstStyle/>
              <a:p>
                <a:pPr>
                  <a:defRPr sz="1200" b="0" u="none" strike="noStrike">
                    <a:solidFill>
                      <a:srgbClr val="000000"/>
                    </a:solidFill>
                    <a:uFillTx/>
                    <a:latin typeface="Arial"/>
                    <a:ea typeface="DejaVu Sans"/>
                  </a:defRPr>
                </a:pPr>
              </a:p>
            </c:txPr>
            <c:dLblPos val="outEnd"/>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Power Law</c:v>
                </c:pt>
                <c:pt idx="1">
                  <c:v>Pref. Receiver</c:v>
                </c:pt>
                <c:pt idx="2">
                  <c:v>Uniform</c:v>
                </c:pt>
              </c:strCache>
            </c:strRef>
          </c:cat>
          <c:val>
            <c:numRef>
              <c:f>0</c:f>
              <c:numCache>
                <c:formatCode>General</c:formatCode>
                <c:ptCount val="3"/>
                <c:pt idx="0">
                  <c:v>2873</c:v>
                </c:pt>
                <c:pt idx="1">
                  <c:v>2440</c:v>
                </c:pt>
                <c:pt idx="2">
                  <c:v>3589</c:v>
                </c:pt>
              </c:numCache>
            </c:numRef>
          </c:val>
        </c:ser>
        <c:ser>
          <c:idx val="1"/>
          <c:order val="1"/>
          <c:tx>
            <c:strRef>
              <c:f>label 1</c:f>
              <c:strCache>
                <c:ptCount val="1"/>
                <c:pt idx="0">
                  <c:v>Donner</c:v>
                </c:pt>
              </c:strCache>
            </c:strRef>
          </c:tx>
          <c:spPr>
            <a:solidFill>
              <a:srgbClr val="F87171"/>
            </a:solidFill>
            <a:ln w="0">
              <a:noFill/>
            </a:ln>
          </c:spPr>
          <c:invertIfNegative val="0"/>
          <c:dLbls>
            <c:txPr>
              <a:bodyPr wrap="square"/>
              <a:lstStyle/>
              <a:p>
                <a:pPr>
                  <a:defRPr sz="1200" b="0" u="none" strike="noStrike">
                    <a:solidFill>
                      <a:srgbClr val="000000"/>
                    </a:solidFill>
                    <a:uFillTx/>
                    <a:latin typeface="Arial"/>
                    <a:ea typeface="DejaVu Sans"/>
                  </a:defRPr>
                </a:pPr>
              </a:p>
            </c:txPr>
            <c:dLblPos val="outEnd"/>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Power Law</c:v>
                </c:pt>
                <c:pt idx="1">
                  <c:v>Pref. Receiver</c:v>
                </c:pt>
                <c:pt idx="2">
                  <c:v>Uniform</c:v>
                </c:pt>
              </c:strCache>
            </c:strRef>
          </c:cat>
          <c:val>
            <c:numRef>
              <c:f>1</c:f>
              <c:numCache>
                <c:formatCode>General</c:formatCode>
                <c:ptCount val="3"/>
                <c:pt idx="0">
                  <c:v>2842</c:v>
                </c:pt>
                <c:pt idx="1">
                  <c:v>2361</c:v>
                </c:pt>
                <c:pt idx="2">
                  <c:v>3589</c:v>
                </c:pt>
              </c:numCache>
            </c:numRef>
          </c:val>
        </c:ser>
        <c:ser>
          <c:idx val="2"/>
          <c:order val="2"/>
          <c:tx>
            <c:strRef>
              <c:f>label 2</c:f>
              <c:strCache>
                <c:ptCount val="1"/>
                <c:pt idx="0">
                  <c:v>Elmo</c:v>
                </c:pt>
              </c:strCache>
            </c:strRef>
          </c:tx>
          <c:spPr>
            <a:solidFill>
              <a:srgbClr val="F7931A"/>
            </a:solidFill>
            <a:ln w="0">
              <a:noFill/>
            </a:ln>
          </c:spPr>
          <c:invertIfNegative val="0"/>
          <c:dLbls>
            <c:txPr>
              <a:bodyPr wrap="square"/>
              <a:lstStyle/>
              <a:p>
                <a:pPr>
                  <a:defRPr sz="1200" b="0" u="none" strike="noStrike">
                    <a:solidFill>
                      <a:srgbClr val="000000"/>
                    </a:solidFill>
                    <a:uFillTx/>
                    <a:latin typeface="Arial"/>
                    <a:ea typeface="DejaVu Sans"/>
                  </a:defRPr>
                </a:pPr>
              </a:p>
            </c:txPr>
            <c:dLblPos val="outEnd"/>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Power Law</c:v>
                </c:pt>
                <c:pt idx="1">
                  <c:v>Pref. Receiver</c:v>
                </c:pt>
                <c:pt idx="2">
                  <c:v>Uniform</c:v>
                </c:pt>
              </c:strCache>
            </c:strRef>
          </c:cat>
          <c:val>
            <c:numRef>
              <c:f>2</c:f>
              <c:numCache>
                <c:formatCode>General</c:formatCode>
                <c:ptCount val="3"/>
                <c:pt idx="0">
                  <c:v>2864</c:v>
                </c:pt>
                <c:pt idx="1">
                  <c:v>2344</c:v>
                </c:pt>
                <c:pt idx="2">
                  <c:v>3589</c:v>
                </c:pt>
              </c:numCache>
            </c:numRef>
          </c:val>
        </c:ser>
        <c:gapWidth val="150"/>
        <c:overlap val="0"/>
        <c:axId val="93086681"/>
        <c:axId val="52835829"/>
      </c:barChart>
      <c:catAx>
        <c:axId val="93086681"/>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900" b="0" u="none" strike="noStrike">
                <a:solidFill>
                  <a:srgbClr val="64748B"/>
                </a:solidFill>
                <a:uFillTx/>
                <a:latin typeface="Arial"/>
                <a:ea typeface="DejaVu Sans"/>
              </a:defRPr>
            </a:pPr>
          </a:p>
        </c:txPr>
        <c:crossAx val="52835829"/>
        <c:crosses val="autoZero"/>
        <c:auto val="1"/>
        <c:lblAlgn val="ctr"/>
        <c:lblOffset val="100"/>
        <c:noMultiLvlLbl val="0"/>
      </c:catAx>
      <c:valAx>
        <c:axId val="52835829"/>
        <c:scaling>
          <c:orientation val="minMax"/>
        </c:scaling>
        <c:delete val="0"/>
        <c:axPos val="l"/>
        <c:majorGridlines>
          <c:spPr>
            <a:ln w="6480">
              <a:solidFill>
                <a:srgbClr val="E2E8F0"/>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64748B"/>
                </a:solidFill>
                <a:uFillTx/>
                <a:latin typeface="Arial"/>
                <a:ea typeface="DejaVu Sans"/>
              </a:defRPr>
            </a:pPr>
          </a:p>
        </c:txPr>
        <c:crossAx val="93086681"/>
        <c:crosses val="autoZero"/>
        <c:crossBetween val="between"/>
      </c:valAx>
      <c:spPr>
        <a:noFill/>
        <a:ln w="0">
          <a:noFill/>
        </a:ln>
      </c:spPr>
    </c:plotArea>
    <c:legend>
      <c:legendPos val="b"/>
      <c:overlay val="0"/>
      <c:spPr>
        <a:noFill/>
        <a:ln w="0">
          <a:noFill/>
        </a:ln>
      </c:spPr>
      <c:txPr>
        <a:bodyPr/>
        <a:lstStyle/>
        <a:p>
          <a:pPr>
            <a:defRPr sz="900" b="0" u="none" strike="noStrike">
              <a:solidFill>
                <a:srgbClr val="000000"/>
              </a:solidFill>
              <a:uFillTx/>
              <a:latin typeface="Calibri"/>
              <a:ea typeface="DejaVu Sans"/>
            </a:defRPr>
          </a:pPr>
        </a:p>
      </c:txPr>
    </c:legend>
    <c:plotVisOnly val="1"/>
    <c:dispBlanksAs val="span"/>
  </c:chart>
  <c:spPr>
    <a:solidFill>
      <a:srgbClr val="FFFFFF"/>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LVPC</c:v>
                </c:pt>
              </c:strCache>
            </c:strRef>
          </c:tx>
          <c:spPr>
            <a:solidFill>
              <a:srgbClr val="94A3B8"/>
            </a:solidFill>
            <a:ln w="0">
              <a:noFill/>
            </a:ln>
          </c:spPr>
          <c:invertIfNegative val="0"/>
          <c:dLbls>
            <c:txPr>
              <a:bodyPr wrap="square"/>
              <a:lstStyle/>
              <a:p>
                <a:pPr>
                  <a:defRPr sz="1200" b="0" u="none" strike="noStrike">
                    <a:solidFill>
                      <a:srgbClr val="000000"/>
                    </a:solidFill>
                    <a:uFillTx/>
                    <a:latin typeface="Arial"/>
                    <a:ea typeface="DejaVu Sans"/>
                  </a:defRPr>
                </a:pPr>
              </a:p>
            </c:txPr>
            <c:dLblPos val="outEnd"/>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Power Law</c:v>
                </c:pt>
                <c:pt idx="1">
                  <c:v>Pref. Receiver</c:v>
                </c:pt>
                <c:pt idx="2">
                  <c:v>Uniform</c:v>
                </c:pt>
              </c:strCache>
            </c:strRef>
          </c:cat>
          <c:val>
            <c:numRef>
              <c:f>0</c:f>
              <c:numCache>
                <c:formatCode>General</c:formatCode>
                <c:ptCount val="3"/>
                <c:pt idx="0">
                  <c:v>0.81</c:v>
                </c:pt>
                <c:pt idx="1">
                  <c:v>0.8</c:v>
                </c:pt>
                <c:pt idx="2">
                  <c:v>0.99</c:v>
                </c:pt>
              </c:numCache>
            </c:numRef>
          </c:val>
        </c:ser>
        <c:ser>
          <c:idx val="1"/>
          <c:order val="1"/>
          <c:tx>
            <c:strRef>
              <c:f>label 1</c:f>
              <c:strCache>
                <c:ptCount val="1"/>
                <c:pt idx="0">
                  <c:v>Donner</c:v>
                </c:pt>
              </c:strCache>
            </c:strRef>
          </c:tx>
          <c:spPr>
            <a:solidFill>
              <a:srgbClr val="F87171"/>
            </a:solidFill>
            <a:ln w="0">
              <a:noFill/>
            </a:ln>
          </c:spPr>
          <c:invertIfNegative val="0"/>
          <c:dLbls>
            <c:txPr>
              <a:bodyPr wrap="square"/>
              <a:lstStyle/>
              <a:p>
                <a:pPr>
                  <a:defRPr sz="1200" b="0" u="none" strike="noStrike">
                    <a:solidFill>
                      <a:srgbClr val="000000"/>
                    </a:solidFill>
                    <a:uFillTx/>
                    <a:latin typeface="Arial"/>
                    <a:ea typeface="DejaVu Sans"/>
                  </a:defRPr>
                </a:pPr>
              </a:p>
            </c:txPr>
            <c:dLblPos val="outEnd"/>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Power Law</c:v>
                </c:pt>
                <c:pt idx="1">
                  <c:v>Pref. Receiver</c:v>
                </c:pt>
                <c:pt idx="2">
                  <c:v>Uniform</c:v>
                </c:pt>
              </c:strCache>
            </c:strRef>
          </c:cat>
          <c:val>
            <c:numRef>
              <c:f>1</c:f>
              <c:numCache>
                <c:formatCode>General</c:formatCode>
                <c:ptCount val="3"/>
                <c:pt idx="0">
                  <c:v>1</c:v>
                </c:pt>
                <c:pt idx="1">
                  <c:v>1</c:v>
                </c:pt>
                <c:pt idx="2">
                  <c:v>1</c:v>
                </c:pt>
              </c:numCache>
            </c:numRef>
          </c:val>
        </c:ser>
        <c:ser>
          <c:idx val="2"/>
          <c:order val="2"/>
          <c:tx>
            <c:strRef>
              <c:f>label 2</c:f>
              <c:strCache>
                <c:ptCount val="1"/>
                <c:pt idx="0">
                  <c:v>Elmo</c:v>
                </c:pt>
              </c:strCache>
            </c:strRef>
          </c:tx>
          <c:spPr>
            <a:solidFill>
              <a:srgbClr val="F7931A"/>
            </a:solidFill>
            <a:ln w="0">
              <a:noFill/>
            </a:ln>
          </c:spPr>
          <c:invertIfNegative val="0"/>
          <c:dLbls>
            <c:txPr>
              <a:bodyPr wrap="square"/>
              <a:lstStyle/>
              <a:p>
                <a:pPr>
                  <a:defRPr sz="1200" b="0" u="none" strike="noStrike">
                    <a:solidFill>
                      <a:srgbClr val="000000"/>
                    </a:solidFill>
                    <a:uFillTx/>
                    <a:latin typeface="Arial"/>
                    <a:ea typeface="DejaVu Sans"/>
                  </a:defRPr>
                </a:pPr>
              </a:p>
            </c:txPr>
            <c:dLblPos val="outEnd"/>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Power Law</c:v>
                </c:pt>
                <c:pt idx="1">
                  <c:v>Pref. Receiver</c:v>
                </c:pt>
                <c:pt idx="2">
                  <c:v>Uniform</c:v>
                </c:pt>
              </c:strCache>
            </c:strRef>
          </c:cat>
          <c:val>
            <c:numRef>
              <c:f>2</c:f>
              <c:numCache>
                <c:formatCode>General</c:formatCode>
                <c:ptCount val="3"/>
                <c:pt idx="0">
                  <c:v>0.83</c:v>
                </c:pt>
                <c:pt idx="1">
                  <c:v>0.87</c:v>
                </c:pt>
                <c:pt idx="2">
                  <c:v>0.99</c:v>
                </c:pt>
              </c:numCache>
            </c:numRef>
          </c:val>
        </c:ser>
        <c:gapWidth val="150"/>
        <c:overlap val="0"/>
        <c:axId val="16098595"/>
        <c:axId val="82726031"/>
      </c:barChart>
      <c:catAx>
        <c:axId val="16098595"/>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900" b="0" u="none" strike="noStrike">
                <a:solidFill>
                  <a:srgbClr val="64748B"/>
                </a:solidFill>
                <a:uFillTx/>
                <a:latin typeface="Arial"/>
                <a:ea typeface="DejaVu Sans"/>
              </a:defRPr>
            </a:pPr>
          </a:p>
        </c:txPr>
        <c:crossAx val="82726031"/>
        <c:crosses val="autoZero"/>
        <c:auto val="1"/>
        <c:lblAlgn val="ctr"/>
        <c:lblOffset val="100"/>
        <c:noMultiLvlLbl val="0"/>
      </c:catAx>
      <c:valAx>
        <c:axId val="82726031"/>
        <c:scaling>
          <c:orientation val="minMax"/>
        </c:scaling>
        <c:delete val="0"/>
        <c:axPos val="l"/>
        <c:majorGridlines>
          <c:spPr>
            <a:ln w="6480">
              <a:solidFill>
                <a:srgbClr val="E2E8F0"/>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64748B"/>
                </a:solidFill>
                <a:uFillTx/>
                <a:latin typeface="Arial"/>
                <a:ea typeface="DejaVu Sans"/>
              </a:defRPr>
            </a:pPr>
          </a:p>
        </c:txPr>
        <c:crossAx val="16098595"/>
        <c:crosses val="autoZero"/>
        <c:crossBetween val="between"/>
      </c:valAx>
      <c:spPr>
        <a:noFill/>
        <a:ln w="0">
          <a:noFill/>
        </a:ln>
      </c:spPr>
    </c:plotArea>
    <c:legend>
      <c:legendPos val="b"/>
      <c:overlay val="0"/>
      <c:spPr>
        <a:noFill/>
        <a:ln w="0">
          <a:noFill/>
        </a:ln>
      </c:spPr>
      <c:txPr>
        <a:bodyPr/>
        <a:lstStyle/>
        <a:p>
          <a:pPr>
            <a:defRPr sz="900" b="0" u="none" strike="noStrike">
              <a:solidFill>
                <a:srgbClr val="000000"/>
              </a:solidFill>
              <a:uFillTx/>
              <a:latin typeface="Calibri"/>
              <a:ea typeface="DejaVu Sans"/>
            </a:defRPr>
          </a:pPr>
        </a:p>
      </c:txPr>
    </c:legend>
    <c:plotVisOnly val="1"/>
    <c:dispBlanksAs val="span"/>
  </c:chart>
  <c:spPr>
    <a:solidFill>
      <a:srgbClr val="FFFFFF"/>
    </a:solid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colors2.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GB" sz="4400" b="0" u="none" strike="noStrike">
                <a:solidFill>
                  <a:srgbClr val="000000"/>
                </a:solidFill>
                <a:effectLst/>
                <a:uFillTx/>
                <a:latin typeface="Arial"/>
              </a:rPr>
              <a:t>Click to move the slide</a:t>
            </a:r>
            <a:endParaRPr lang="en-GB" sz="4400" b="0" u="none" strike="noStrike">
              <a:solidFill>
                <a:srgbClr val="000000"/>
              </a:solidFill>
              <a:effectLst/>
              <a:uFillTx/>
              <a:latin typeface="Arial"/>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&lt;header&gt;</a:t>
            </a:r>
            <a:endParaRPr lang="en-GB" sz="1400" b="0" u="none" strike="noStrike">
              <a:solidFill>
                <a:srgbClr val="000000"/>
              </a:solidFill>
              <a:effectLst/>
              <a:uFillTx/>
              <a:latin typeface="Times New Roman"/>
            </a:endParaRPr>
          </a:p>
        </p:txBody>
      </p:sp>
      <p:sp>
        <p:nvSpPr>
          <p:cNvPr id="9"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10"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1"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2F75DEF-412A-4C81-B76A-F97FC4D6BCA6}" type="slidenum">
              <a:rPr lang="en-GB" sz="1400" b="0" u="none" strike="noStrike">
                <a:solidFill>
                  <a:srgbClr val="000000"/>
                </a:solidFill>
                <a:effectLst/>
                <a:uFillTx/>
                <a:latin typeface="Times New Roman"/>
              </a:rPr>
              <a:t>&lt;number&gt;</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sldImg"/>
          </p:nvPr>
        </p:nvSpPr>
        <p:spPr>
          <a:xfrm>
            <a:off x="685800" y="1143000"/>
            <a:ext cx="5484240" cy="3084120"/>
          </a:xfrm>
          <a:prstGeom prst="rect">
            <a:avLst/>
          </a:prstGeom>
          <a:ln w="0">
            <a:noFill/>
          </a:ln>
        </p:spPr>
      </p:sp>
      <p:sp>
        <p:nvSpPr>
          <p:cNvPr id="672"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1 — Title (~30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"Good morning. I'm presenting Elmo — Recursive Virtual Payment Channels for Bitcoin — joint work with Aggelos Kiayias at Edinburgh, Michael Schaller at Zurich, and myself at Common Prefix.</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name comes from St. Elmo's fire — those blue sparks sailors used to see on their mast tips during storms. It felt fitting: small, off-chain signals that ride along an existing path.</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In the next 17 minutes I want to convince you we've closed a long-standing open problem on Bitcoin: virtual payment channels that are recursive, variadic, AND symmetric, simultaneously."</a:t>
            </a:r>
            <a:endParaRPr lang="en-GB" sz="2000" b="0" u="none" strike="noStrike">
              <a:solidFill>
                <a:srgbClr val="000000"/>
              </a:solidFill>
              <a:effectLst/>
              <a:uFillTx/>
              <a:latin typeface="Arial"/>
            </a:endParaRPr>
          </a:p>
        </p:txBody>
      </p:sp>
      <p:sp>
        <p:nvSpPr>
          <p:cNvPr id="673" name="PlaceHolder 3"/>
          <p:cNvSpPr>
            <a:spLocks noGrp="1"/>
          </p:cNvSpPr>
          <p:nvPr>
            <p:ph type="sldNum" idx="4"/>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3702552-C6F6-405D-91C1-32173361D508}"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 name="PlaceHolder 1"/>
          <p:cNvSpPr>
            <a:spLocks noGrp="1"/>
          </p:cNvSpPr>
          <p:nvPr>
            <p:ph type="sldImg"/>
          </p:nvPr>
        </p:nvSpPr>
        <p:spPr>
          <a:xfrm>
            <a:off x="685800" y="1143000"/>
            <a:ext cx="5484240" cy="3084120"/>
          </a:xfrm>
          <a:prstGeom prst="rect">
            <a:avLst/>
          </a:prstGeom>
          <a:ln w="0">
            <a:noFill/>
          </a:ln>
        </p:spPr>
      </p:sp>
      <p:sp>
        <p:nvSpPr>
          <p:cNvPr id="675"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2 — Bitcoin scaling (~75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"Bitcoin works, but it doesn't scale. Confirmations take roughly an hour; the whole network sustains about seven transactions per second. For a coffee, a tip, a streaming payment — that's a non-starter.</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dominant Layer-2 answer is the payment channel. Alice and Bob lock funds with ONE on-chain transaction. From that moment on they can exchange any number of payments by simply sending each other signed messages, purely off-chain. When they're done, one more on-chain transaction closes the channel. The Bitcoin Lightning Network is the production version of this.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 one open, one close, unlimited payments in the middle. The blockchain only intervenes for disputes."</a:t>
            </a:r>
            <a:endParaRPr lang="en-GB" sz="2000" b="0" u="none" strike="noStrike">
              <a:solidFill>
                <a:srgbClr val="000000"/>
              </a:solidFill>
              <a:effectLst/>
              <a:uFillTx/>
              <a:latin typeface="Arial"/>
            </a:endParaRPr>
          </a:p>
        </p:txBody>
      </p:sp>
      <p:sp>
        <p:nvSpPr>
          <p:cNvPr id="676" name="PlaceHolder 3"/>
          <p:cNvSpPr>
            <a:spLocks noGrp="1"/>
          </p:cNvSpPr>
          <p:nvPr>
            <p:ph type="sldNum" idx="5"/>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CD19E32-2733-4646-BA44-4B487859E8AC}"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sldImg"/>
          </p:nvPr>
        </p:nvSpPr>
        <p:spPr>
          <a:xfrm>
            <a:off x="685800" y="1143000"/>
            <a:ext cx="5484240" cy="3084120"/>
          </a:xfrm>
          <a:prstGeom prst="rect">
            <a:avLst/>
          </a:prstGeom>
          <a:ln w="0">
            <a:noFill/>
          </a:ln>
        </p:spPr>
      </p:sp>
      <p:sp>
        <p:nvSpPr>
          <p:cNvPr id="678"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3 — Lightning's pain (~75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"Here's the catch. Suppose Alice wants to pay Eve, but they don't share a channel. Lightning solves this by routing: a path A–B–C–D–E.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problem is that EVERY payment along that path — not just opening, every single payment — needs all four intermediaries to wake up, coordinate cryptographically, and sign off in a multi-hop round trip.</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Two concrete consequences. First, latency: payments are only as fast as the slowest hop. Second, availability: if any one of B, C, or D is offline or being malicious, the payment fails.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is the problem virtual channels were invented to solve."</a:t>
            </a:r>
            <a:endParaRPr lang="en-GB" sz="2000" b="0" u="none" strike="noStrike">
              <a:solidFill>
                <a:srgbClr val="000000"/>
              </a:solidFill>
              <a:effectLst/>
              <a:uFillTx/>
              <a:latin typeface="Arial"/>
            </a:endParaRPr>
          </a:p>
        </p:txBody>
      </p:sp>
      <p:sp>
        <p:nvSpPr>
          <p:cNvPr id="679" name="PlaceHolder 3"/>
          <p:cNvSpPr>
            <a:spLocks noGrp="1"/>
          </p:cNvSpPr>
          <p:nvPr>
            <p:ph type="sldNum" idx="6"/>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4CB9C64-E0E4-4878-8C65-068842ED8C55}"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sldImg"/>
          </p:nvPr>
        </p:nvSpPr>
        <p:spPr>
          <a:xfrm>
            <a:off x="685800" y="1143000"/>
            <a:ext cx="5484240" cy="3084120"/>
          </a:xfrm>
          <a:prstGeom prst="rect">
            <a:avLst/>
          </a:prstGeom>
          <a:ln w="0">
            <a:noFill/>
          </a:ln>
        </p:spPr>
      </p:sp>
      <p:sp>
        <p:nvSpPr>
          <p:cNvPr id="681"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4 — Virtual channels (~75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"Virtual channels do an ONE-time off-chain setup over the base path, and from that moment on Alice and Eve transact AS IF they shared a direct channel. Intermediaries only have to participate during setup and during cooperative close — both fully off-chain.</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Look at the table. In a PCN, open and close are on-chain, and every payment needs the intermediaries. With a virtual channel, open and close are off-chain, payments need NO intermediaries. The per-payment latency drops from a multi-hop round trip to a direct exchange — exactly like a simple channel.</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That's the win. But to be useful in practice, a virtual-channel construction needs three properties — that's the next slide."</a:t>
            </a:r>
            <a:endParaRPr lang="en-GB" sz="2000" b="0" u="none" strike="noStrike">
              <a:solidFill>
                <a:srgbClr val="000000"/>
              </a:solidFill>
              <a:effectLst/>
              <a:uFillTx/>
              <a:latin typeface="Arial"/>
            </a:endParaRPr>
          </a:p>
        </p:txBody>
      </p:sp>
      <p:sp>
        <p:nvSpPr>
          <p:cNvPr id="682" name="PlaceHolder 3"/>
          <p:cNvSpPr>
            <a:spLocks noGrp="1"/>
          </p:cNvSpPr>
          <p:nvPr>
            <p:ph type="sldNum" idx="7"/>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62C7929-7E42-4A34-93AA-FB3CDEEACD59}"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Img"/>
          </p:nvPr>
        </p:nvSpPr>
        <p:spPr>
          <a:xfrm>
            <a:off x="685800" y="1143000"/>
            <a:ext cx="5484240" cy="3084120"/>
          </a:xfrm>
          <a:prstGeom prst="rect">
            <a:avLst/>
          </a:prstGeom>
          <a:ln w="0">
            <a:noFill/>
          </a:ln>
        </p:spPr>
      </p:sp>
      <p:sp>
        <p:nvSpPr>
          <p:cNvPr id="684"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5 — Three desiderata (~60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"Three properties. RECURSIVE: a virtual channel can be built on top of other virtual channels — the structure evolves dynamically. VARIADIC: open in one shot over any number of base channels. SYMMETRIC: setup and closing costs are equitable across the two endpoints.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Why symmetry? If your only tool is a BINARY virtual constructor — combining two channels at a time — you have to compose it recursively to connect Alice and Eve across four hops. Each composition layer breaks symmetry; one endpoint pays the cost. Variadic avoids that entirely.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Doing all three, on Bitcoin, with indefinite lifetime — that's been an open problem. Next slide makes it concrete."</a:t>
            </a:r>
            <a:endParaRPr lang="en-GB" sz="2000" b="0" u="none" strike="noStrike">
              <a:solidFill>
                <a:srgbClr val="000000"/>
              </a:solidFill>
              <a:effectLst/>
              <a:uFillTx/>
              <a:latin typeface="Arial"/>
            </a:endParaRPr>
          </a:p>
        </p:txBody>
      </p:sp>
      <p:sp>
        <p:nvSpPr>
          <p:cNvPr id="685" name="PlaceHolder 3"/>
          <p:cNvSpPr>
            <a:spLocks noGrp="1"/>
          </p:cNvSpPr>
          <p:nvPr>
            <p:ph type="sldNum" idx="8"/>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1AABC28-1E87-4DDB-99A9-12544917D861}"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sldImg"/>
          </p:nvPr>
        </p:nvSpPr>
        <p:spPr>
          <a:xfrm>
            <a:off x="685800" y="1143000"/>
            <a:ext cx="5484240" cy="3084120"/>
          </a:xfrm>
          <a:prstGeom prst="rect">
            <a:avLst/>
          </a:prstGeom>
          <a:ln w="0">
            <a:noFill/>
          </a:ln>
        </p:spPr>
      </p:sp>
      <p:sp>
        <p:nvSpPr>
          <p:cNvPr id="687"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6 — Concrete scenario (~50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"Here's the user story that pins down both properties.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Step 1 — Alice opens a virtual channel directly with Dave across the A–B–C–D base path. One off-chain setup over three base channels. That's VARIADIC.</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Step 2 — Alice later wants to pay Eve, who happens to share a base channel with Dave. She splits half her coins into a NEW virtual A ⇄ E, built on top of her existing virtual A ⇄ D plus the base D–E. That's RECURSIVE.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win: B and C don't have to wake up. Nothing touches L1. The cost is the off-chain setup of two virtuals — no more."</a:t>
            </a:r>
            <a:endParaRPr lang="en-GB" sz="2000" b="0" u="none" strike="noStrike">
              <a:solidFill>
                <a:srgbClr val="000000"/>
              </a:solidFill>
              <a:effectLst/>
              <a:uFillTx/>
              <a:latin typeface="Arial"/>
            </a:endParaRPr>
          </a:p>
        </p:txBody>
      </p:sp>
      <p:sp>
        <p:nvSpPr>
          <p:cNvPr id="688" name="PlaceHolder 3"/>
          <p:cNvSpPr>
            <a:spLocks noGrp="1"/>
          </p:cNvSpPr>
          <p:nvPr>
            <p:ph type="sldNum" idx="9"/>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0D24A05-1B83-4801-BEF6-27745A71F647}"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sldImg"/>
          </p:nvPr>
        </p:nvSpPr>
        <p:spPr>
          <a:xfrm>
            <a:off x="685800" y="1143000"/>
            <a:ext cx="5484240" cy="3084120"/>
          </a:xfrm>
          <a:prstGeom prst="rect">
            <a:avLst/>
          </a:prstGeom>
          <a:ln w="0">
            <a:noFill/>
          </a:ln>
        </p:spPr>
      </p:sp>
      <p:sp>
        <p:nvSpPr>
          <p:cNvPr id="690"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7 — Prior work gap (~85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"Look at the prior-work landscape. On Bitcoin specifically — Ethereum is a different world with Turing-complete contracts — the leading candidates are LVPC, BCVC, and Donner.</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LVPC is binary: you can only combine two channels at a time. Recursive composition is possible, but only with fixed lifetimes — and stacking breaks symmetry. So not truly variadic.</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Donner is variadic — that was its key contribution — but it's NOT recursive. Coins are stuck inside a Donner channel; to move them onward you have to go on-chain or get all base parties to cooperate. The funder locks DOUBLE collateral: once on-chain in coins external to the channel path, once off-chain in the base channel. And Donner channels need periodic refresh, so they don't have unlimited lifetime.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BCVC has unlimited lifetime but is also binary.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 nothing on Bitcoin is recursive AND variadic AND symmetric AND unlimited-lifetime. That's the box we wanted to tick."</a:t>
            </a:r>
            <a:endParaRPr lang="en-GB" sz="2000" b="0" u="none" strike="noStrike">
              <a:solidFill>
                <a:srgbClr val="000000"/>
              </a:solidFill>
              <a:effectLst/>
              <a:uFillTx/>
              <a:latin typeface="Arial"/>
            </a:endParaRPr>
          </a:p>
        </p:txBody>
      </p:sp>
      <p:sp>
        <p:nvSpPr>
          <p:cNvPr id="691" name="PlaceHolder 3"/>
          <p:cNvSpPr>
            <a:spLocks noGrp="1"/>
          </p:cNvSpPr>
          <p:nvPr>
            <p:ph type="sldNum" idx="10"/>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68D4EA6-4110-46EF-AE02-9FDD7C97412E}"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sldImg"/>
          </p:nvPr>
        </p:nvSpPr>
        <p:spPr>
          <a:xfrm>
            <a:off x="685800" y="1143000"/>
            <a:ext cx="5484240" cy="3084120"/>
          </a:xfrm>
          <a:prstGeom prst="rect">
            <a:avLst/>
          </a:prstGeom>
          <a:ln w="0">
            <a:noFill/>
          </a:ln>
        </p:spPr>
      </p:sp>
      <p:sp>
        <p:nvSpPr>
          <p:cNvPr id="693"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8 — Elmo contribution (~60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"Elmo is our answer. It's the first Bitcoin virtual channel construction that simultaneously achieves all three properties — recursive, variadic, symmetric — and supports indefinite lifetime.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Three pillars of contribution: First, the construction itself, with optimal constant-round payments. Second, a full UC security proof, including a novel induction-based argument for recursive composition that we think is of independent interest. And third, an open-source simulation framework that lets us compare end-to-end against Donner and LVPC.</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One caveat upfront: Elmo is not compatible with Bitcoin AS IT IS TODAY. It requires a proposed signature mode called ANYPREVOUT. I'll explain why in two slides — and I'll argue that without something like it, efficient recursive virtual channels on Bitcoin are essentially impossible."</a:t>
            </a:r>
            <a:endParaRPr lang="en-GB" sz="2000" b="0" u="none" strike="noStrike">
              <a:solidFill>
                <a:srgbClr val="000000"/>
              </a:solidFill>
              <a:effectLst/>
              <a:uFillTx/>
              <a:latin typeface="Arial"/>
            </a:endParaRPr>
          </a:p>
        </p:txBody>
      </p:sp>
      <p:sp>
        <p:nvSpPr>
          <p:cNvPr id="694" name="PlaceHolder 3"/>
          <p:cNvSpPr>
            <a:spLocks noGrp="1"/>
          </p:cNvSpPr>
          <p:nvPr>
            <p:ph type="sldNum" idx="11"/>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C0B14A4-244B-4AD0-A027-311EDB0386C4}"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sldImg"/>
          </p:nvPr>
        </p:nvSpPr>
        <p:spPr>
          <a:xfrm>
            <a:off x="685800" y="1143000"/>
            <a:ext cx="5484240" cy="3084120"/>
          </a:xfrm>
          <a:prstGeom prst="rect">
            <a:avLst/>
          </a:prstGeom>
          <a:ln w="0">
            <a:noFill/>
          </a:ln>
        </p:spPr>
      </p:sp>
      <p:sp>
        <p:nvSpPr>
          <p:cNvPr id="696"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9 — Simple channel recap (~70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"Quick refresher so we're on the same page. A simple Lightning-style channel has two transaction types.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Funding tx F lives on-chain. A and B each contribute a deposit, and F locks them into a single 2-of-2 multisig output worth 2d bitcoin — needs both signatures to spend.</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Commitment tx C_A spends F. A holds it OFF-chain — that's why I drew its input with a dashed border: it's pre-signed but not broadcast. C_A has two outputs — one for A, gated by a relative timelock Δ so B has time to punish if A publishes a stale commitment; one for B, immediate. B holds a symmetric C_B.</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To pay c coins A to B, they build new commitment txs with shifted balances, swap signatures, and revoke the old ones. To close unilaterally, you just publish your latest commitment and wait out Δ — we use 5 days, same as Lightning.</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Keep this picture in your head — virtual channels reuse exactly this Funding + Commitment pair, but the Funding output sits OFF-chain on top of new machinery."</a:t>
            </a:r>
            <a:endParaRPr lang="en-GB" sz="2000" b="0" u="none" strike="noStrike">
              <a:solidFill>
                <a:srgbClr val="000000"/>
              </a:solidFill>
              <a:effectLst/>
              <a:uFillTx/>
              <a:latin typeface="Arial"/>
            </a:endParaRPr>
          </a:p>
        </p:txBody>
      </p:sp>
      <p:sp>
        <p:nvSpPr>
          <p:cNvPr id="697" name="PlaceHolder 3"/>
          <p:cNvSpPr>
            <a:spLocks noGrp="1"/>
          </p:cNvSpPr>
          <p:nvPr>
            <p:ph type="sldNum" idx="12"/>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40B47C2-03CE-439D-8B01-B2C919A2346C}"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sldImg"/>
          </p:nvPr>
        </p:nvSpPr>
        <p:spPr>
          <a:xfrm>
            <a:off x="685800" y="1143000"/>
            <a:ext cx="5484240" cy="3084120"/>
          </a:xfrm>
          <a:prstGeom prst="rect">
            <a:avLst/>
          </a:prstGeom>
          <a:ln w="0">
            <a:noFill/>
          </a:ln>
        </p:spPr>
      </p:sp>
      <p:sp>
        <p:nvSpPr>
          <p:cNvPr id="699"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9 — Simple channel recap (~70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"Quick refresher so we're on the same page. A simple Lightning-style channel has two transaction types.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Funding tx F lives on-chain. A and B each contribute a deposit, and F locks them into a single 2-of-2 multisig output worth 2d bitcoin — needs both signatures to spend.</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Commitment tx C_A spends F. A holds it OFF-chain — that's why I drew its input with a dashed border: it's pre-signed but not broadcast. C_A has two outputs — one for A, gated by a relative timelock Δ so B has time to punish if A publishes a stale commitment; one for B, immediate. B holds a symmetric C_B.</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To pay c coins A to B, they build new commitment txs with shifted balances, swap signatures, and revoke the old ones. To close unilaterally, you just publish your latest commitment and wait out Δ — we use 5 days, same as Lightning.</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Keep this picture in your head — virtual channels reuse exactly this Funding + Commitment pair, but the Funding output sits OFF-chain on top of new machinery."</a:t>
            </a:r>
            <a:endParaRPr lang="en-GB" sz="2000" b="0" u="none" strike="noStrike">
              <a:solidFill>
                <a:srgbClr val="000000"/>
              </a:solidFill>
              <a:effectLst/>
              <a:uFillTx/>
              <a:latin typeface="Arial"/>
            </a:endParaRPr>
          </a:p>
        </p:txBody>
      </p:sp>
      <p:sp>
        <p:nvSpPr>
          <p:cNvPr id="700" name="PlaceHolder 3"/>
          <p:cNvSpPr>
            <a:spLocks noGrp="1"/>
          </p:cNvSpPr>
          <p:nvPr>
            <p:ph type="sldNum" idx="13"/>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1BFBC06-B7BD-4E54-8BB9-7804499CFA4E}"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sldImg"/>
          </p:nvPr>
        </p:nvSpPr>
        <p:spPr>
          <a:xfrm>
            <a:off x="685800" y="1143000"/>
            <a:ext cx="5484240" cy="3084120"/>
          </a:xfrm>
          <a:prstGeom prst="rect">
            <a:avLst/>
          </a:prstGeom>
          <a:ln w="0">
            <a:noFill/>
          </a:ln>
        </p:spPr>
      </p:sp>
      <p:sp>
        <p:nvSpPr>
          <p:cNvPr id="702"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9 — Simple channel recap (~70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"Quick refresher so we're on the same page. A simple Lightning-style channel has two transaction types.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Funding tx F lives on-chain. A and B each contribute a deposit, and F locks them into a single 2-of-2 multisig output worth 2d bitcoin — needs both signatures to spend.</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Commitment tx C_A spends F. A holds it OFF-chain — that's why I drew its input with a dashed border: it's pre-signed but not broadcast. C_A has two outputs — one for A, gated by a relative timelock Δ so B has time to punish if A publishes a stale commitment; one for B, immediate. B holds a symmetric C_B.</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To pay c coins A to B, they build new commitment txs with shifted balances, swap signatures, and revoke the old ones. To close unilaterally, you just publish your latest commitment and wait out Δ — we use 5 days, same as Lightning.</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Keep this picture in your head — virtual channels reuse exactly this Funding + Commitment pair, but the Funding output sits OFF-chain on top of new machinery."</a:t>
            </a:r>
            <a:endParaRPr lang="en-GB" sz="2000" b="0" u="none" strike="noStrike">
              <a:solidFill>
                <a:srgbClr val="000000"/>
              </a:solidFill>
              <a:effectLst/>
              <a:uFillTx/>
              <a:latin typeface="Arial"/>
            </a:endParaRPr>
          </a:p>
        </p:txBody>
      </p:sp>
      <p:sp>
        <p:nvSpPr>
          <p:cNvPr id="703" name="PlaceHolder 3"/>
          <p:cNvSpPr>
            <a:spLocks noGrp="1"/>
          </p:cNvSpPr>
          <p:nvPr>
            <p:ph type="sldNum" idx="14"/>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6A239D5-73FB-46A5-9C98-1C5B82CE1D09}"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type="sldImg"/>
          </p:nvPr>
        </p:nvSpPr>
        <p:spPr>
          <a:xfrm>
            <a:off x="685800" y="1143000"/>
            <a:ext cx="5485320" cy="3085200"/>
          </a:xfrm>
          <a:prstGeom prst="rect">
            <a:avLst/>
          </a:prstGeom>
          <a:ln w="0">
            <a:noFill/>
          </a:ln>
        </p:spPr>
      </p:sp>
      <p:sp>
        <p:nvSpPr>
          <p:cNvPr id="70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1 of 2 — Virtual channel abstraction (~60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"Five parties A through E, four pre-existing simple channels along the path — A-B, B-C, C-D, D-E. We want to construct a virtual channel directly between A and 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At the bottom of this diagram are the four base funding outputs as they stand on-chain TODAY. I've assigned them concrete values — these are 2-of-2 multisigs locking 3, 4, 5, and 3 bitcoin respectively.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virtual layer — that box in the middle — consumes all four base outputs and produces eight new funding outputs at the top.</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Four of those outputs are the REFRESHED base channels (with primes): each base channel donated 1 bitcoin of liquidity into the virtual layer, so A-B is now worth 2 instead of 3, B-C is now 3 instead of 4, and so on.</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Three more outputs return that donated liquidity to the intermediaries B, C, and D — one bitcoin each, as collateral refund. They lent the liquidity; they get it back.</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eighth output, in red, is the brand-new A ⇄ E funding output worth exactly 1 bitcoin — the endpoints' contribution.</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Conservation: 4 bitcoin extracted from base channels = 1 bitcoin for A ⇄ E plus 3 bitcoin returned to intermediaries. Nothing in the box ever touches the blockchain.</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Next slide opens the box."</a:t>
            </a:r>
            <a:endParaRPr lang="en-GB" sz="2000" b="0" u="none" strike="noStrike">
              <a:solidFill>
                <a:srgbClr val="000000"/>
              </a:solidFill>
              <a:effectLst/>
              <a:uFillTx/>
              <a:latin typeface="Arial"/>
            </a:endParaRPr>
          </a:p>
        </p:txBody>
      </p:sp>
      <p:sp>
        <p:nvSpPr>
          <p:cNvPr id="706" name="PlaceHolder 3"/>
          <p:cNvSpPr>
            <a:spLocks noGrp="1"/>
          </p:cNvSpPr>
          <p:nvPr>
            <p:ph type="sldNum" idx="1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3582A0F-F8B5-4C85-9F8D-91FD56016787}"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sldImg"/>
          </p:nvPr>
        </p:nvSpPr>
        <p:spPr>
          <a:xfrm>
            <a:off x="685800" y="1143000"/>
            <a:ext cx="5485320" cy="3085200"/>
          </a:xfrm>
          <a:prstGeom prst="rect">
            <a:avLst/>
          </a:prstGeom>
          <a:ln w="0">
            <a:noFill/>
          </a:ln>
        </p:spPr>
      </p:sp>
      <p:sp>
        <p:nvSpPr>
          <p:cNvPr id="70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2 of 2 — Forced close example (~90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is one possible forced-close execution — the previous slide's box opened up.</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blue circles are virtual transactions — one per party — and the red circle b is the bridge tx.</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Read it from the bottom: A consumes its A-B base funding output. D consumes BOTH of its adjacent base outputs. These are the two INITIATORS.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 output goes up into the refreshed A-B funding output, and emits an internal {A} virtual output that B will spend. D similarly refreshes its two base channels, refunds itself 1 bitcoin, AND emits a {D,E} virtual output for C.</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 is an EXTEND-INTERVAL tx: it consumes B-C's base funding plus D's {D,E}, produces the refreshed B-C funding, refunds itself 1 bitcoin, and emits {C,D,E} for B.</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 is a MERGE-INTERVALS tx: it consumes A's {A} and C's {C,D,E}, refunds itself 1 bitcoin, and produces a single virtual output A_b ∧ C_b ∧ E_b that only the bridge tx can spend.</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Finally, b — the BRIDGE — consumes B's output and produces the new A ⇄ E funding output, worth 1 bitcoin.</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is just ONE possible bridge tx. Different execution orders produce DIFFERENT bridge txs with different inputs. ANYPREVOUT is what lets a single commitment tx pair, signed once, spend whichever bridge tx ends up on-chain. Without it we'd need a separately pre-signed commitment for every possible bridge — exponential blowup with the number of intermediaries."</a:t>
            </a:r>
            <a:endParaRPr lang="en-GB" sz="2000" b="0" u="none" strike="noStrike">
              <a:solidFill>
                <a:srgbClr val="000000"/>
              </a:solidFill>
              <a:effectLst/>
              <a:uFillTx/>
              <a:latin typeface="Arial"/>
            </a:endParaRPr>
          </a:p>
        </p:txBody>
      </p:sp>
      <p:sp>
        <p:nvSpPr>
          <p:cNvPr id="709" name="PlaceHolder 3"/>
          <p:cNvSpPr>
            <a:spLocks noGrp="1"/>
          </p:cNvSpPr>
          <p:nvPr>
            <p:ph type="sldNum" idx="1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7F4A47A-980E-4CB1-BD4A-7E993A351550}"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Img"/>
          </p:nvPr>
        </p:nvSpPr>
        <p:spPr>
          <a:xfrm>
            <a:off x="685800" y="1143000"/>
            <a:ext cx="5484240" cy="3084120"/>
          </a:xfrm>
          <a:prstGeom prst="rect">
            <a:avLst/>
          </a:prstGeom>
          <a:ln w="0">
            <a:noFill/>
          </a:ln>
        </p:spPr>
      </p:sp>
      <p:sp>
        <p:nvSpPr>
          <p:cNvPr id="711"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11 — ANYPREVOUT (~85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is the one slide where I have to be upfront: Elmo is NOT compatible with Bitcoin as deployed today. We need a signature mode called ANYPREVOUT — APO — which is BIP-118 and a candidate for the next Bitcoin update.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What does APO change? Normally, a Bitcoin signature commits to the HASH of the input it's spending — meaning once you sign, that signature is locked to a SPECIFIC funding output. APO drops that part of the hash. A signature can then spend ANY output that has the right script, even one that didn't exist when you signed.</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Why does Elmo need it? Look back at the previous slide. Depending on close ordering — who publishes first, who stays offline — different virtual outputs end up playing the role of the A-E funding output. They all have DIFFERENT scripts because they encode which parties have already acted. Without APO, A and E would need a separately pre-signed commitment tx for each possibility — that grows exponentially with the number of intermediaries and with recursion depth.</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With APO, plus the BRIDGE TX which normalizes outputs to a single A'_F ∧ E'_F, ONE pair of commitment txs handles every case. Payments stay O(1) regardless of how deep the recursion goes.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We conjecture this is fundamental: no efficient recursive virtual channel on Bitcoin is possible without some covenant-like primitive. APO is the leanest such primitive currently on the table."</a:t>
            </a:r>
            <a:endParaRPr lang="en-GB" sz="2000" b="0" u="none" strike="noStrike">
              <a:solidFill>
                <a:srgbClr val="000000"/>
              </a:solidFill>
              <a:effectLst/>
              <a:uFillTx/>
              <a:latin typeface="Arial"/>
            </a:endParaRPr>
          </a:p>
        </p:txBody>
      </p:sp>
      <p:sp>
        <p:nvSpPr>
          <p:cNvPr id="712" name="PlaceHolder 3"/>
          <p:cNvSpPr>
            <a:spLocks noGrp="1"/>
          </p:cNvSpPr>
          <p:nvPr>
            <p:ph type="sldNum" idx="17"/>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4E20E76-24B7-4327-98EE-B60954B8C73D}"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685800" y="1143000"/>
            <a:ext cx="5484240" cy="3084120"/>
          </a:xfrm>
          <a:prstGeom prst="rect">
            <a:avLst/>
          </a:prstGeom>
          <a:ln w="0">
            <a:noFill/>
          </a:ln>
        </p:spPr>
      </p:sp>
      <p:sp>
        <p:nvSpPr>
          <p:cNvPr id="714"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12 — Closing (~75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"Closing has two paths.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COOPERATIVE path is purely off-chain — and it requires every base party on the path to participate. Endpoints agree on the final balance, each base channel reinstates a commitment tx with the collateral moved back in, intermediaries break even across their two channels, and all virtual txs get revoked. Net on-chain cost: zero. This is the common case.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If someone refuses to cooperate, anyone can close UNILATERALLY on-chain. The chain of virtual txs from the previous slide gets published — A publishes her initiator, that enables C's extend, that enables B's merge, D publishes from the other side; the bridge tx then normalizes, and the commitment tx closes A ⇄ E exactly as in a simple channel.</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cost structure is the key claim. Every intermediary publishes exactly ONE tx — their own virtual tx. Each endpoint publishes between zero and three: their own virtual tx, plus the bridge tx, plus the commitment tx. If any intermediary refuses to act at all, a timelock fires and their slot collapses into the funding output — they just forfeit their collateral and honest endpoints can still close. Total on-chain cost is independent of path length. That's symmetric, that's recursive-friendly, and that's the bound we prove."</a:t>
            </a:r>
            <a:endParaRPr lang="en-GB" sz="2000" b="0" u="none" strike="noStrike">
              <a:solidFill>
                <a:srgbClr val="000000"/>
              </a:solidFill>
              <a:effectLst/>
              <a:uFillTx/>
              <a:latin typeface="Arial"/>
            </a:endParaRPr>
          </a:p>
        </p:txBody>
      </p:sp>
      <p:sp>
        <p:nvSpPr>
          <p:cNvPr id="715" name="PlaceHolder 3"/>
          <p:cNvSpPr>
            <a:spLocks noGrp="1"/>
          </p:cNvSpPr>
          <p:nvPr>
            <p:ph type="sldNum" idx="18"/>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C1D5BE9-6CDF-456C-8366-963088D6A8A1}"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685800" y="1143000"/>
            <a:ext cx="5484240" cy="3084120"/>
          </a:xfrm>
          <a:prstGeom prst="rect">
            <a:avLst/>
          </a:prstGeom>
          <a:ln w="0">
            <a:noFill/>
          </a:ln>
        </p:spPr>
      </p:sp>
      <p:sp>
        <p:nvSpPr>
          <p:cNvPr id="717"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13 — Evaluation (~85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"We built an open-source simulation framework — link in the paper — and ran three workloads against LVPC, Donner, and Elmo. The workloads vary how payment partners are chosen: power law, preferred-receiver, uniform random.</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Left chart: average per-payment latency. Elmo, in orange, tracks Donner closely. Both are faster than LVPC across the board. The uniform workload converges all three to about the same number — they all end up going on-chain when there's no locality.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Right chart: relative fees, normalized so the highest is 1. Donner is consistently the most expensive. Elmo is roughly tied with LVPC and consistently cheaper than Donner.</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key story isn't that Elmo blows them out of the water — it's that Elmo matches or beats them on every metric WHILE offering strictly more flexibility. Recursive AND variadic AND symmetric, where competitors are missing at least one. The paper also breaks down concrete storage and communication costs — for a 6-hop channel, an intermediary needs under 15 KiB of storage and under 14 KiB of network. Easily handled on commodity hardware."</a:t>
            </a:r>
            <a:endParaRPr lang="en-GB" sz="2000" b="0" u="none" strike="noStrike">
              <a:solidFill>
                <a:srgbClr val="000000"/>
              </a:solidFill>
              <a:effectLst/>
              <a:uFillTx/>
              <a:latin typeface="Arial"/>
            </a:endParaRPr>
          </a:p>
        </p:txBody>
      </p:sp>
      <p:sp>
        <p:nvSpPr>
          <p:cNvPr id="718" name="PlaceHolder 3"/>
          <p:cNvSpPr>
            <a:spLocks noGrp="1"/>
          </p:cNvSpPr>
          <p:nvPr>
            <p:ph type="sldNum" idx="19"/>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E2AA552-7341-4B53-AF7B-6148474D3165}"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685800" y="1143000"/>
            <a:ext cx="5484240" cy="3084120"/>
          </a:xfrm>
          <a:prstGeom prst="rect">
            <a:avLst/>
          </a:prstGeom>
          <a:ln w="0">
            <a:noFill/>
          </a:ln>
        </p:spPr>
      </p:sp>
      <p:sp>
        <p:nvSpPr>
          <p:cNvPr id="720"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Slide 14 — Takeaways (~50 seconds)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"To wrap up.</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Elmo is the first Bitcoin-compatible virtual payment channel construction that is recursive, AND variadic, AND symmetric, AND supports indefinite lifetime — all simultaneously. That combination was an open problem.</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technical key is ANYPREVOUT — proposed BIP-118 signature mode. Without something like it, every commitment tx would have to be pre-signed for every possible closing scenario, exploding exponentially. With it, ONE pair of commitment txs handles every case.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We prove UC security with a new induction-based technique for recursive functionalities, give real-world balance security guarantees, and back the design with an open-source payment simulator that shows we match or beat existing Bitcoin virtual-channel protocols.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Thank you — I'd love to take your questions."</a:t>
            </a:r>
            <a:endParaRPr lang="en-GB" sz="2000" b="0" u="none" strike="noStrike">
              <a:solidFill>
                <a:srgbClr val="000000"/>
              </a:solidFill>
              <a:effectLst/>
              <a:uFillTx/>
              <a:latin typeface="Arial"/>
            </a:endParaRPr>
          </a:p>
        </p:txBody>
      </p:sp>
      <p:sp>
        <p:nvSpPr>
          <p:cNvPr id="721" name="PlaceHolder 3"/>
          <p:cNvSpPr>
            <a:spLocks noGrp="1"/>
          </p:cNvSpPr>
          <p:nvPr>
            <p:ph type="sldNum" idx="20"/>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B7C1BC5-7340-4D4C-B7C0-A91B5660F259}"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8520" cy="857880"/>
          </a:xfrm>
          <a:prstGeom prst="rect">
            <a:avLst/>
          </a:prstGeom>
          <a:noFill/>
          <a:ln w="0">
            <a:noFill/>
          </a:ln>
        </p:spPr>
        <p:txBody>
          <a:bodyPr lIns="0" tIns="0" rIns="0" bIns="0" anchor="ctr">
            <a:noAutofit/>
          </a:bodyPr>
          <a:lstStyle>
            <a:lvl1pPr indent="0" algn="l">
              <a:lnSpc>
                <a:spcPct val="100000"/>
              </a:lnSpc>
              <a:buNone/>
              <a:tabLst>
                <a:tab pos="0" algn="l"/>
              </a:tabLst>
              <a:defRPr lang="en-GB" sz="4400" b="0" u="none" strike="noStrike">
                <a:solidFill>
                  <a:srgbClr val="000000"/>
                </a:solidFill>
                <a:effectLst/>
                <a:uFillTx/>
                <a:latin typeface="Arial"/>
              </a:defRPr>
            </a:lvl1pPr>
          </a:lstStyle>
          <a:p>
            <a:pPr indent="0" algn="l">
              <a:lnSpc>
                <a:spcPct val="100000"/>
              </a:lnSpc>
              <a:buNone/>
              <a:tabLst>
                <a:tab pos="0" algn="l"/>
              </a:tabLst>
            </a:pPr>
            <a:r>
              <a:rPr lang="en-GB" sz="4400" b="0" u="none" strike="noStrike">
                <a:solidFill>
                  <a:srgbClr val="000000"/>
                </a:solidFill>
                <a:effectLst/>
                <a:uFillTx/>
                <a:latin typeface="Arial"/>
              </a:rPr>
              <a:t>Click to edit the title text format</a:t>
            </a:r>
            <a:endParaRPr lang="en-GB" sz="4400" b="0" u="none" strike="noStrike">
              <a:solidFill>
                <a:srgbClr val="000000"/>
              </a:solidFill>
              <a:effectLst/>
              <a:uFillTx/>
              <a:latin typeface="Arial"/>
            </a:endParaRPr>
          </a:p>
        </p:txBody>
      </p:sp>
      <p:sp>
        <p:nvSpPr>
          <p:cNvPr id="3" name="PlaceHolder 2"/>
          <p:cNvSpPr>
            <a:spLocks noGrp="1"/>
          </p:cNvSpPr>
          <p:nvPr>
            <p:ph type="body"/>
          </p:nvPr>
        </p:nvSpPr>
        <p:spPr>
          <a:xfrm>
            <a:off x="457200" y="1203480"/>
            <a:ext cx="8228520" cy="298224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en-GB"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en-GB"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en-GB"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en-GB"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en-GB"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en-GB"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en-GB" sz="3200" b="0" u="none" strike="noStrike">
                <a:solidFill>
                  <a:srgbClr val="000000"/>
                </a:solidFill>
                <a:effectLst/>
                <a:uFillTx/>
                <a:latin typeface="Arial"/>
              </a:rPr>
              <a:t>Click to edit the outline text format</a:t>
            </a:r>
            <a:endParaRPr lang="en-GB" sz="3200" b="0" u="none" strike="noStrike">
              <a:solidFill>
                <a:srgbClr val="000000"/>
              </a:solidFill>
              <a:effectLst/>
              <a:uFillTx/>
              <a:latin typeface="Arial"/>
            </a:endParaRPr>
          </a:p>
          <a:p>
            <a:pPr marL="864000" lvl="1" indent="-324000" algn="l">
              <a:lnSpc>
                <a:spcPct val="100000"/>
              </a:lnSpc>
              <a:buClr>
                <a:srgbClr val="000000"/>
              </a:buClr>
              <a:buSzPct val="75000"/>
              <a:buFont typeface="Symbol" charset="2"/>
              <a:buChar char=""/>
            </a:pPr>
            <a:r>
              <a:rPr lang="en-GB" sz="2800" b="0" u="none" strike="noStrike">
                <a:solidFill>
                  <a:srgbClr val="000000"/>
                </a:solidFill>
                <a:effectLst/>
                <a:uFillTx/>
                <a:latin typeface="Arial"/>
              </a:rPr>
              <a:t>Second Outline Level</a:t>
            </a:r>
            <a:endParaRPr lang="en-GB" sz="2800" b="0" u="none" strike="noStrike">
              <a:solidFill>
                <a:srgbClr val="000000"/>
              </a:solidFill>
              <a:effectLst/>
              <a:uFillTx/>
              <a:latin typeface="Arial"/>
            </a:endParaRPr>
          </a:p>
          <a:p>
            <a:pPr marL="1296000" lvl="2" indent="-288000" algn="l">
              <a:lnSpc>
                <a:spcPct val="100000"/>
              </a:lnSpc>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gn="l">
              <a:lnSpc>
                <a:spcPct val="100000"/>
              </a:lnSpc>
              <a:buClr>
                <a:srgbClr val="000000"/>
              </a:buClr>
              <a:buSzPct val="75000"/>
              <a:buFont typeface="Symbol" charset="2"/>
              <a:buChar char=""/>
            </a:pPr>
            <a:r>
              <a:rPr lang="en-GB" sz="2000" b="0" u="none" strike="noStrike">
                <a:solidFill>
                  <a:srgbClr val="000000"/>
                </a:solidFill>
                <a:effectLst/>
                <a:uFillTx/>
                <a:latin typeface="Arial"/>
              </a:rPr>
              <a:t>Fourth Outline Level</a:t>
            </a:r>
            <a:endParaRPr lang="en-GB" sz="2000" b="0" u="none" strike="noStrike">
              <a:solidFill>
                <a:srgbClr val="000000"/>
              </a:solidFill>
              <a:effectLst/>
              <a:uFillTx/>
              <a:latin typeface="Arial"/>
            </a:endParaRPr>
          </a:p>
          <a:p>
            <a:pPr marL="2160000" lvl="4" indent="-216000" algn="l">
              <a:lnSpc>
                <a:spcPct val="100000"/>
              </a:lnSpc>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lnSpc>
                <a:spcPct val="100000"/>
              </a:lnSpc>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lnSpc>
                <a:spcPct val="100000"/>
              </a:lnSpc>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98800"/>
            <a:ext cx="8228160" cy="670680"/>
          </a:xfrm>
          <a:prstGeom prst="rect">
            <a:avLst/>
          </a:prstGeom>
          <a:noFill/>
          <a:ln w="0">
            <a:noFill/>
          </a:ln>
        </p:spPr>
        <p:txBody>
          <a:bodyPr lIns="0" tIns="0" rIns="0" bIns="0" anchor="ctr">
            <a:spAutoFit/>
          </a:bodyPr>
          <a:lstStyle>
            <a:lvl1pPr indent="0" algn="l">
              <a:lnSpc>
                <a:spcPct val="100000"/>
              </a:lnSpc>
              <a:buNone/>
              <a:tabLst>
                <a:tab pos="0" algn="l"/>
              </a:tabLst>
              <a:defRPr lang="en-GB" sz="4400" b="0" u="none" strike="noStrike">
                <a:solidFill>
                  <a:srgbClr val="000000"/>
                </a:solidFill>
                <a:effectLst/>
                <a:uFillTx/>
                <a:latin typeface="Arial"/>
              </a:defRPr>
            </a:lvl1pPr>
          </a:lstStyle>
          <a:p>
            <a:pPr indent="0" algn="l">
              <a:lnSpc>
                <a:spcPct val="100000"/>
              </a:lnSpc>
              <a:buNone/>
              <a:tabLst>
                <a:tab pos="0" algn="l"/>
              </a:tabLst>
            </a:pPr>
            <a:r>
              <a:rPr lang="en-GB" sz="4400" b="0" u="none" strike="noStrike">
                <a:solidFill>
                  <a:srgbClr val="000000"/>
                </a:solidFill>
                <a:effectLst/>
                <a:uFillTx/>
                <a:latin typeface="Arial"/>
              </a:rPr>
              <a:t>Click to edit the title text format</a:t>
            </a:r>
            <a:endParaRPr lang="en-GB" sz="4400" b="0" u="none" strike="noStrike">
              <a:solidFill>
                <a:srgbClr val="000000"/>
              </a:solidFill>
              <a:effectLst/>
              <a:uFillTx/>
              <a:latin typeface="Arial"/>
            </a:endParaRPr>
          </a:p>
        </p:txBody>
      </p:sp>
      <p:sp>
        <p:nvSpPr>
          <p:cNvPr id="5" name="PlaceHolder 2"/>
          <p:cNvSpPr>
            <a:spLocks noGrp="1"/>
          </p:cNvSpPr>
          <p:nvPr>
            <p:ph type="body"/>
          </p:nvPr>
        </p:nvSpPr>
        <p:spPr>
          <a:xfrm>
            <a:off x="457200" y="1203480"/>
            <a:ext cx="8228520" cy="298224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en-GB"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en-GB"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en-GB"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en-GB"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en-GB"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en-GB"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en-GB" sz="3200" b="0" u="none" strike="noStrike">
                <a:solidFill>
                  <a:srgbClr val="000000"/>
                </a:solidFill>
                <a:effectLst/>
                <a:uFillTx/>
                <a:latin typeface="Arial"/>
              </a:rPr>
              <a:t>Click to edit the outline text format</a:t>
            </a:r>
            <a:endParaRPr lang="en-GB" sz="3200" b="0" u="none" strike="noStrike">
              <a:solidFill>
                <a:srgbClr val="000000"/>
              </a:solidFill>
              <a:effectLst/>
              <a:uFillTx/>
              <a:latin typeface="Arial"/>
            </a:endParaRPr>
          </a:p>
          <a:p>
            <a:pPr marL="864000" lvl="1" indent="-324000" algn="l">
              <a:lnSpc>
                <a:spcPct val="100000"/>
              </a:lnSpc>
              <a:buClr>
                <a:srgbClr val="000000"/>
              </a:buClr>
              <a:buSzPct val="75000"/>
              <a:buFont typeface="Symbol" charset="2"/>
              <a:buChar char=""/>
            </a:pPr>
            <a:r>
              <a:rPr lang="en-GB" sz="2800" b="0" u="none" strike="noStrike">
                <a:solidFill>
                  <a:srgbClr val="000000"/>
                </a:solidFill>
                <a:effectLst/>
                <a:uFillTx/>
                <a:latin typeface="Arial"/>
              </a:rPr>
              <a:t>Second Outline Level</a:t>
            </a:r>
            <a:endParaRPr lang="en-GB" sz="2800" b="0" u="none" strike="noStrike">
              <a:solidFill>
                <a:srgbClr val="000000"/>
              </a:solidFill>
              <a:effectLst/>
              <a:uFillTx/>
              <a:latin typeface="Arial"/>
            </a:endParaRPr>
          </a:p>
          <a:p>
            <a:pPr marL="1296000" lvl="2" indent="-288000" algn="l">
              <a:lnSpc>
                <a:spcPct val="100000"/>
              </a:lnSpc>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gn="l">
              <a:lnSpc>
                <a:spcPct val="100000"/>
              </a:lnSpc>
              <a:buClr>
                <a:srgbClr val="000000"/>
              </a:buClr>
              <a:buSzPct val="75000"/>
              <a:buFont typeface="Symbol" charset="2"/>
              <a:buChar char=""/>
            </a:pPr>
            <a:r>
              <a:rPr lang="en-GB" sz="2000" b="0" u="none" strike="noStrike">
                <a:solidFill>
                  <a:srgbClr val="000000"/>
                </a:solidFill>
                <a:effectLst/>
                <a:uFillTx/>
                <a:latin typeface="Arial"/>
              </a:rPr>
              <a:t>Fourth Outline Level</a:t>
            </a:r>
            <a:endParaRPr lang="en-GB" sz="2000" b="0" u="none" strike="noStrike">
              <a:solidFill>
                <a:srgbClr val="000000"/>
              </a:solidFill>
              <a:effectLst/>
              <a:uFillTx/>
              <a:latin typeface="Arial"/>
            </a:endParaRPr>
          </a:p>
          <a:p>
            <a:pPr marL="2160000" lvl="4" indent="-216000" algn="l">
              <a:lnSpc>
                <a:spcPct val="100000"/>
              </a:lnSpc>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lnSpc>
                <a:spcPct val="100000"/>
              </a:lnSpc>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lnSpc>
                <a:spcPct val="100000"/>
              </a:lnSpc>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1.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12" name="Shape 0"/>
          <p:cNvSpPr/>
          <p:nvPr/>
        </p:nvSpPr>
        <p:spPr>
          <a:xfrm>
            <a:off x="1097280" y="4023360"/>
            <a:ext cx="70920" cy="70920"/>
          </a:xfrm>
          <a:prstGeom prst="ellipse">
            <a:avLst/>
          </a:prstGeom>
          <a:solidFill>
            <a:srgbClr val="F7931A">
              <a:alpha val="70000"/>
            </a:srgbClr>
          </a:solidFill>
          <a:ln w="12600">
            <a:solidFill>
              <a:srgbClr val="F7931A"/>
            </a:solidFill>
            <a:round/>
          </a:ln>
        </p:spPr>
        <p:style>
          <a:lnRef idx="0"/>
          <a:fillRef idx="0"/>
          <a:effectRef idx="0"/>
          <a:fontRef idx="minor"/>
        </p:style>
        <p:txBody>
          <a:bodyPr lIns="35640" tIns="6840" rIns="35640" bIns="6840" anchor="t">
            <a:noAutofit/>
          </a:bodyPr>
          <a:p>
            <a:endParaRPr lang="en-GB" sz="1800" b="0" u="none" strike="noStrike">
              <a:solidFill>
                <a:srgbClr val="000000"/>
              </a:solidFill>
              <a:effectLst/>
              <a:uFillTx/>
              <a:latin typeface="Arial"/>
            </a:endParaRPr>
          </a:p>
        </p:txBody>
      </p:sp>
      <p:sp>
        <p:nvSpPr>
          <p:cNvPr id="13" name="Shape 1"/>
          <p:cNvSpPr/>
          <p:nvPr/>
        </p:nvSpPr>
        <p:spPr>
          <a:xfrm>
            <a:off x="1645920" y="4206240"/>
            <a:ext cx="107640" cy="107640"/>
          </a:xfrm>
          <a:prstGeom prst="ellipse">
            <a:avLst/>
          </a:prstGeom>
          <a:solidFill>
            <a:srgbClr val="F7931A">
              <a:alpha val="75000"/>
            </a:srgbClr>
          </a:solidFill>
          <a:ln w="12600">
            <a:solidFill>
              <a:srgbClr val="F7931A"/>
            </a:solidFill>
            <a:round/>
          </a:ln>
        </p:spPr>
        <p:style>
          <a:lnRef idx="0"/>
          <a:fillRef idx="0"/>
          <a:effectRef idx="0"/>
          <a:fontRef idx="minor"/>
        </p:style>
        <p:txBody>
          <a:bodyPr lIns="54000" tIns="32760" rIns="54000" bIns="32760" anchor="t">
            <a:noAutofit/>
          </a:bodyPr>
          <a:p>
            <a:endParaRPr lang="en-GB" sz="1800" b="0" u="none" strike="noStrike">
              <a:solidFill>
                <a:srgbClr val="000000"/>
              </a:solidFill>
              <a:effectLst/>
              <a:uFillTx/>
              <a:latin typeface="Arial"/>
            </a:endParaRPr>
          </a:p>
        </p:txBody>
      </p:sp>
      <p:sp>
        <p:nvSpPr>
          <p:cNvPr id="14" name="Shape 2"/>
          <p:cNvSpPr/>
          <p:nvPr/>
        </p:nvSpPr>
        <p:spPr>
          <a:xfrm>
            <a:off x="2468880" y="3931920"/>
            <a:ext cx="144000" cy="144000"/>
          </a:xfrm>
          <a:prstGeom prst="ellipse">
            <a:avLst/>
          </a:prstGeom>
          <a:solidFill>
            <a:srgbClr val="F7931A">
              <a:alpha val="80000"/>
            </a:srgbClr>
          </a:solidFill>
          <a:ln w="12600">
            <a:solidFill>
              <a:srgbClr val="F7931A"/>
            </a:solidFill>
            <a:round/>
          </a:ln>
        </p:spPr>
        <p:style>
          <a:lnRef idx="0"/>
          <a:fillRef idx="0"/>
          <a:effectRef idx="0"/>
          <a:fontRef idx="minor"/>
        </p:style>
        <p:txBody>
          <a:bodyPr lIns="72000" tIns="45000" rIns="72000" bIns="45000" anchor="t">
            <a:noAutofit/>
          </a:bodyPr>
          <a:p>
            <a:endParaRPr lang="en-GB" sz="1800" b="0" u="none" strike="noStrike">
              <a:solidFill>
                <a:srgbClr val="000000"/>
              </a:solidFill>
              <a:effectLst/>
              <a:uFillTx/>
              <a:latin typeface="Arial"/>
            </a:endParaRPr>
          </a:p>
        </p:txBody>
      </p:sp>
      <p:sp>
        <p:nvSpPr>
          <p:cNvPr id="15" name="Shape 3"/>
          <p:cNvSpPr/>
          <p:nvPr/>
        </p:nvSpPr>
        <p:spPr>
          <a:xfrm>
            <a:off x="3108960" y="4297680"/>
            <a:ext cx="70920" cy="70920"/>
          </a:xfrm>
          <a:prstGeom prst="ellipse">
            <a:avLst/>
          </a:prstGeom>
          <a:solidFill>
            <a:srgbClr val="F7931A">
              <a:alpha val="85000"/>
            </a:srgbClr>
          </a:solidFill>
          <a:ln w="12600">
            <a:solidFill>
              <a:srgbClr val="F7931A"/>
            </a:solidFill>
            <a:round/>
          </a:ln>
        </p:spPr>
        <p:style>
          <a:lnRef idx="0"/>
          <a:fillRef idx="0"/>
          <a:effectRef idx="0"/>
          <a:fontRef idx="minor"/>
        </p:style>
        <p:txBody>
          <a:bodyPr lIns="35640" tIns="6840" rIns="35640" bIns="6840" anchor="t">
            <a:noAutofit/>
          </a:bodyPr>
          <a:p>
            <a:endParaRPr lang="en-GB" sz="1800" b="0" u="none" strike="noStrike">
              <a:solidFill>
                <a:srgbClr val="000000"/>
              </a:solidFill>
              <a:effectLst/>
              <a:uFillTx/>
              <a:latin typeface="Arial"/>
            </a:endParaRPr>
          </a:p>
        </p:txBody>
      </p:sp>
      <p:sp>
        <p:nvSpPr>
          <p:cNvPr id="16" name="Shape 4"/>
          <p:cNvSpPr/>
          <p:nvPr/>
        </p:nvSpPr>
        <p:spPr>
          <a:xfrm>
            <a:off x="4114800" y="4114800"/>
            <a:ext cx="107640" cy="107640"/>
          </a:xfrm>
          <a:prstGeom prst="ellipse">
            <a:avLst/>
          </a:prstGeom>
          <a:solidFill>
            <a:srgbClr val="F7931A">
              <a:alpha val="70000"/>
            </a:srgbClr>
          </a:solidFill>
          <a:ln w="12600">
            <a:solidFill>
              <a:srgbClr val="F7931A"/>
            </a:solidFill>
            <a:round/>
          </a:ln>
        </p:spPr>
        <p:style>
          <a:lnRef idx="0"/>
          <a:fillRef idx="0"/>
          <a:effectRef idx="0"/>
          <a:fontRef idx="minor"/>
        </p:style>
        <p:txBody>
          <a:bodyPr lIns="54000" tIns="32760" rIns="54000" bIns="32760" anchor="t">
            <a:noAutofit/>
          </a:bodyPr>
          <a:p>
            <a:endParaRPr lang="en-GB" sz="1800" b="0" u="none" strike="noStrike">
              <a:solidFill>
                <a:srgbClr val="000000"/>
              </a:solidFill>
              <a:effectLst/>
              <a:uFillTx/>
              <a:latin typeface="Arial"/>
            </a:endParaRPr>
          </a:p>
        </p:txBody>
      </p:sp>
      <p:sp>
        <p:nvSpPr>
          <p:cNvPr id="17" name="Shape 5"/>
          <p:cNvSpPr/>
          <p:nvPr/>
        </p:nvSpPr>
        <p:spPr>
          <a:xfrm>
            <a:off x="5120640" y="4206240"/>
            <a:ext cx="144000" cy="144000"/>
          </a:xfrm>
          <a:prstGeom prst="ellipse">
            <a:avLst/>
          </a:prstGeom>
          <a:solidFill>
            <a:srgbClr val="F7931A">
              <a:alpha val="75000"/>
            </a:srgbClr>
          </a:solidFill>
          <a:ln w="12600">
            <a:solidFill>
              <a:srgbClr val="F7931A"/>
            </a:solidFill>
            <a:round/>
          </a:ln>
        </p:spPr>
        <p:style>
          <a:lnRef idx="0"/>
          <a:fillRef idx="0"/>
          <a:effectRef idx="0"/>
          <a:fontRef idx="minor"/>
        </p:style>
        <p:txBody>
          <a:bodyPr lIns="72000" tIns="45000" rIns="72000" bIns="45000" anchor="t">
            <a:noAutofit/>
          </a:bodyPr>
          <a:p>
            <a:endParaRPr lang="en-GB" sz="1800" b="0" u="none" strike="noStrike">
              <a:solidFill>
                <a:srgbClr val="000000"/>
              </a:solidFill>
              <a:effectLst/>
              <a:uFillTx/>
              <a:latin typeface="Arial"/>
            </a:endParaRPr>
          </a:p>
        </p:txBody>
      </p:sp>
      <p:sp>
        <p:nvSpPr>
          <p:cNvPr id="18" name="Shape 6"/>
          <p:cNvSpPr/>
          <p:nvPr/>
        </p:nvSpPr>
        <p:spPr>
          <a:xfrm>
            <a:off x="5943600" y="3931920"/>
            <a:ext cx="70920" cy="70920"/>
          </a:xfrm>
          <a:prstGeom prst="ellipse">
            <a:avLst/>
          </a:prstGeom>
          <a:solidFill>
            <a:srgbClr val="F7931A">
              <a:alpha val="80000"/>
            </a:srgbClr>
          </a:solidFill>
          <a:ln w="12600">
            <a:solidFill>
              <a:srgbClr val="F7931A"/>
            </a:solidFill>
            <a:round/>
          </a:ln>
        </p:spPr>
        <p:style>
          <a:lnRef idx="0"/>
          <a:fillRef idx="0"/>
          <a:effectRef idx="0"/>
          <a:fontRef idx="minor"/>
        </p:style>
        <p:txBody>
          <a:bodyPr lIns="35640" tIns="6840" rIns="35640" bIns="6840" anchor="t">
            <a:noAutofit/>
          </a:bodyPr>
          <a:p>
            <a:endParaRPr lang="en-GB" sz="1800" b="0" u="none" strike="noStrike">
              <a:solidFill>
                <a:srgbClr val="000000"/>
              </a:solidFill>
              <a:effectLst/>
              <a:uFillTx/>
              <a:latin typeface="Arial"/>
            </a:endParaRPr>
          </a:p>
        </p:txBody>
      </p:sp>
      <p:sp>
        <p:nvSpPr>
          <p:cNvPr id="19" name="Shape 7"/>
          <p:cNvSpPr/>
          <p:nvPr/>
        </p:nvSpPr>
        <p:spPr>
          <a:xfrm>
            <a:off x="6766560" y="4297680"/>
            <a:ext cx="107640" cy="107640"/>
          </a:xfrm>
          <a:prstGeom prst="ellipse">
            <a:avLst/>
          </a:prstGeom>
          <a:solidFill>
            <a:srgbClr val="F7931A">
              <a:alpha val="85000"/>
            </a:srgbClr>
          </a:solidFill>
          <a:ln w="12600">
            <a:solidFill>
              <a:srgbClr val="F7931A"/>
            </a:solidFill>
            <a:round/>
          </a:ln>
        </p:spPr>
        <p:style>
          <a:lnRef idx="0"/>
          <a:fillRef idx="0"/>
          <a:effectRef idx="0"/>
          <a:fontRef idx="minor"/>
        </p:style>
        <p:txBody>
          <a:bodyPr lIns="54000" tIns="32760" rIns="54000" bIns="32760" anchor="t">
            <a:noAutofit/>
          </a:bodyPr>
          <a:p>
            <a:endParaRPr lang="en-GB" sz="1800" b="0" u="none" strike="noStrike">
              <a:solidFill>
                <a:srgbClr val="000000"/>
              </a:solidFill>
              <a:effectLst/>
              <a:uFillTx/>
              <a:latin typeface="Arial"/>
            </a:endParaRPr>
          </a:p>
        </p:txBody>
      </p:sp>
      <p:sp>
        <p:nvSpPr>
          <p:cNvPr id="20" name="Shape 8"/>
          <p:cNvSpPr/>
          <p:nvPr/>
        </p:nvSpPr>
        <p:spPr>
          <a:xfrm>
            <a:off x="7498080" y="4023360"/>
            <a:ext cx="144000" cy="144000"/>
          </a:xfrm>
          <a:prstGeom prst="ellipse">
            <a:avLst/>
          </a:prstGeom>
          <a:solidFill>
            <a:srgbClr val="F7931A">
              <a:alpha val="70000"/>
            </a:srgbClr>
          </a:solidFill>
          <a:ln w="12600">
            <a:solidFill>
              <a:srgbClr val="F7931A"/>
            </a:solidFill>
            <a:round/>
          </a:ln>
        </p:spPr>
        <p:style>
          <a:lnRef idx="0"/>
          <a:fillRef idx="0"/>
          <a:effectRef idx="0"/>
          <a:fontRef idx="minor"/>
        </p:style>
        <p:txBody>
          <a:bodyPr lIns="72000" tIns="45000" rIns="72000" bIns="45000" anchor="t">
            <a:noAutofit/>
          </a:bodyPr>
          <a:p>
            <a:endParaRPr lang="en-GB" sz="1800" b="0" u="none" strike="noStrike">
              <a:solidFill>
                <a:srgbClr val="000000"/>
              </a:solidFill>
              <a:effectLst/>
              <a:uFillTx/>
              <a:latin typeface="Arial"/>
            </a:endParaRPr>
          </a:p>
        </p:txBody>
      </p:sp>
      <p:sp>
        <p:nvSpPr>
          <p:cNvPr id="21" name="Shape 9"/>
          <p:cNvSpPr/>
          <p:nvPr/>
        </p:nvSpPr>
        <p:spPr>
          <a:xfrm>
            <a:off x="8138160" y="4206240"/>
            <a:ext cx="70920" cy="70920"/>
          </a:xfrm>
          <a:prstGeom prst="ellipse">
            <a:avLst/>
          </a:prstGeom>
          <a:solidFill>
            <a:srgbClr val="F7931A">
              <a:alpha val="75000"/>
            </a:srgbClr>
          </a:solidFill>
          <a:ln w="12600">
            <a:solidFill>
              <a:srgbClr val="F7931A"/>
            </a:solidFill>
            <a:round/>
          </a:ln>
        </p:spPr>
        <p:style>
          <a:lnRef idx="0"/>
          <a:fillRef idx="0"/>
          <a:effectRef idx="0"/>
          <a:fontRef idx="minor"/>
        </p:style>
        <p:txBody>
          <a:bodyPr lIns="35640" tIns="6840" rIns="35640" bIns="6840" anchor="t">
            <a:noAutofit/>
          </a:bodyPr>
          <a:p>
            <a:endParaRPr lang="en-GB" sz="1800" b="0" u="none" strike="noStrike">
              <a:solidFill>
                <a:srgbClr val="000000"/>
              </a:solidFill>
              <a:effectLst/>
              <a:uFillTx/>
              <a:latin typeface="Arial"/>
            </a:endParaRPr>
          </a:p>
        </p:txBody>
      </p:sp>
      <p:pic>
        <p:nvPicPr>
          <p:cNvPr id="22" name="Image 0" descr="preencoded.png"/>
          <p:cNvPicPr/>
          <p:nvPr/>
        </p:nvPicPr>
        <p:blipFill>
          <a:blip r:embed="rId1"/>
          <a:stretch/>
        </p:blipFill>
        <p:spPr>
          <a:xfrm>
            <a:off x="457200" y="457200"/>
            <a:ext cx="455040" cy="455040"/>
          </a:xfrm>
          <a:prstGeom prst="rect">
            <a:avLst/>
          </a:prstGeom>
          <a:noFill/>
          <a:ln w="0">
            <a:noFill/>
          </a:ln>
        </p:spPr>
      </p:pic>
      <p:sp>
        <p:nvSpPr>
          <p:cNvPr id="23" name="Text 10"/>
          <p:cNvSpPr/>
          <p:nvPr/>
        </p:nvSpPr>
        <p:spPr>
          <a:xfrm>
            <a:off x="960120" y="502920"/>
            <a:ext cx="274104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300" strike="noStrike">
                <a:solidFill>
                  <a:srgbClr val="F5C26B"/>
                </a:solidFill>
                <a:effectLst/>
                <a:uFillTx/>
                <a:latin typeface="Calibri"/>
                <a:ea typeface="Calibri"/>
              </a:rPr>
              <a:t>ICBC 2026</a:t>
            </a:r>
            <a:endParaRPr lang="en-GB" sz="1100" b="0" u="none" strike="noStrike">
              <a:solidFill>
                <a:srgbClr val="FFFFFF"/>
              </a:solidFill>
              <a:effectLst/>
              <a:uFillTx/>
              <a:latin typeface="Arial"/>
            </a:endParaRPr>
          </a:p>
        </p:txBody>
      </p:sp>
      <p:sp>
        <p:nvSpPr>
          <p:cNvPr id="24" name="Text 11"/>
          <p:cNvSpPr/>
          <p:nvPr/>
        </p:nvSpPr>
        <p:spPr>
          <a:xfrm>
            <a:off x="457200" y="1280160"/>
            <a:ext cx="8227440" cy="1095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200" b="1" u="none" strike="noStrike">
                <a:solidFill>
                  <a:srgbClr val="FFFFFF"/>
                </a:solidFill>
                <a:effectLst/>
                <a:uFillTx/>
                <a:latin typeface="Cambria"/>
                <a:ea typeface="Cambria"/>
              </a:rPr>
              <a:t>Elmo</a:t>
            </a:r>
            <a:endParaRPr lang="en-GB" sz="7200" b="0" u="none" strike="noStrike">
              <a:solidFill>
                <a:srgbClr val="FFFFFF"/>
              </a:solidFill>
              <a:effectLst/>
              <a:uFillTx/>
              <a:latin typeface="Arial"/>
            </a:endParaRPr>
          </a:p>
        </p:txBody>
      </p:sp>
      <p:sp>
        <p:nvSpPr>
          <p:cNvPr id="25" name="Text 12"/>
          <p:cNvSpPr/>
          <p:nvPr/>
        </p:nvSpPr>
        <p:spPr>
          <a:xfrm>
            <a:off x="457200" y="2331720"/>
            <a:ext cx="8227440" cy="54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i="1" u="none" strike="noStrike">
                <a:solidFill>
                  <a:srgbClr val="F5C26B"/>
                </a:solidFill>
                <a:effectLst/>
                <a:uFillTx/>
                <a:latin typeface="Cambria"/>
                <a:ea typeface="Cambria"/>
              </a:rPr>
              <a:t>Recursive Virtual Payment Channels for Bitcoin</a:t>
            </a:r>
            <a:endParaRPr lang="en-GB" sz="2600" b="0" u="none" strike="noStrike">
              <a:solidFill>
                <a:srgbClr val="FFFFFF"/>
              </a:solidFill>
              <a:effectLst/>
              <a:uFillTx/>
              <a:latin typeface="Arial"/>
            </a:endParaRPr>
          </a:p>
        </p:txBody>
      </p:sp>
      <p:sp>
        <p:nvSpPr>
          <p:cNvPr id="26" name="Shape 13"/>
          <p:cNvSpPr/>
          <p:nvPr/>
        </p:nvSpPr>
        <p:spPr>
          <a:xfrm>
            <a:off x="457200" y="3063240"/>
            <a:ext cx="455040" cy="34560"/>
          </a:xfrm>
          <a:prstGeom prst="rect">
            <a:avLst/>
          </a:prstGeom>
          <a:solidFill>
            <a:srgbClr val="F7931A"/>
          </a:solidFill>
          <a:ln w="12600">
            <a:solidFill>
              <a:srgbClr val="F7931A"/>
            </a:solidFill>
            <a:round/>
          </a:ln>
        </p:spPr>
        <p:style>
          <a:lnRef idx="0"/>
          <a:fillRef idx="0"/>
          <a:effectRef idx="0"/>
          <a:fontRef idx="minor"/>
        </p:style>
        <p:txBody>
          <a:bodyPr lIns="90000" tIns="-8280" rIns="90000" bIns="-8280" anchor="t">
            <a:noAutofit/>
          </a:bodyPr>
          <a:p>
            <a:endParaRPr lang="en-GB" sz="1800" b="0" u="none" strike="noStrike">
              <a:solidFill>
                <a:srgbClr val="000000"/>
              </a:solidFill>
              <a:effectLst/>
              <a:uFillTx/>
              <a:latin typeface="Arial"/>
            </a:endParaRPr>
          </a:p>
        </p:txBody>
      </p:sp>
      <p:sp>
        <p:nvSpPr>
          <p:cNvPr id="27" name="Text 14"/>
          <p:cNvSpPr/>
          <p:nvPr/>
        </p:nvSpPr>
        <p:spPr>
          <a:xfrm>
            <a:off x="457200" y="3200400"/>
            <a:ext cx="822744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Aggelos Kiayias</a:t>
            </a:r>
            <a:r>
              <a:rPr lang="en-US" sz="1400" b="0" u="none" strike="noStrike">
                <a:solidFill>
                  <a:srgbClr val="B8C2D8"/>
                </a:solidFill>
                <a:effectLst/>
                <a:uFillTx/>
                <a:latin typeface="Calibri"/>
                <a:ea typeface="Calibri"/>
              </a:rPr>
              <a:t>   University of Edinburgh &amp; IOG</a:t>
            </a:r>
            <a:endParaRPr lang="en-GB" sz="1400" b="0" u="none" strike="noStrike">
              <a:solidFill>
                <a:srgbClr val="FFFFFF"/>
              </a:solidFill>
              <a:effectLst/>
              <a:uFillTx/>
              <a:latin typeface="Arial"/>
            </a:endParaRPr>
          </a:p>
        </p:txBody>
      </p:sp>
      <p:sp>
        <p:nvSpPr>
          <p:cNvPr id="28" name="Text 15"/>
          <p:cNvSpPr/>
          <p:nvPr/>
        </p:nvSpPr>
        <p:spPr>
          <a:xfrm>
            <a:off x="457200" y="3520440"/>
            <a:ext cx="822744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Michael Schaller</a:t>
            </a:r>
            <a:r>
              <a:rPr lang="en-US" sz="1400" b="0" u="none" strike="noStrike">
                <a:solidFill>
                  <a:srgbClr val="B8C2D8"/>
                </a:solidFill>
                <a:effectLst/>
                <a:uFillTx/>
                <a:latin typeface="Calibri"/>
                <a:ea typeface="Calibri"/>
              </a:rPr>
              <a:t>   Universität Zürich</a:t>
            </a:r>
            <a:endParaRPr lang="en-GB" sz="1400" b="0" u="none" strike="noStrike">
              <a:solidFill>
                <a:srgbClr val="FFFFFF"/>
              </a:solidFill>
              <a:effectLst/>
              <a:uFillTx/>
              <a:latin typeface="Arial"/>
            </a:endParaRPr>
          </a:p>
        </p:txBody>
      </p:sp>
      <p:sp>
        <p:nvSpPr>
          <p:cNvPr id="29" name="Text 16"/>
          <p:cNvSpPr/>
          <p:nvPr/>
        </p:nvSpPr>
        <p:spPr>
          <a:xfrm>
            <a:off x="457200" y="3840480"/>
            <a:ext cx="822744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sng" strike="noStrike">
                <a:solidFill>
                  <a:srgbClr val="FFFFFF"/>
                </a:solidFill>
                <a:effectLst/>
                <a:uFillTx/>
                <a:latin typeface="Calibri"/>
                <a:ea typeface="Calibri"/>
              </a:rPr>
              <a:t>Orfeas Stefanos Thyfronitis Litos</a:t>
            </a:r>
            <a:r>
              <a:rPr lang="en-US" sz="1400" b="0" u="none" strike="noStrike">
                <a:solidFill>
                  <a:srgbClr val="B8C2D8"/>
                </a:solidFill>
                <a:effectLst/>
                <a:uFillTx/>
                <a:latin typeface="Calibri"/>
                <a:ea typeface="Calibri"/>
              </a:rPr>
              <a:t>   Common Prefix</a:t>
            </a:r>
            <a:endParaRPr lang="en-GB" sz="1400" b="0" u="none" strike="noStrike">
              <a:solidFill>
                <a:srgbClr val="FFFFFF"/>
              </a:solidFill>
              <a:effectLst/>
              <a:uFillTx/>
              <a:latin typeface="Arial"/>
            </a:endParaRPr>
          </a:p>
        </p:txBody>
      </p:sp>
      <p:sp>
        <p:nvSpPr>
          <p:cNvPr id="30" name="Text 17"/>
          <p:cNvSpPr/>
          <p:nvPr/>
        </p:nvSpPr>
        <p:spPr>
          <a:xfrm>
            <a:off x="457200" y="4754880"/>
            <a:ext cx="822744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pc="201" strike="noStrike">
                <a:solidFill>
                  <a:srgbClr val="F5C26B"/>
                </a:solidFill>
                <a:effectLst/>
                <a:uFillTx/>
                <a:latin typeface="Calibri"/>
                <a:ea typeface="Calibri"/>
              </a:rPr>
              <a:t>Bitcoin · Lightning · Layer 2 · ANYPREVOUT</a:t>
            </a:r>
            <a:endParaRPr lang="en-GB" sz="1000" b="0" u="none" strike="noStrike">
              <a:solidFill>
                <a:srgbClr val="FFFFFF"/>
              </a:solidFill>
              <a:effectLst/>
              <a:uFillTx/>
              <a:latin typeface="Arial"/>
            </a:endParaRPr>
          </a:p>
        </p:txBody>
      </p:sp>
      <p:pic>
        <p:nvPicPr>
          <p:cNvPr id="31" name=""/>
          <p:cNvPicPr/>
          <p:nvPr/>
        </p:nvPicPr>
        <p:blipFill>
          <a:blip r:embed="rId2"/>
          <a:stretch/>
        </p:blipFill>
        <p:spPr>
          <a:xfrm>
            <a:off x="4608000" y="3020400"/>
            <a:ext cx="1764000" cy="17640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Bitcoin doesn't scale — Lightning does</a:t>
            </a:r>
            <a:endParaRPr lang="en-GB" sz="2600" b="0" u="none" strike="noStrike">
              <a:solidFill>
                <a:srgbClr val="000000"/>
              </a:solidFill>
              <a:effectLst/>
              <a:uFillTx/>
              <a:latin typeface="Arial"/>
            </a:endParaRPr>
          </a:p>
        </p:txBody>
      </p:sp>
      <p:sp>
        <p:nvSpPr>
          <p:cNvPr id="33"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Layer-2 channels move payments off-chain between two locked-in parties</a:t>
            </a:r>
            <a:endParaRPr lang="en-GB" sz="1300" b="0" u="none" strike="noStrike">
              <a:solidFill>
                <a:srgbClr val="000000"/>
              </a:solidFill>
              <a:effectLst/>
              <a:uFillTx/>
              <a:latin typeface="Arial"/>
            </a:endParaRPr>
          </a:p>
        </p:txBody>
      </p:sp>
      <p:sp>
        <p:nvSpPr>
          <p:cNvPr id="34" name="Shape 3"/>
          <p:cNvSpPr/>
          <p:nvPr/>
        </p:nvSpPr>
        <p:spPr>
          <a:xfrm>
            <a:off x="365760" y="1325880"/>
            <a:ext cx="4021200" cy="3381120"/>
          </a:xfrm>
          <a:prstGeom prst="rect">
            <a:avLst/>
          </a:prstGeom>
          <a:solidFill>
            <a:srgbClr val="EEF1F8"/>
          </a:solidFill>
          <a:ln w="12600">
            <a:solidFill>
              <a:srgbClr val="EEF1F8"/>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35" name="Image 0" descr="preencoded.png"/>
          <p:cNvPicPr/>
          <p:nvPr/>
        </p:nvPicPr>
        <p:blipFill>
          <a:blip r:embed="rId1"/>
          <a:stretch/>
        </p:blipFill>
        <p:spPr>
          <a:xfrm>
            <a:off x="548640" y="1508760"/>
            <a:ext cx="290520" cy="290520"/>
          </a:xfrm>
          <a:prstGeom prst="rect">
            <a:avLst/>
          </a:prstGeom>
          <a:noFill/>
          <a:ln w="0">
            <a:noFill/>
          </a:ln>
        </p:spPr>
      </p:pic>
      <p:sp>
        <p:nvSpPr>
          <p:cNvPr id="36" name="Text 4"/>
          <p:cNvSpPr/>
          <p:nvPr/>
        </p:nvSpPr>
        <p:spPr>
          <a:xfrm>
            <a:off x="914400" y="1481400"/>
            <a:ext cx="274104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1B3D"/>
                </a:solidFill>
                <a:effectLst/>
                <a:uFillTx/>
                <a:latin typeface="Cambria"/>
                <a:ea typeface="Cambria"/>
              </a:rPr>
              <a:t>Bitcoin L1</a:t>
            </a:r>
            <a:endParaRPr lang="en-GB" sz="1600" b="0" u="none" strike="noStrike">
              <a:solidFill>
                <a:srgbClr val="000000"/>
              </a:solidFill>
              <a:effectLst/>
              <a:uFillTx/>
              <a:latin typeface="Arial"/>
            </a:endParaRPr>
          </a:p>
        </p:txBody>
      </p:sp>
      <p:sp>
        <p:nvSpPr>
          <p:cNvPr id="37" name="Text 5"/>
          <p:cNvSpPr/>
          <p:nvPr/>
        </p:nvSpPr>
        <p:spPr>
          <a:xfrm>
            <a:off x="548640" y="1920240"/>
            <a:ext cx="365544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DC2626"/>
                </a:solidFill>
                <a:effectLst/>
                <a:uFillTx/>
                <a:latin typeface="Cambria"/>
                <a:ea typeface="Cambria"/>
              </a:rPr>
              <a:t>~1 hour</a:t>
            </a:r>
            <a:endParaRPr lang="en-GB" sz="3600" b="0" u="none" strike="noStrike">
              <a:solidFill>
                <a:srgbClr val="000000"/>
              </a:solidFill>
              <a:effectLst/>
              <a:uFillTx/>
              <a:latin typeface="Arial"/>
            </a:endParaRPr>
          </a:p>
        </p:txBody>
      </p:sp>
      <p:sp>
        <p:nvSpPr>
          <p:cNvPr id="38" name="Text 6"/>
          <p:cNvSpPr/>
          <p:nvPr/>
        </p:nvSpPr>
        <p:spPr>
          <a:xfrm>
            <a:off x="548640" y="2423160"/>
            <a:ext cx="365544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5A6B8C"/>
                </a:solidFill>
                <a:effectLst/>
                <a:uFillTx/>
                <a:latin typeface="Calibri"/>
                <a:ea typeface="Calibri"/>
              </a:rPr>
              <a:t>confirmation latency</a:t>
            </a:r>
            <a:endParaRPr lang="en-GB" sz="1200" b="0" u="none" strike="noStrike">
              <a:solidFill>
                <a:srgbClr val="000000"/>
              </a:solidFill>
              <a:effectLst/>
              <a:uFillTx/>
              <a:latin typeface="Arial"/>
            </a:endParaRPr>
          </a:p>
        </p:txBody>
      </p:sp>
      <p:sp>
        <p:nvSpPr>
          <p:cNvPr id="39" name="Text 7"/>
          <p:cNvSpPr/>
          <p:nvPr/>
        </p:nvSpPr>
        <p:spPr>
          <a:xfrm>
            <a:off x="548640" y="2834640"/>
            <a:ext cx="365544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DC2626"/>
                </a:solidFill>
                <a:effectLst/>
                <a:uFillTx/>
                <a:latin typeface="Cambria"/>
                <a:ea typeface="Cambria"/>
              </a:rPr>
              <a:t>~7 tx / second</a:t>
            </a:r>
            <a:endParaRPr lang="en-GB" sz="3600" b="0" u="none" strike="noStrike">
              <a:solidFill>
                <a:srgbClr val="000000"/>
              </a:solidFill>
              <a:effectLst/>
              <a:uFillTx/>
              <a:latin typeface="Arial"/>
            </a:endParaRPr>
          </a:p>
        </p:txBody>
      </p:sp>
      <p:sp>
        <p:nvSpPr>
          <p:cNvPr id="40" name="Text 8"/>
          <p:cNvSpPr/>
          <p:nvPr/>
        </p:nvSpPr>
        <p:spPr>
          <a:xfrm>
            <a:off x="548640" y="3337560"/>
            <a:ext cx="365544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5A6B8C"/>
                </a:solidFill>
                <a:effectLst/>
                <a:uFillTx/>
                <a:latin typeface="Calibri"/>
                <a:ea typeface="Calibri"/>
              </a:rPr>
              <a:t>global throughput ceiling</a:t>
            </a:r>
            <a:endParaRPr lang="en-GB" sz="1200" b="0" u="none" strike="noStrike">
              <a:solidFill>
                <a:srgbClr val="000000"/>
              </a:solidFill>
              <a:effectLst/>
              <a:uFillTx/>
              <a:latin typeface="Arial"/>
            </a:endParaRPr>
          </a:p>
        </p:txBody>
      </p:sp>
      <p:sp>
        <p:nvSpPr>
          <p:cNvPr id="41" name="Text 9"/>
          <p:cNvSpPr/>
          <p:nvPr/>
        </p:nvSpPr>
        <p:spPr>
          <a:xfrm>
            <a:off x="548640" y="3931920"/>
            <a:ext cx="3655440" cy="54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0F1B3D"/>
                </a:solidFill>
                <a:effectLst/>
                <a:uFillTx/>
                <a:latin typeface="Calibri"/>
                <a:ea typeface="Calibri"/>
              </a:rPr>
              <a:t>Not fit for frequent or time-sensitive payments.</a:t>
            </a:r>
            <a:endParaRPr lang="en-GB" sz="1200" b="0" u="none" strike="noStrike">
              <a:solidFill>
                <a:srgbClr val="000000"/>
              </a:solidFill>
              <a:effectLst/>
              <a:uFillTx/>
              <a:latin typeface="Arial"/>
            </a:endParaRPr>
          </a:p>
        </p:txBody>
      </p:sp>
      <p:sp>
        <p:nvSpPr>
          <p:cNvPr id="42" name="Shape 10"/>
          <p:cNvSpPr/>
          <p:nvPr/>
        </p:nvSpPr>
        <p:spPr>
          <a:xfrm>
            <a:off x="4480560" y="1417320"/>
            <a:ext cx="360" cy="3200400"/>
          </a:xfrm>
          <a:prstGeom prst="line">
            <a:avLst/>
          </a:prstGeom>
          <a:ln w="12600">
            <a:solidFill>
              <a:srgbClr val="D8DCE6"/>
            </a:solidFill>
            <a:prstDash val="dash"/>
            <a:roun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43" name="Text 11"/>
          <p:cNvSpPr/>
          <p:nvPr/>
        </p:nvSpPr>
        <p:spPr>
          <a:xfrm>
            <a:off x="4754880" y="1481400"/>
            <a:ext cx="402120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1B3D"/>
                </a:solidFill>
                <a:effectLst/>
                <a:uFillTx/>
                <a:latin typeface="Cambria"/>
                <a:ea typeface="Cambria"/>
              </a:rPr>
              <a:t>Lightning channel (off-chain)</a:t>
            </a:r>
            <a:endParaRPr lang="en-GB" sz="1600" b="0" u="none" strike="noStrike">
              <a:solidFill>
                <a:srgbClr val="000000"/>
              </a:solidFill>
              <a:effectLst/>
              <a:uFillTx/>
              <a:latin typeface="Arial"/>
            </a:endParaRPr>
          </a:p>
        </p:txBody>
      </p:sp>
      <p:pic>
        <p:nvPicPr>
          <p:cNvPr id="44" name="Image 1" descr="preencoded.png"/>
          <p:cNvPicPr/>
          <p:nvPr/>
        </p:nvPicPr>
        <p:blipFill>
          <a:blip r:embed="rId2"/>
          <a:stretch/>
        </p:blipFill>
        <p:spPr>
          <a:xfrm>
            <a:off x="4434840" y="1463040"/>
            <a:ext cx="290520" cy="290520"/>
          </a:xfrm>
          <a:prstGeom prst="rect">
            <a:avLst/>
          </a:prstGeom>
          <a:noFill/>
          <a:ln w="0">
            <a:noFill/>
          </a:ln>
        </p:spPr>
      </p:pic>
      <p:sp>
        <p:nvSpPr>
          <p:cNvPr id="45" name="Shape 12"/>
          <p:cNvSpPr/>
          <p:nvPr/>
        </p:nvSpPr>
        <p:spPr>
          <a:xfrm>
            <a:off x="4937760" y="2286000"/>
            <a:ext cx="637920" cy="63792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46" name="Text 13"/>
          <p:cNvSpPr/>
          <p:nvPr/>
        </p:nvSpPr>
        <p:spPr>
          <a:xfrm>
            <a:off x="4937760" y="2286000"/>
            <a:ext cx="637920" cy="63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FFFFFF"/>
                </a:solidFill>
                <a:effectLst/>
                <a:uFillTx/>
                <a:latin typeface="Cambria"/>
                <a:ea typeface="Cambria"/>
              </a:rPr>
              <a:t>A</a:t>
            </a:r>
            <a:endParaRPr lang="en-GB" sz="2400" b="0" u="none" strike="noStrike">
              <a:solidFill>
                <a:srgbClr val="000000"/>
              </a:solidFill>
              <a:effectLst/>
              <a:uFillTx/>
              <a:latin typeface="Arial"/>
            </a:endParaRPr>
          </a:p>
        </p:txBody>
      </p:sp>
      <p:sp>
        <p:nvSpPr>
          <p:cNvPr id="47" name="Shape 14"/>
          <p:cNvSpPr/>
          <p:nvPr/>
        </p:nvSpPr>
        <p:spPr>
          <a:xfrm>
            <a:off x="7863840" y="2286000"/>
            <a:ext cx="637920" cy="63792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48" name="Text 15"/>
          <p:cNvSpPr/>
          <p:nvPr/>
        </p:nvSpPr>
        <p:spPr>
          <a:xfrm>
            <a:off x="7863840" y="2286000"/>
            <a:ext cx="637920" cy="63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FFFFFF"/>
                </a:solidFill>
                <a:effectLst/>
                <a:uFillTx/>
                <a:latin typeface="Cambria"/>
                <a:ea typeface="Cambria"/>
              </a:rPr>
              <a:t>B</a:t>
            </a:r>
            <a:endParaRPr lang="en-GB" sz="2400" b="0" u="none" strike="noStrike">
              <a:solidFill>
                <a:srgbClr val="000000"/>
              </a:solidFill>
              <a:effectLst/>
              <a:uFillTx/>
              <a:latin typeface="Arial"/>
            </a:endParaRPr>
          </a:p>
        </p:txBody>
      </p:sp>
      <p:sp>
        <p:nvSpPr>
          <p:cNvPr id="49" name="Shape 16"/>
          <p:cNvSpPr/>
          <p:nvPr/>
        </p:nvSpPr>
        <p:spPr>
          <a:xfrm>
            <a:off x="5623560" y="2468880"/>
            <a:ext cx="2194560" cy="360"/>
          </a:xfrm>
          <a:prstGeom prst="line">
            <a:avLst/>
          </a:prstGeom>
          <a:ln w="63360">
            <a:solidFill>
              <a:srgbClr val="F7931A"/>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50" name="Text 17"/>
          <p:cNvSpPr/>
          <p:nvPr/>
        </p:nvSpPr>
        <p:spPr>
          <a:xfrm>
            <a:off x="6446520" y="2178000"/>
            <a:ext cx="54648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7931A"/>
                </a:solidFill>
                <a:effectLst/>
                <a:uFillTx/>
                <a:latin typeface="Cambria"/>
                <a:ea typeface="Cambria"/>
              </a:rPr>
              <a:t>₿</a:t>
            </a:r>
            <a:endParaRPr lang="en-GB" sz="1600" b="0" u="none" strike="noStrike">
              <a:solidFill>
                <a:srgbClr val="000000"/>
              </a:solidFill>
              <a:effectLst/>
              <a:uFillTx/>
              <a:latin typeface="Arial"/>
            </a:endParaRPr>
          </a:p>
        </p:txBody>
      </p:sp>
      <p:sp>
        <p:nvSpPr>
          <p:cNvPr id="51" name="Shape 18"/>
          <p:cNvSpPr/>
          <p:nvPr/>
        </p:nvSpPr>
        <p:spPr>
          <a:xfrm flipH="1">
            <a:off x="5623560" y="2743200"/>
            <a:ext cx="2194560" cy="360"/>
          </a:xfrm>
          <a:prstGeom prst="line">
            <a:avLst/>
          </a:prstGeom>
          <a:ln w="63360">
            <a:solidFill>
              <a:srgbClr val="F7931A"/>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52" name="Text 19"/>
          <p:cNvSpPr/>
          <p:nvPr/>
        </p:nvSpPr>
        <p:spPr>
          <a:xfrm>
            <a:off x="6446520" y="2743200"/>
            <a:ext cx="54648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7931A"/>
                </a:solidFill>
                <a:effectLst/>
                <a:uFillTx/>
                <a:latin typeface="Cambria"/>
                <a:ea typeface="Cambria"/>
              </a:rPr>
              <a:t>₿</a:t>
            </a:r>
            <a:endParaRPr lang="en-GB" sz="1600" b="0" u="none" strike="noStrike">
              <a:solidFill>
                <a:srgbClr val="000000"/>
              </a:solidFill>
              <a:effectLst/>
              <a:uFillTx/>
              <a:latin typeface="Arial"/>
            </a:endParaRPr>
          </a:p>
        </p:txBody>
      </p:sp>
      <p:sp>
        <p:nvSpPr>
          <p:cNvPr id="53" name="Shape 20"/>
          <p:cNvSpPr/>
          <p:nvPr/>
        </p:nvSpPr>
        <p:spPr>
          <a:xfrm>
            <a:off x="4526280" y="3657600"/>
            <a:ext cx="1323720" cy="866520"/>
          </a:xfrm>
          <a:prstGeom prst="rect">
            <a:avLst/>
          </a:prstGeom>
          <a:solidFill>
            <a:srgbClr val="FFFFFF"/>
          </a:solidFill>
          <a:ln w="1260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4" name="Text 21"/>
          <p:cNvSpPr/>
          <p:nvPr/>
        </p:nvSpPr>
        <p:spPr>
          <a:xfrm>
            <a:off x="4572000" y="3749040"/>
            <a:ext cx="1232280" cy="31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931A"/>
                </a:solidFill>
                <a:effectLst/>
                <a:uFillTx/>
                <a:latin typeface="Cambria"/>
                <a:ea typeface="Cambria"/>
              </a:rPr>
              <a:t>1 on-chain tx</a:t>
            </a:r>
            <a:endParaRPr lang="en-GB" sz="1300" b="0" u="none" strike="noStrike">
              <a:solidFill>
                <a:srgbClr val="000000"/>
              </a:solidFill>
              <a:effectLst/>
              <a:uFillTx/>
              <a:latin typeface="Arial"/>
            </a:endParaRPr>
          </a:p>
        </p:txBody>
      </p:sp>
      <p:sp>
        <p:nvSpPr>
          <p:cNvPr id="55" name="Text 22"/>
          <p:cNvSpPr/>
          <p:nvPr/>
        </p:nvSpPr>
        <p:spPr>
          <a:xfrm>
            <a:off x="4572000" y="4114800"/>
            <a:ext cx="1232280" cy="31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931A"/>
                </a:solidFill>
                <a:effectLst/>
                <a:uFillTx/>
                <a:latin typeface="Cambria"/>
                <a:ea typeface="Cambria"/>
              </a:rPr>
              <a:t>to open</a:t>
            </a:r>
            <a:endParaRPr lang="en-GB" sz="1300" b="0" u="none" strike="noStrike">
              <a:solidFill>
                <a:srgbClr val="000000"/>
              </a:solidFill>
              <a:effectLst/>
              <a:uFillTx/>
              <a:latin typeface="Arial"/>
            </a:endParaRPr>
          </a:p>
        </p:txBody>
      </p:sp>
      <p:sp>
        <p:nvSpPr>
          <p:cNvPr id="56" name="Shape 23"/>
          <p:cNvSpPr/>
          <p:nvPr/>
        </p:nvSpPr>
        <p:spPr>
          <a:xfrm>
            <a:off x="5989320" y="3657600"/>
            <a:ext cx="1323720" cy="866520"/>
          </a:xfrm>
          <a:prstGeom prst="rect">
            <a:avLst/>
          </a:prstGeom>
          <a:solidFill>
            <a:srgbClr val="FFFFFF"/>
          </a:solidFill>
          <a:ln w="1260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7" name="Text 24"/>
          <p:cNvSpPr/>
          <p:nvPr/>
        </p:nvSpPr>
        <p:spPr>
          <a:xfrm>
            <a:off x="6035040" y="3749040"/>
            <a:ext cx="1232280" cy="31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931A"/>
                </a:solidFill>
                <a:effectLst/>
                <a:uFillTx/>
                <a:latin typeface="Cambria"/>
                <a:ea typeface="Cambria"/>
              </a:rPr>
              <a:t>unlimited</a:t>
            </a:r>
            <a:endParaRPr lang="en-GB" sz="1300" b="0" u="none" strike="noStrike">
              <a:solidFill>
                <a:srgbClr val="000000"/>
              </a:solidFill>
              <a:effectLst/>
              <a:uFillTx/>
              <a:latin typeface="Arial"/>
            </a:endParaRPr>
          </a:p>
        </p:txBody>
      </p:sp>
      <p:sp>
        <p:nvSpPr>
          <p:cNvPr id="58" name="Text 25"/>
          <p:cNvSpPr/>
          <p:nvPr/>
        </p:nvSpPr>
        <p:spPr>
          <a:xfrm>
            <a:off x="6035040" y="4114800"/>
            <a:ext cx="1232280" cy="31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931A"/>
                </a:solidFill>
                <a:effectLst/>
                <a:uFillTx/>
                <a:latin typeface="Cambria"/>
                <a:ea typeface="Cambria"/>
              </a:rPr>
              <a:t>off-chain payments</a:t>
            </a:r>
            <a:endParaRPr lang="en-GB" sz="1300" b="0" u="none" strike="noStrike">
              <a:solidFill>
                <a:srgbClr val="000000"/>
              </a:solidFill>
              <a:effectLst/>
              <a:uFillTx/>
              <a:latin typeface="Arial"/>
            </a:endParaRPr>
          </a:p>
        </p:txBody>
      </p:sp>
      <p:sp>
        <p:nvSpPr>
          <p:cNvPr id="59" name="Shape 26"/>
          <p:cNvSpPr/>
          <p:nvPr/>
        </p:nvSpPr>
        <p:spPr>
          <a:xfrm>
            <a:off x="7452360" y="3657600"/>
            <a:ext cx="1323720" cy="866520"/>
          </a:xfrm>
          <a:prstGeom prst="rect">
            <a:avLst/>
          </a:prstGeom>
          <a:solidFill>
            <a:srgbClr val="FFFFFF"/>
          </a:solidFill>
          <a:ln w="1260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60" name="Text 27"/>
          <p:cNvSpPr/>
          <p:nvPr/>
        </p:nvSpPr>
        <p:spPr>
          <a:xfrm>
            <a:off x="7498080" y="3749040"/>
            <a:ext cx="1232280" cy="31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931A"/>
                </a:solidFill>
                <a:effectLst/>
                <a:uFillTx/>
                <a:latin typeface="Cambria"/>
                <a:ea typeface="Cambria"/>
              </a:rPr>
              <a:t>1 on-chain tx</a:t>
            </a:r>
            <a:endParaRPr lang="en-GB" sz="1300" b="0" u="none" strike="noStrike">
              <a:solidFill>
                <a:srgbClr val="000000"/>
              </a:solidFill>
              <a:effectLst/>
              <a:uFillTx/>
              <a:latin typeface="Arial"/>
            </a:endParaRPr>
          </a:p>
        </p:txBody>
      </p:sp>
      <p:sp>
        <p:nvSpPr>
          <p:cNvPr id="61" name="Text 28"/>
          <p:cNvSpPr/>
          <p:nvPr/>
        </p:nvSpPr>
        <p:spPr>
          <a:xfrm>
            <a:off x="7498080" y="4114800"/>
            <a:ext cx="1232280" cy="31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931A"/>
                </a:solidFill>
                <a:effectLst/>
                <a:uFillTx/>
                <a:latin typeface="Cambria"/>
                <a:ea typeface="Cambria"/>
              </a:rPr>
              <a:t>to close</a:t>
            </a:r>
            <a:endParaRPr lang="en-GB" sz="1300" b="0" u="none" strike="noStrike">
              <a:solidFill>
                <a:srgbClr val="000000"/>
              </a:solidFill>
              <a:effectLst/>
              <a:uFillTx/>
              <a:latin typeface="Arial"/>
            </a:endParaRPr>
          </a:p>
        </p:txBody>
      </p:sp>
      <p:sp>
        <p:nvSpPr>
          <p:cNvPr id="62" name="Text 29"/>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63" name="Text 30"/>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2 / 14</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But what if Alice doesn't have a channel with Eve?</a:t>
            </a:r>
            <a:endParaRPr lang="en-GB" sz="2600" b="0" u="none" strike="noStrike">
              <a:solidFill>
                <a:srgbClr val="000000"/>
              </a:solidFill>
              <a:effectLst/>
              <a:uFillTx/>
              <a:latin typeface="Arial"/>
            </a:endParaRPr>
          </a:p>
        </p:txBody>
      </p:sp>
      <p:sp>
        <p:nvSpPr>
          <p:cNvPr id="65"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Lightning routes payments through intermediaries</a:t>
            </a:r>
            <a:endParaRPr lang="en-GB" sz="1300" b="0" u="none" strike="noStrike">
              <a:solidFill>
                <a:srgbClr val="000000"/>
              </a:solidFill>
              <a:effectLst/>
              <a:uFillTx/>
              <a:latin typeface="Arial"/>
            </a:endParaRPr>
          </a:p>
        </p:txBody>
      </p:sp>
      <p:sp>
        <p:nvSpPr>
          <p:cNvPr id="66" name="Shape 3"/>
          <p:cNvSpPr/>
          <p:nvPr/>
        </p:nvSpPr>
        <p:spPr>
          <a:xfrm>
            <a:off x="640080" y="1783080"/>
            <a:ext cx="637920" cy="637920"/>
          </a:xfrm>
          <a:prstGeom prst="ellipse">
            <a:avLst/>
          </a:prstGeom>
          <a:solidFill>
            <a:srgbClr val="F7931A"/>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67" name="Text 4"/>
          <p:cNvSpPr/>
          <p:nvPr/>
        </p:nvSpPr>
        <p:spPr>
          <a:xfrm>
            <a:off x="640080" y="1783080"/>
            <a:ext cx="637920" cy="63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FFFFFF"/>
                </a:solidFill>
                <a:effectLst/>
                <a:uFillTx/>
                <a:latin typeface="Cambria"/>
                <a:ea typeface="Cambria"/>
              </a:rPr>
              <a:t>A</a:t>
            </a:r>
            <a:endParaRPr lang="en-GB" sz="2200" b="0" u="none" strike="noStrike">
              <a:solidFill>
                <a:srgbClr val="000000"/>
              </a:solidFill>
              <a:effectLst/>
              <a:uFillTx/>
              <a:latin typeface="Arial"/>
            </a:endParaRPr>
          </a:p>
        </p:txBody>
      </p:sp>
      <p:sp>
        <p:nvSpPr>
          <p:cNvPr id="68" name="Shape 5"/>
          <p:cNvSpPr/>
          <p:nvPr/>
        </p:nvSpPr>
        <p:spPr>
          <a:xfrm>
            <a:off x="1280160" y="2103120"/>
            <a:ext cx="1252440" cy="360"/>
          </a:xfrm>
          <a:prstGeom prst="line">
            <a:avLst/>
          </a:prstGeom>
          <a:ln w="381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69" name="Shape 6"/>
          <p:cNvSpPr/>
          <p:nvPr/>
        </p:nvSpPr>
        <p:spPr>
          <a:xfrm>
            <a:off x="2532960" y="1783080"/>
            <a:ext cx="637920" cy="63792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70" name="Text 7"/>
          <p:cNvSpPr/>
          <p:nvPr/>
        </p:nvSpPr>
        <p:spPr>
          <a:xfrm>
            <a:off x="2532960" y="1783080"/>
            <a:ext cx="637920" cy="63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FFFFFF"/>
                </a:solidFill>
                <a:effectLst/>
                <a:uFillTx/>
                <a:latin typeface="Cambria"/>
                <a:ea typeface="Cambria"/>
              </a:rPr>
              <a:t>B</a:t>
            </a:r>
            <a:endParaRPr lang="en-GB" sz="2200" b="0" u="none" strike="noStrike">
              <a:solidFill>
                <a:srgbClr val="000000"/>
              </a:solidFill>
              <a:effectLst/>
              <a:uFillTx/>
              <a:latin typeface="Arial"/>
            </a:endParaRPr>
          </a:p>
        </p:txBody>
      </p:sp>
      <p:sp>
        <p:nvSpPr>
          <p:cNvPr id="71" name="Shape 8"/>
          <p:cNvSpPr/>
          <p:nvPr/>
        </p:nvSpPr>
        <p:spPr>
          <a:xfrm>
            <a:off x="3172680" y="2103120"/>
            <a:ext cx="1252800" cy="360"/>
          </a:xfrm>
          <a:prstGeom prst="line">
            <a:avLst/>
          </a:prstGeom>
          <a:ln w="381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72" name="Shape 9"/>
          <p:cNvSpPr/>
          <p:nvPr/>
        </p:nvSpPr>
        <p:spPr>
          <a:xfrm>
            <a:off x="4425840" y="1783080"/>
            <a:ext cx="637920" cy="63792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73" name="Text 10"/>
          <p:cNvSpPr/>
          <p:nvPr/>
        </p:nvSpPr>
        <p:spPr>
          <a:xfrm>
            <a:off x="4425840" y="1783080"/>
            <a:ext cx="637920" cy="63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FFFFFF"/>
                </a:solidFill>
                <a:effectLst/>
                <a:uFillTx/>
                <a:latin typeface="Cambria"/>
                <a:ea typeface="Cambria"/>
              </a:rPr>
              <a:t>C</a:t>
            </a:r>
            <a:endParaRPr lang="en-GB" sz="2200" b="0" u="none" strike="noStrike">
              <a:solidFill>
                <a:srgbClr val="000000"/>
              </a:solidFill>
              <a:effectLst/>
              <a:uFillTx/>
              <a:latin typeface="Arial"/>
            </a:endParaRPr>
          </a:p>
        </p:txBody>
      </p:sp>
      <p:sp>
        <p:nvSpPr>
          <p:cNvPr id="74" name="Shape 11"/>
          <p:cNvSpPr/>
          <p:nvPr/>
        </p:nvSpPr>
        <p:spPr>
          <a:xfrm>
            <a:off x="5065560" y="2103120"/>
            <a:ext cx="1252800" cy="360"/>
          </a:xfrm>
          <a:prstGeom prst="line">
            <a:avLst/>
          </a:prstGeom>
          <a:ln w="381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75" name="Shape 12"/>
          <p:cNvSpPr/>
          <p:nvPr/>
        </p:nvSpPr>
        <p:spPr>
          <a:xfrm>
            <a:off x="6318360" y="1783080"/>
            <a:ext cx="637920" cy="63792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76" name="Text 13"/>
          <p:cNvSpPr/>
          <p:nvPr/>
        </p:nvSpPr>
        <p:spPr>
          <a:xfrm>
            <a:off x="6318360" y="1783080"/>
            <a:ext cx="637920" cy="63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FFFFFF"/>
                </a:solidFill>
                <a:effectLst/>
                <a:uFillTx/>
                <a:latin typeface="Cambria"/>
                <a:ea typeface="Cambria"/>
              </a:rPr>
              <a:t>D</a:t>
            </a:r>
            <a:endParaRPr lang="en-GB" sz="2200" b="0" u="none" strike="noStrike">
              <a:solidFill>
                <a:srgbClr val="000000"/>
              </a:solidFill>
              <a:effectLst/>
              <a:uFillTx/>
              <a:latin typeface="Arial"/>
            </a:endParaRPr>
          </a:p>
        </p:txBody>
      </p:sp>
      <p:sp>
        <p:nvSpPr>
          <p:cNvPr id="77" name="Shape 14"/>
          <p:cNvSpPr/>
          <p:nvPr/>
        </p:nvSpPr>
        <p:spPr>
          <a:xfrm>
            <a:off x="6958440" y="2103120"/>
            <a:ext cx="1252800" cy="360"/>
          </a:xfrm>
          <a:prstGeom prst="line">
            <a:avLst/>
          </a:prstGeom>
          <a:ln w="381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78" name="Shape 15"/>
          <p:cNvSpPr/>
          <p:nvPr/>
        </p:nvSpPr>
        <p:spPr>
          <a:xfrm>
            <a:off x="8211240" y="1783080"/>
            <a:ext cx="637920" cy="637920"/>
          </a:xfrm>
          <a:prstGeom prst="ellipse">
            <a:avLst/>
          </a:prstGeom>
          <a:solidFill>
            <a:srgbClr val="F7931A"/>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79" name="Text 16"/>
          <p:cNvSpPr/>
          <p:nvPr/>
        </p:nvSpPr>
        <p:spPr>
          <a:xfrm>
            <a:off x="8211240" y="1783080"/>
            <a:ext cx="637920" cy="63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FFFFFF"/>
                </a:solidFill>
                <a:effectLst/>
                <a:uFillTx/>
                <a:latin typeface="Cambria"/>
                <a:ea typeface="Cambria"/>
              </a:rPr>
              <a:t>E</a:t>
            </a:r>
            <a:endParaRPr lang="en-GB" sz="2200" b="0" u="none" strike="noStrike">
              <a:solidFill>
                <a:srgbClr val="000000"/>
              </a:solidFill>
              <a:effectLst/>
              <a:uFillTx/>
              <a:latin typeface="Arial"/>
            </a:endParaRPr>
          </a:p>
        </p:txBody>
      </p:sp>
      <p:sp>
        <p:nvSpPr>
          <p:cNvPr id="80" name="Text 17"/>
          <p:cNvSpPr/>
          <p:nvPr/>
        </p:nvSpPr>
        <p:spPr>
          <a:xfrm>
            <a:off x="640080" y="2441520"/>
            <a:ext cx="637920" cy="226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7931A"/>
                </a:solidFill>
                <a:effectLst/>
                <a:uFillTx/>
                <a:latin typeface="Calibri"/>
                <a:ea typeface="Calibri"/>
              </a:rPr>
              <a:t>Alice</a:t>
            </a:r>
            <a:endParaRPr lang="en-GB" sz="1000" b="0" u="none" strike="noStrike">
              <a:solidFill>
                <a:srgbClr val="000000"/>
              </a:solidFill>
              <a:effectLst/>
              <a:uFillTx/>
              <a:latin typeface="Arial"/>
            </a:endParaRPr>
          </a:p>
        </p:txBody>
      </p:sp>
      <p:sp>
        <p:nvSpPr>
          <p:cNvPr id="81" name="Text 18"/>
          <p:cNvSpPr/>
          <p:nvPr/>
        </p:nvSpPr>
        <p:spPr>
          <a:xfrm>
            <a:off x="8211240" y="2441520"/>
            <a:ext cx="637920" cy="226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7931A"/>
                </a:solidFill>
                <a:effectLst/>
                <a:uFillTx/>
                <a:latin typeface="Calibri"/>
                <a:ea typeface="Calibri"/>
              </a:rPr>
              <a:t>Eve</a:t>
            </a:r>
            <a:endParaRPr lang="en-GB" sz="1000" b="0" u="none" strike="noStrike">
              <a:solidFill>
                <a:srgbClr val="000000"/>
              </a:solidFill>
              <a:effectLst/>
              <a:uFillTx/>
              <a:latin typeface="Arial"/>
            </a:endParaRPr>
          </a:p>
        </p:txBody>
      </p:sp>
      <p:sp>
        <p:nvSpPr>
          <p:cNvPr id="82" name="Text 19"/>
          <p:cNvSpPr/>
          <p:nvPr/>
        </p:nvSpPr>
        <p:spPr>
          <a:xfrm>
            <a:off x="365760" y="2880360"/>
            <a:ext cx="8410320" cy="31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DC2626"/>
                </a:solidFill>
                <a:effectLst/>
                <a:uFillTx/>
                <a:latin typeface="Calibri"/>
                <a:ea typeface="Calibri"/>
              </a:rPr>
              <a:t>Every payment A → E needs all 3 intermediaries to wake up and sign</a:t>
            </a:r>
            <a:endParaRPr lang="en-GB" sz="1400" b="0" u="none" strike="noStrike">
              <a:solidFill>
                <a:srgbClr val="000000"/>
              </a:solidFill>
              <a:effectLst/>
              <a:uFillTx/>
              <a:latin typeface="Arial"/>
            </a:endParaRPr>
          </a:p>
        </p:txBody>
      </p:sp>
      <p:sp>
        <p:nvSpPr>
          <p:cNvPr id="83" name="Shape 20"/>
          <p:cNvSpPr/>
          <p:nvPr/>
        </p:nvSpPr>
        <p:spPr>
          <a:xfrm>
            <a:off x="731520" y="3383280"/>
            <a:ext cx="3655440" cy="1232280"/>
          </a:xfrm>
          <a:prstGeom prst="rect">
            <a:avLst/>
          </a:prstGeom>
          <a:solidFill>
            <a:srgbClr val="FFFFFF"/>
          </a:solidFill>
          <a:ln w="1260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84" name="Shape 21"/>
          <p:cNvSpPr/>
          <p:nvPr/>
        </p:nvSpPr>
        <p:spPr>
          <a:xfrm>
            <a:off x="731520" y="3383280"/>
            <a:ext cx="52560" cy="1232280"/>
          </a:xfrm>
          <a:prstGeom prst="rect">
            <a:avLst/>
          </a:prstGeom>
          <a:solidFill>
            <a:srgbClr val="DC2626"/>
          </a:solidFill>
          <a:ln w="12600">
            <a:solidFill>
              <a:srgbClr val="DC2626"/>
            </a:solidFill>
            <a:round/>
          </a:ln>
        </p:spPr>
        <p:style>
          <a:lnRef idx="0"/>
          <a:fillRef idx="0"/>
          <a:effectRef idx="0"/>
          <a:fontRef idx="minor"/>
        </p:style>
        <p:txBody>
          <a:bodyPr lIns="26280" tIns="45000" rIns="26280" bIns="45000" anchor="t">
            <a:noAutofit/>
          </a:bodyPr>
          <a:p>
            <a:endParaRPr lang="en-GB" sz="1800" b="0" u="none" strike="noStrike">
              <a:solidFill>
                <a:srgbClr val="FFFFFF"/>
              </a:solidFill>
              <a:effectLst/>
              <a:uFillTx/>
              <a:latin typeface="Arial"/>
            </a:endParaRPr>
          </a:p>
        </p:txBody>
      </p:sp>
      <p:pic>
        <p:nvPicPr>
          <p:cNvPr id="85" name="Image 0" descr="preencoded.png"/>
          <p:cNvPicPr/>
          <p:nvPr/>
        </p:nvPicPr>
        <p:blipFill>
          <a:blip r:embed="rId1"/>
          <a:stretch/>
        </p:blipFill>
        <p:spPr>
          <a:xfrm>
            <a:off x="914400" y="3520440"/>
            <a:ext cx="290520" cy="290520"/>
          </a:xfrm>
          <a:prstGeom prst="rect">
            <a:avLst/>
          </a:prstGeom>
          <a:noFill/>
          <a:ln w="0">
            <a:noFill/>
          </a:ln>
        </p:spPr>
      </p:pic>
      <p:sp>
        <p:nvSpPr>
          <p:cNvPr id="86" name="Text 22"/>
          <p:cNvSpPr/>
          <p:nvPr/>
        </p:nvSpPr>
        <p:spPr>
          <a:xfrm>
            <a:off x="1280160" y="3502080"/>
            <a:ext cx="301536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1B3D"/>
                </a:solidFill>
                <a:effectLst/>
                <a:uFillTx/>
                <a:latin typeface="Cambria"/>
                <a:ea typeface="Cambria"/>
              </a:rPr>
              <a:t>Latency</a:t>
            </a:r>
            <a:endParaRPr lang="en-GB" sz="1400" b="0" u="none" strike="noStrike">
              <a:solidFill>
                <a:srgbClr val="000000"/>
              </a:solidFill>
              <a:effectLst/>
              <a:uFillTx/>
              <a:latin typeface="Arial"/>
            </a:endParaRPr>
          </a:p>
        </p:txBody>
      </p:sp>
      <p:sp>
        <p:nvSpPr>
          <p:cNvPr id="87" name="Text 23"/>
          <p:cNvSpPr/>
          <p:nvPr/>
        </p:nvSpPr>
        <p:spPr>
          <a:xfrm>
            <a:off x="914400" y="3886200"/>
            <a:ext cx="3381120" cy="63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A6B8C"/>
                </a:solidFill>
                <a:effectLst/>
                <a:uFillTx/>
                <a:latin typeface="Calibri"/>
                <a:ea typeface="Calibri"/>
              </a:rPr>
              <a:t>Round-trip through every hop on every payment</a:t>
            </a:r>
            <a:endParaRPr lang="en-GB" sz="1100" b="0" u="none" strike="noStrike">
              <a:solidFill>
                <a:srgbClr val="000000"/>
              </a:solidFill>
              <a:effectLst/>
              <a:uFillTx/>
              <a:latin typeface="Arial"/>
            </a:endParaRPr>
          </a:p>
        </p:txBody>
      </p:sp>
      <p:sp>
        <p:nvSpPr>
          <p:cNvPr id="88" name="Shape 24"/>
          <p:cNvSpPr/>
          <p:nvPr/>
        </p:nvSpPr>
        <p:spPr>
          <a:xfrm>
            <a:off x="4754880" y="3383280"/>
            <a:ext cx="3655440" cy="1232280"/>
          </a:xfrm>
          <a:prstGeom prst="rect">
            <a:avLst/>
          </a:prstGeom>
          <a:solidFill>
            <a:srgbClr val="FFFFFF"/>
          </a:solidFill>
          <a:ln w="1260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89" name="Shape 25"/>
          <p:cNvSpPr/>
          <p:nvPr/>
        </p:nvSpPr>
        <p:spPr>
          <a:xfrm>
            <a:off x="4754880" y="3383280"/>
            <a:ext cx="52560" cy="1232280"/>
          </a:xfrm>
          <a:prstGeom prst="rect">
            <a:avLst/>
          </a:prstGeom>
          <a:solidFill>
            <a:srgbClr val="DC2626"/>
          </a:solidFill>
          <a:ln w="12600">
            <a:solidFill>
              <a:srgbClr val="DC2626"/>
            </a:solidFill>
            <a:round/>
          </a:ln>
        </p:spPr>
        <p:style>
          <a:lnRef idx="0"/>
          <a:fillRef idx="0"/>
          <a:effectRef idx="0"/>
          <a:fontRef idx="minor"/>
        </p:style>
        <p:txBody>
          <a:bodyPr lIns="26280" tIns="45000" rIns="26280" bIns="45000" anchor="t">
            <a:noAutofit/>
          </a:bodyPr>
          <a:p>
            <a:endParaRPr lang="en-GB" sz="1800" b="0" u="none" strike="noStrike">
              <a:solidFill>
                <a:srgbClr val="FFFFFF"/>
              </a:solidFill>
              <a:effectLst/>
              <a:uFillTx/>
              <a:latin typeface="Arial"/>
            </a:endParaRPr>
          </a:p>
        </p:txBody>
      </p:sp>
      <p:pic>
        <p:nvPicPr>
          <p:cNvPr id="90" name="Image 1" descr="preencoded.png"/>
          <p:cNvPicPr/>
          <p:nvPr/>
        </p:nvPicPr>
        <p:blipFill>
          <a:blip r:embed="rId2"/>
          <a:stretch/>
        </p:blipFill>
        <p:spPr>
          <a:xfrm>
            <a:off x="4937760" y="3520440"/>
            <a:ext cx="290520" cy="290520"/>
          </a:xfrm>
          <a:prstGeom prst="rect">
            <a:avLst/>
          </a:prstGeom>
          <a:noFill/>
          <a:ln w="0">
            <a:noFill/>
          </a:ln>
        </p:spPr>
      </p:pic>
      <p:sp>
        <p:nvSpPr>
          <p:cNvPr id="91" name="Text 26"/>
          <p:cNvSpPr/>
          <p:nvPr/>
        </p:nvSpPr>
        <p:spPr>
          <a:xfrm>
            <a:off x="5303520" y="3502080"/>
            <a:ext cx="301536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1B3D"/>
                </a:solidFill>
                <a:effectLst/>
                <a:uFillTx/>
                <a:latin typeface="Cambria"/>
                <a:ea typeface="Cambria"/>
              </a:rPr>
              <a:t>Availability</a:t>
            </a:r>
            <a:endParaRPr lang="en-GB" sz="1400" b="0" u="none" strike="noStrike">
              <a:solidFill>
                <a:srgbClr val="000000"/>
              </a:solidFill>
              <a:effectLst/>
              <a:uFillTx/>
              <a:latin typeface="Arial"/>
            </a:endParaRPr>
          </a:p>
        </p:txBody>
      </p:sp>
      <p:sp>
        <p:nvSpPr>
          <p:cNvPr id="92" name="Text 27"/>
          <p:cNvSpPr/>
          <p:nvPr/>
        </p:nvSpPr>
        <p:spPr>
          <a:xfrm>
            <a:off x="4937760" y="3886200"/>
            <a:ext cx="3381120" cy="63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A6B8C"/>
                </a:solidFill>
                <a:effectLst/>
                <a:uFillTx/>
                <a:latin typeface="Calibri"/>
                <a:ea typeface="Calibri"/>
              </a:rPr>
              <a:t>Any offline intermediary breaks the payment</a:t>
            </a:r>
            <a:endParaRPr lang="en-GB" sz="1100" b="0" u="none" strike="noStrike">
              <a:solidFill>
                <a:srgbClr val="000000"/>
              </a:solidFill>
              <a:effectLst/>
              <a:uFillTx/>
              <a:latin typeface="Arial"/>
            </a:endParaRPr>
          </a:p>
        </p:txBody>
      </p:sp>
      <p:sp>
        <p:nvSpPr>
          <p:cNvPr id="93" name="Text 28"/>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94" name="Text 29"/>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3 / 14</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Virtual channels: a direct channel out of thin air</a:t>
            </a:r>
            <a:endParaRPr lang="en-GB" sz="2600" b="0" u="none" strike="noStrike">
              <a:solidFill>
                <a:srgbClr val="000000"/>
              </a:solidFill>
              <a:effectLst/>
              <a:uFillTx/>
              <a:latin typeface="Arial"/>
            </a:endParaRPr>
          </a:p>
        </p:txBody>
      </p:sp>
      <p:sp>
        <p:nvSpPr>
          <p:cNvPr id="96"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One off-chain setup → the endpoints transact as if they had a direct channel</a:t>
            </a:r>
            <a:endParaRPr lang="en-GB" sz="1300" b="0" u="none" strike="noStrike">
              <a:solidFill>
                <a:srgbClr val="000000"/>
              </a:solidFill>
              <a:effectLst/>
              <a:uFillTx/>
              <a:latin typeface="Arial"/>
            </a:endParaRPr>
          </a:p>
        </p:txBody>
      </p:sp>
      <p:sp>
        <p:nvSpPr>
          <p:cNvPr id="97" name="Text 3"/>
          <p:cNvSpPr/>
          <p:nvPr/>
        </p:nvSpPr>
        <p:spPr>
          <a:xfrm>
            <a:off x="365760" y="1325880"/>
            <a:ext cx="411264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5A6B8C"/>
                </a:solidFill>
                <a:effectLst/>
                <a:uFillTx/>
                <a:latin typeface="Cambria"/>
                <a:ea typeface="Cambria"/>
              </a:rPr>
              <a:t>Today (Lightning PCN)</a:t>
            </a:r>
            <a:endParaRPr lang="en-GB" sz="1400" b="0" u="none" strike="noStrike">
              <a:solidFill>
                <a:srgbClr val="000000"/>
              </a:solidFill>
              <a:effectLst/>
              <a:uFillTx/>
              <a:latin typeface="Arial"/>
            </a:endParaRPr>
          </a:p>
        </p:txBody>
      </p:sp>
      <p:sp>
        <p:nvSpPr>
          <p:cNvPr id="98" name="Shape 4"/>
          <p:cNvSpPr/>
          <p:nvPr/>
        </p:nvSpPr>
        <p:spPr>
          <a:xfrm>
            <a:off x="365760" y="1920240"/>
            <a:ext cx="455040" cy="455040"/>
          </a:xfrm>
          <a:prstGeom prst="ellipse">
            <a:avLst/>
          </a:prstGeom>
          <a:solidFill>
            <a:srgbClr val="F7931A"/>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9" name="Text 5"/>
          <p:cNvSpPr/>
          <p:nvPr/>
        </p:nvSpPr>
        <p:spPr>
          <a:xfrm>
            <a:off x="36576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A</a:t>
            </a:r>
            <a:endParaRPr lang="en-GB" sz="1300" b="0" u="none" strike="noStrike">
              <a:solidFill>
                <a:srgbClr val="000000"/>
              </a:solidFill>
              <a:effectLst/>
              <a:uFillTx/>
              <a:latin typeface="Arial"/>
            </a:endParaRPr>
          </a:p>
        </p:txBody>
      </p:sp>
      <p:sp>
        <p:nvSpPr>
          <p:cNvPr id="100" name="Shape 6"/>
          <p:cNvSpPr/>
          <p:nvPr/>
        </p:nvSpPr>
        <p:spPr>
          <a:xfrm>
            <a:off x="822960" y="2148840"/>
            <a:ext cx="365760" cy="360"/>
          </a:xfrm>
          <a:prstGeom prst="line">
            <a:avLst/>
          </a:prstGeom>
          <a:ln w="255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01" name="Shape 7"/>
          <p:cNvSpPr/>
          <p:nvPr/>
        </p:nvSpPr>
        <p:spPr>
          <a:xfrm>
            <a:off x="1188720" y="1920240"/>
            <a:ext cx="455040" cy="45504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02" name="Text 8"/>
          <p:cNvSpPr/>
          <p:nvPr/>
        </p:nvSpPr>
        <p:spPr>
          <a:xfrm>
            <a:off x="118872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B</a:t>
            </a:r>
            <a:endParaRPr lang="en-GB" sz="1300" b="0" u="none" strike="noStrike">
              <a:solidFill>
                <a:srgbClr val="000000"/>
              </a:solidFill>
              <a:effectLst/>
              <a:uFillTx/>
              <a:latin typeface="Arial"/>
            </a:endParaRPr>
          </a:p>
        </p:txBody>
      </p:sp>
      <p:sp>
        <p:nvSpPr>
          <p:cNvPr id="103" name="Shape 9"/>
          <p:cNvSpPr/>
          <p:nvPr/>
        </p:nvSpPr>
        <p:spPr>
          <a:xfrm>
            <a:off x="1645920" y="2148840"/>
            <a:ext cx="365760" cy="360"/>
          </a:xfrm>
          <a:prstGeom prst="line">
            <a:avLst/>
          </a:prstGeom>
          <a:ln w="255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04" name="Shape 10"/>
          <p:cNvSpPr/>
          <p:nvPr/>
        </p:nvSpPr>
        <p:spPr>
          <a:xfrm>
            <a:off x="2011680" y="1920240"/>
            <a:ext cx="455040" cy="45504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05" name="Text 11"/>
          <p:cNvSpPr/>
          <p:nvPr/>
        </p:nvSpPr>
        <p:spPr>
          <a:xfrm>
            <a:off x="201168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C</a:t>
            </a:r>
            <a:endParaRPr lang="en-GB" sz="1300" b="0" u="none" strike="noStrike">
              <a:solidFill>
                <a:srgbClr val="000000"/>
              </a:solidFill>
              <a:effectLst/>
              <a:uFillTx/>
              <a:latin typeface="Arial"/>
            </a:endParaRPr>
          </a:p>
        </p:txBody>
      </p:sp>
      <p:sp>
        <p:nvSpPr>
          <p:cNvPr id="106" name="Shape 12"/>
          <p:cNvSpPr/>
          <p:nvPr/>
        </p:nvSpPr>
        <p:spPr>
          <a:xfrm>
            <a:off x="2468880" y="2148840"/>
            <a:ext cx="365760" cy="360"/>
          </a:xfrm>
          <a:prstGeom prst="line">
            <a:avLst/>
          </a:prstGeom>
          <a:ln w="255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07" name="Shape 13"/>
          <p:cNvSpPr/>
          <p:nvPr/>
        </p:nvSpPr>
        <p:spPr>
          <a:xfrm>
            <a:off x="2834640" y="1920240"/>
            <a:ext cx="455040" cy="45504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08" name="Text 14"/>
          <p:cNvSpPr/>
          <p:nvPr/>
        </p:nvSpPr>
        <p:spPr>
          <a:xfrm>
            <a:off x="283464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D</a:t>
            </a:r>
            <a:endParaRPr lang="en-GB" sz="1300" b="0" u="none" strike="noStrike">
              <a:solidFill>
                <a:srgbClr val="000000"/>
              </a:solidFill>
              <a:effectLst/>
              <a:uFillTx/>
              <a:latin typeface="Arial"/>
            </a:endParaRPr>
          </a:p>
        </p:txBody>
      </p:sp>
      <p:sp>
        <p:nvSpPr>
          <p:cNvPr id="109" name="Shape 15"/>
          <p:cNvSpPr/>
          <p:nvPr/>
        </p:nvSpPr>
        <p:spPr>
          <a:xfrm>
            <a:off x="3291840" y="2148840"/>
            <a:ext cx="365760" cy="360"/>
          </a:xfrm>
          <a:prstGeom prst="line">
            <a:avLst/>
          </a:prstGeom>
          <a:ln w="255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10" name="Shape 16"/>
          <p:cNvSpPr/>
          <p:nvPr/>
        </p:nvSpPr>
        <p:spPr>
          <a:xfrm>
            <a:off x="3657600" y="1920240"/>
            <a:ext cx="455040" cy="455040"/>
          </a:xfrm>
          <a:prstGeom prst="ellipse">
            <a:avLst/>
          </a:prstGeom>
          <a:solidFill>
            <a:srgbClr val="F7931A"/>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1" name="Text 17"/>
          <p:cNvSpPr/>
          <p:nvPr/>
        </p:nvSpPr>
        <p:spPr>
          <a:xfrm>
            <a:off x="365760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E</a:t>
            </a:r>
            <a:endParaRPr lang="en-GB" sz="1300" b="0" u="none" strike="noStrike">
              <a:solidFill>
                <a:srgbClr val="000000"/>
              </a:solidFill>
              <a:effectLst/>
              <a:uFillTx/>
              <a:latin typeface="Arial"/>
            </a:endParaRPr>
          </a:p>
        </p:txBody>
      </p:sp>
      <p:sp>
        <p:nvSpPr>
          <p:cNvPr id="112" name="Text 18"/>
          <p:cNvSpPr/>
          <p:nvPr/>
        </p:nvSpPr>
        <p:spPr>
          <a:xfrm>
            <a:off x="365760" y="2468880"/>
            <a:ext cx="411264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5A6B8C"/>
                </a:solidFill>
                <a:effectLst/>
                <a:uFillTx/>
                <a:latin typeface="Calibri"/>
                <a:ea typeface="Calibri"/>
              </a:rPr>
              <a:t>each payment hops through B, C, D</a:t>
            </a:r>
            <a:endParaRPr lang="en-GB" sz="1000" b="0" u="none" strike="noStrike">
              <a:solidFill>
                <a:srgbClr val="000000"/>
              </a:solidFill>
              <a:effectLst/>
              <a:uFillTx/>
              <a:latin typeface="Arial"/>
            </a:endParaRPr>
          </a:p>
        </p:txBody>
      </p:sp>
      <p:pic>
        <p:nvPicPr>
          <p:cNvPr id="113" name="Image 0" descr="preencoded.png"/>
          <p:cNvPicPr/>
          <p:nvPr/>
        </p:nvPicPr>
        <p:blipFill>
          <a:blip r:embed="rId1"/>
          <a:stretch/>
        </p:blipFill>
        <p:spPr>
          <a:xfrm>
            <a:off x="4297680" y="1993320"/>
            <a:ext cx="455040" cy="317880"/>
          </a:xfrm>
          <a:prstGeom prst="rect">
            <a:avLst/>
          </a:prstGeom>
          <a:noFill/>
          <a:ln w="0">
            <a:noFill/>
          </a:ln>
        </p:spPr>
      </p:pic>
      <p:sp>
        <p:nvSpPr>
          <p:cNvPr id="114" name="Text 19"/>
          <p:cNvSpPr/>
          <p:nvPr/>
        </p:nvSpPr>
        <p:spPr>
          <a:xfrm>
            <a:off x="4846320" y="1325880"/>
            <a:ext cx="392976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7931A"/>
                </a:solidFill>
                <a:effectLst/>
                <a:uFillTx/>
                <a:latin typeface="Cambria"/>
                <a:ea typeface="Cambria"/>
              </a:rPr>
              <a:t>With a virtual channel</a:t>
            </a:r>
            <a:endParaRPr lang="en-GB" sz="1400" b="0" u="none" strike="noStrike">
              <a:solidFill>
                <a:srgbClr val="000000"/>
              </a:solidFill>
              <a:effectLst/>
              <a:uFillTx/>
              <a:latin typeface="Arial"/>
            </a:endParaRPr>
          </a:p>
        </p:txBody>
      </p:sp>
      <p:sp>
        <p:nvSpPr>
          <p:cNvPr id="115" name="Shape 20"/>
          <p:cNvSpPr/>
          <p:nvPr/>
        </p:nvSpPr>
        <p:spPr>
          <a:xfrm>
            <a:off x="4846320" y="1920240"/>
            <a:ext cx="455040" cy="455040"/>
          </a:xfrm>
          <a:prstGeom prst="ellipse">
            <a:avLst/>
          </a:prstGeom>
          <a:solidFill>
            <a:srgbClr val="F7931A"/>
          </a:solidFill>
          <a:ln w="12600">
            <a:solidFill>
              <a:srgbClr val="B0B8CC"/>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6" name="Text 21"/>
          <p:cNvSpPr/>
          <p:nvPr/>
        </p:nvSpPr>
        <p:spPr>
          <a:xfrm>
            <a:off x="484632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A</a:t>
            </a:r>
            <a:endParaRPr lang="en-GB" sz="1300" b="0" u="none" strike="noStrike">
              <a:solidFill>
                <a:srgbClr val="000000"/>
              </a:solidFill>
              <a:effectLst/>
              <a:uFillTx/>
              <a:latin typeface="Arial"/>
            </a:endParaRPr>
          </a:p>
        </p:txBody>
      </p:sp>
      <p:sp>
        <p:nvSpPr>
          <p:cNvPr id="117" name="Shape 22"/>
          <p:cNvSpPr/>
          <p:nvPr/>
        </p:nvSpPr>
        <p:spPr>
          <a:xfrm>
            <a:off x="5303520" y="2148840"/>
            <a:ext cx="365760" cy="360"/>
          </a:xfrm>
          <a:prstGeom prst="line">
            <a:avLst/>
          </a:prstGeom>
          <a:ln w="25560">
            <a:solidFill>
              <a:srgbClr val="B0B8CC"/>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18" name="Shape 23"/>
          <p:cNvSpPr/>
          <p:nvPr/>
        </p:nvSpPr>
        <p:spPr>
          <a:xfrm>
            <a:off x="5669280" y="1920240"/>
            <a:ext cx="455040" cy="455040"/>
          </a:xfrm>
          <a:prstGeom prst="ellipse">
            <a:avLst/>
          </a:prstGeom>
          <a:solidFill>
            <a:srgbClr val="B0B8CC"/>
          </a:solidFill>
          <a:ln w="12600">
            <a:solidFill>
              <a:srgbClr val="B0B8CC"/>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9" name="Text 24"/>
          <p:cNvSpPr/>
          <p:nvPr/>
        </p:nvSpPr>
        <p:spPr>
          <a:xfrm>
            <a:off x="566928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B</a:t>
            </a:r>
            <a:endParaRPr lang="en-GB" sz="1300" b="0" u="none" strike="noStrike">
              <a:solidFill>
                <a:srgbClr val="000000"/>
              </a:solidFill>
              <a:effectLst/>
              <a:uFillTx/>
              <a:latin typeface="Arial"/>
            </a:endParaRPr>
          </a:p>
        </p:txBody>
      </p:sp>
      <p:sp>
        <p:nvSpPr>
          <p:cNvPr id="120" name="Shape 25"/>
          <p:cNvSpPr/>
          <p:nvPr/>
        </p:nvSpPr>
        <p:spPr>
          <a:xfrm>
            <a:off x="6126480" y="2148840"/>
            <a:ext cx="365760" cy="360"/>
          </a:xfrm>
          <a:prstGeom prst="line">
            <a:avLst/>
          </a:prstGeom>
          <a:ln w="25560">
            <a:solidFill>
              <a:srgbClr val="B0B8CC"/>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21" name="Shape 26"/>
          <p:cNvSpPr/>
          <p:nvPr/>
        </p:nvSpPr>
        <p:spPr>
          <a:xfrm>
            <a:off x="6492240" y="1920240"/>
            <a:ext cx="455040" cy="455040"/>
          </a:xfrm>
          <a:prstGeom prst="ellipse">
            <a:avLst/>
          </a:prstGeom>
          <a:solidFill>
            <a:srgbClr val="B0B8CC"/>
          </a:solidFill>
          <a:ln w="12600">
            <a:solidFill>
              <a:srgbClr val="B0B8CC"/>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22" name="Text 27"/>
          <p:cNvSpPr/>
          <p:nvPr/>
        </p:nvSpPr>
        <p:spPr>
          <a:xfrm>
            <a:off x="649224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C</a:t>
            </a:r>
            <a:endParaRPr lang="en-GB" sz="1300" b="0" u="none" strike="noStrike">
              <a:solidFill>
                <a:srgbClr val="000000"/>
              </a:solidFill>
              <a:effectLst/>
              <a:uFillTx/>
              <a:latin typeface="Arial"/>
            </a:endParaRPr>
          </a:p>
        </p:txBody>
      </p:sp>
      <p:sp>
        <p:nvSpPr>
          <p:cNvPr id="123" name="Shape 28"/>
          <p:cNvSpPr/>
          <p:nvPr/>
        </p:nvSpPr>
        <p:spPr>
          <a:xfrm>
            <a:off x="6949440" y="2148840"/>
            <a:ext cx="365760" cy="360"/>
          </a:xfrm>
          <a:prstGeom prst="line">
            <a:avLst/>
          </a:prstGeom>
          <a:ln w="25560">
            <a:solidFill>
              <a:srgbClr val="B0B8CC"/>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24" name="Shape 29"/>
          <p:cNvSpPr/>
          <p:nvPr/>
        </p:nvSpPr>
        <p:spPr>
          <a:xfrm>
            <a:off x="7315200" y="1920240"/>
            <a:ext cx="455040" cy="455040"/>
          </a:xfrm>
          <a:prstGeom prst="ellipse">
            <a:avLst/>
          </a:prstGeom>
          <a:solidFill>
            <a:srgbClr val="B0B8CC"/>
          </a:solidFill>
          <a:ln w="12600">
            <a:solidFill>
              <a:srgbClr val="B0B8CC"/>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25" name="Text 30"/>
          <p:cNvSpPr/>
          <p:nvPr/>
        </p:nvSpPr>
        <p:spPr>
          <a:xfrm>
            <a:off x="731520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D</a:t>
            </a:r>
            <a:endParaRPr lang="en-GB" sz="1300" b="0" u="none" strike="noStrike">
              <a:solidFill>
                <a:srgbClr val="000000"/>
              </a:solidFill>
              <a:effectLst/>
              <a:uFillTx/>
              <a:latin typeface="Arial"/>
            </a:endParaRPr>
          </a:p>
        </p:txBody>
      </p:sp>
      <p:sp>
        <p:nvSpPr>
          <p:cNvPr id="126" name="Shape 31"/>
          <p:cNvSpPr/>
          <p:nvPr/>
        </p:nvSpPr>
        <p:spPr>
          <a:xfrm>
            <a:off x="7772400" y="2148840"/>
            <a:ext cx="365760" cy="360"/>
          </a:xfrm>
          <a:prstGeom prst="line">
            <a:avLst/>
          </a:prstGeom>
          <a:ln w="25560">
            <a:solidFill>
              <a:srgbClr val="B0B8CC"/>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27" name="Shape 32"/>
          <p:cNvSpPr/>
          <p:nvPr/>
        </p:nvSpPr>
        <p:spPr>
          <a:xfrm>
            <a:off x="8138160" y="1920240"/>
            <a:ext cx="455040" cy="455040"/>
          </a:xfrm>
          <a:prstGeom prst="ellipse">
            <a:avLst/>
          </a:prstGeom>
          <a:solidFill>
            <a:srgbClr val="F7931A"/>
          </a:solidFill>
          <a:ln w="12600">
            <a:solidFill>
              <a:srgbClr val="B0B8CC"/>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28" name="Text 33"/>
          <p:cNvSpPr/>
          <p:nvPr/>
        </p:nvSpPr>
        <p:spPr>
          <a:xfrm>
            <a:off x="8138160" y="1920240"/>
            <a:ext cx="455040" cy="45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E</a:t>
            </a:r>
            <a:endParaRPr lang="en-GB" sz="1300" b="0" u="none" strike="noStrike">
              <a:solidFill>
                <a:srgbClr val="000000"/>
              </a:solidFill>
              <a:effectLst/>
              <a:uFillTx/>
              <a:latin typeface="Arial"/>
            </a:endParaRPr>
          </a:p>
        </p:txBody>
      </p:sp>
      <p:sp>
        <p:nvSpPr>
          <p:cNvPr id="129" name="Shape 34"/>
          <p:cNvSpPr/>
          <p:nvPr/>
        </p:nvSpPr>
        <p:spPr>
          <a:xfrm>
            <a:off x="5074920" y="1896840"/>
            <a:ext cx="3291840" cy="360"/>
          </a:xfrm>
          <a:prstGeom prst="line">
            <a:avLst/>
          </a:prstGeom>
          <a:ln w="50760">
            <a:solidFill>
              <a:srgbClr val="F7931A"/>
            </a:solidFill>
            <a:prstDash val="dash"/>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30" name="Text 35"/>
          <p:cNvSpPr/>
          <p:nvPr/>
        </p:nvSpPr>
        <p:spPr>
          <a:xfrm>
            <a:off x="4846320" y="2468880"/>
            <a:ext cx="39297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F7931A"/>
                </a:solidFill>
                <a:effectLst/>
                <a:uFillTx/>
                <a:latin typeface="Calibri"/>
                <a:ea typeface="Calibri"/>
              </a:rPr>
              <a:t>direct A ⇄ E — no intermediaries per payment</a:t>
            </a:r>
            <a:endParaRPr lang="en-GB" sz="1000" b="0" u="none" strike="noStrike">
              <a:solidFill>
                <a:srgbClr val="000000"/>
              </a:solidFill>
              <a:effectLst/>
              <a:uFillTx/>
              <a:latin typeface="Arial"/>
            </a:endParaRPr>
          </a:p>
        </p:txBody>
      </p:sp>
      <p:sp>
        <p:nvSpPr>
          <p:cNvPr id="131" name="Shape 36"/>
          <p:cNvSpPr/>
          <p:nvPr/>
        </p:nvSpPr>
        <p:spPr>
          <a:xfrm>
            <a:off x="457200" y="3200400"/>
            <a:ext cx="2283840" cy="363600"/>
          </a:xfrm>
          <a:prstGeom prst="rect">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32" name="Text 37"/>
          <p:cNvSpPr/>
          <p:nvPr/>
        </p:nvSpPr>
        <p:spPr>
          <a:xfrm>
            <a:off x="548640" y="3200400"/>
            <a:ext cx="2100960" cy="363600"/>
          </a:xfrm>
          <a:prstGeom prst="rect">
            <a:avLst/>
          </a:prstGeom>
          <a:noFill/>
          <a:ln w="0">
            <a:noFill/>
          </a:ln>
        </p:spPr>
        <p:style>
          <a:lnRef idx="0"/>
          <a:fillRef idx="0"/>
          <a:effectRef idx="0"/>
          <a:fontRef idx="minor"/>
        </p:style>
        <p:txBody>
          <a:bodyPr lIns="0" tIns="0" rIns="0" bIns="0" anchor="ctr">
            <a:noAutofit/>
          </a:bodyPr>
          <a:p>
            <a:endParaRPr lang="en-US" sz="1200" b="0" u="none" strike="noStrike">
              <a:solidFill>
                <a:schemeClr val="dk1"/>
              </a:solidFill>
              <a:effectLst/>
              <a:uFillTx/>
              <a:latin typeface="Calibri"/>
            </a:endParaRPr>
          </a:p>
        </p:txBody>
      </p:sp>
      <p:sp>
        <p:nvSpPr>
          <p:cNvPr id="133" name="Shape 38"/>
          <p:cNvSpPr/>
          <p:nvPr/>
        </p:nvSpPr>
        <p:spPr>
          <a:xfrm>
            <a:off x="2743200" y="3200400"/>
            <a:ext cx="3198240" cy="363600"/>
          </a:xfrm>
          <a:prstGeom prst="rect">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34" name="Text 39"/>
          <p:cNvSpPr/>
          <p:nvPr/>
        </p:nvSpPr>
        <p:spPr>
          <a:xfrm>
            <a:off x="2834640" y="3200400"/>
            <a:ext cx="3015360" cy="36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mbria"/>
                <a:ea typeface="Cambria"/>
              </a:rPr>
              <a:t>PCN (Lightning)</a:t>
            </a:r>
            <a:endParaRPr lang="en-GB" sz="1200" b="0" u="none" strike="noStrike">
              <a:solidFill>
                <a:srgbClr val="000000"/>
              </a:solidFill>
              <a:effectLst/>
              <a:uFillTx/>
              <a:latin typeface="Arial"/>
            </a:endParaRPr>
          </a:p>
        </p:txBody>
      </p:sp>
      <p:sp>
        <p:nvSpPr>
          <p:cNvPr id="135" name="Shape 40"/>
          <p:cNvSpPr/>
          <p:nvPr/>
        </p:nvSpPr>
        <p:spPr>
          <a:xfrm>
            <a:off x="5943600" y="3200400"/>
            <a:ext cx="2741040" cy="363600"/>
          </a:xfrm>
          <a:prstGeom prst="rect">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36" name="Text 41"/>
          <p:cNvSpPr/>
          <p:nvPr/>
        </p:nvSpPr>
        <p:spPr>
          <a:xfrm>
            <a:off x="6035040" y="3200400"/>
            <a:ext cx="2558160" cy="36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mbria"/>
                <a:ea typeface="Cambria"/>
              </a:rPr>
              <a:t>Virtual channel</a:t>
            </a:r>
            <a:endParaRPr lang="en-GB" sz="1200" b="0" u="none" strike="noStrike">
              <a:solidFill>
                <a:srgbClr val="000000"/>
              </a:solidFill>
              <a:effectLst/>
              <a:uFillTx/>
              <a:latin typeface="Arial"/>
            </a:endParaRPr>
          </a:p>
        </p:txBody>
      </p:sp>
      <p:sp>
        <p:nvSpPr>
          <p:cNvPr id="137" name="Shape 42"/>
          <p:cNvSpPr/>
          <p:nvPr/>
        </p:nvSpPr>
        <p:spPr>
          <a:xfrm>
            <a:off x="457200" y="3566160"/>
            <a:ext cx="2283840" cy="38196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38" name="Text 43"/>
          <p:cNvSpPr/>
          <p:nvPr/>
        </p:nvSpPr>
        <p:spPr>
          <a:xfrm>
            <a:off x="548640" y="3566160"/>
            <a:ext cx="210096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Open / Close</a:t>
            </a:r>
            <a:endParaRPr lang="en-GB" sz="1100" b="0" u="none" strike="noStrike">
              <a:solidFill>
                <a:srgbClr val="000000"/>
              </a:solidFill>
              <a:effectLst/>
              <a:uFillTx/>
              <a:latin typeface="Arial"/>
            </a:endParaRPr>
          </a:p>
        </p:txBody>
      </p:sp>
      <p:sp>
        <p:nvSpPr>
          <p:cNvPr id="139" name="Shape 44"/>
          <p:cNvSpPr/>
          <p:nvPr/>
        </p:nvSpPr>
        <p:spPr>
          <a:xfrm>
            <a:off x="2743200" y="3566160"/>
            <a:ext cx="3198240" cy="38196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40" name="Text 45"/>
          <p:cNvSpPr/>
          <p:nvPr/>
        </p:nvSpPr>
        <p:spPr>
          <a:xfrm>
            <a:off x="2834640" y="3566160"/>
            <a:ext cx="301536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On-chain</a:t>
            </a:r>
            <a:endParaRPr lang="en-GB" sz="1100" b="0" u="none" strike="noStrike">
              <a:solidFill>
                <a:srgbClr val="000000"/>
              </a:solidFill>
              <a:effectLst/>
              <a:uFillTx/>
              <a:latin typeface="Arial"/>
            </a:endParaRPr>
          </a:p>
        </p:txBody>
      </p:sp>
      <p:sp>
        <p:nvSpPr>
          <p:cNvPr id="141" name="Shape 46"/>
          <p:cNvSpPr/>
          <p:nvPr/>
        </p:nvSpPr>
        <p:spPr>
          <a:xfrm>
            <a:off x="5943600" y="3566160"/>
            <a:ext cx="2741040" cy="38196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42" name="Text 47"/>
          <p:cNvSpPr/>
          <p:nvPr/>
        </p:nvSpPr>
        <p:spPr>
          <a:xfrm>
            <a:off x="6035040" y="3566160"/>
            <a:ext cx="255816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7931A"/>
                </a:solidFill>
                <a:effectLst/>
                <a:uFillTx/>
                <a:latin typeface="Calibri"/>
                <a:ea typeface="Calibri"/>
              </a:rPr>
              <a:t>Off-chain</a:t>
            </a:r>
            <a:endParaRPr lang="en-GB" sz="1100" b="0" u="none" strike="noStrike">
              <a:solidFill>
                <a:srgbClr val="000000"/>
              </a:solidFill>
              <a:effectLst/>
              <a:uFillTx/>
              <a:latin typeface="Arial"/>
            </a:endParaRPr>
          </a:p>
        </p:txBody>
      </p:sp>
      <p:sp>
        <p:nvSpPr>
          <p:cNvPr id="143" name="Shape 48"/>
          <p:cNvSpPr/>
          <p:nvPr/>
        </p:nvSpPr>
        <p:spPr>
          <a:xfrm>
            <a:off x="457200" y="3950280"/>
            <a:ext cx="2283840" cy="381960"/>
          </a:xfrm>
          <a:prstGeom prst="rect">
            <a:avLst/>
          </a:prstGeom>
          <a:solidFill>
            <a:srgbClr val="EEF1F8"/>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44" name="Text 49"/>
          <p:cNvSpPr/>
          <p:nvPr/>
        </p:nvSpPr>
        <p:spPr>
          <a:xfrm>
            <a:off x="548640" y="3950280"/>
            <a:ext cx="210096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Payment</a:t>
            </a:r>
            <a:endParaRPr lang="en-GB" sz="1100" b="0" u="none" strike="noStrike">
              <a:solidFill>
                <a:srgbClr val="000000"/>
              </a:solidFill>
              <a:effectLst/>
              <a:uFillTx/>
              <a:latin typeface="Arial"/>
            </a:endParaRPr>
          </a:p>
        </p:txBody>
      </p:sp>
      <p:sp>
        <p:nvSpPr>
          <p:cNvPr id="145" name="Shape 50"/>
          <p:cNvSpPr/>
          <p:nvPr/>
        </p:nvSpPr>
        <p:spPr>
          <a:xfrm>
            <a:off x="2743200" y="3950280"/>
            <a:ext cx="3198240" cy="381960"/>
          </a:xfrm>
          <a:prstGeom prst="rect">
            <a:avLst/>
          </a:prstGeom>
          <a:solidFill>
            <a:srgbClr val="EEF1F8"/>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46" name="Text 51"/>
          <p:cNvSpPr/>
          <p:nvPr/>
        </p:nvSpPr>
        <p:spPr>
          <a:xfrm>
            <a:off x="2834640" y="3950280"/>
            <a:ext cx="301536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Needs intermediaries</a:t>
            </a:r>
            <a:endParaRPr lang="en-GB" sz="1100" b="0" u="none" strike="noStrike">
              <a:solidFill>
                <a:srgbClr val="000000"/>
              </a:solidFill>
              <a:effectLst/>
              <a:uFillTx/>
              <a:latin typeface="Arial"/>
            </a:endParaRPr>
          </a:p>
        </p:txBody>
      </p:sp>
      <p:sp>
        <p:nvSpPr>
          <p:cNvPr id="147" name="Shape 52"/>
          <p:cNvSpPr/>
          <p:nvPr/>
        </p:nvSpPr>
        <p:spPr>
          <a:xfrm>
            <a:off x="5943600" y="3950280"/>
            <a:ext cx="2741040" cy="381960"/>
          </a:xfrm>
          <a:prstGeom prst="rect">
            <a:avLst/>
          </a:prstGeom>
          <a:solidFill>
            <a:srgbClr val="EEF1F8"/>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48" name="Text 53"/>
          <p:cNvSpPr/>
          <p:nvPr/>
        </p:nvSpPr>
        <p:spPr>
          <a:xfrm>
            <a:off x="6035040" y="3950280"/>
            <a:ext cx="255816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7931A"/>
                </a:solidFill>
                <a:effectLst/>
                <a:uFillTx/>
                <a:latin typeface="Calibri"/>
                <a:ea typeface="Calibri"/>
              </a:rPr>
              <a:t>No intermediaries</a:t>
            </a:r>
            <a:endParaRPr lang="en-GB" sz="1100" b="0" u="none" strike="noStrike">
              <a:solidFill>
                <a:srgbClr val="000000"/>
              </a:solidFill>
              <a:effectLst/>
              <a:uFillTx/>
              <a:latin typeface="Arial"/>
            </a:endParaRPr>
          </a:p>
        </p:txBody>
      </p:sp>
      <p:sp>
        <p:nvSpPr>
          <p:cNvPr id="149" name="Shape 54"/>
          <p:cNvSpPr/>
          <p:nvPr/>
        </p:nvSpPr>
        <p:spPr>
          <a:xfrm>
            <a:off x="457200" y="4334400"/>
            <a:ext cx="2283840" cy="38196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50" name="Text 55"/>
          <p:cNvSpPr/>
          <p:nvPr/>
        </p:nvSpPr>
        <p:spPr>
          <a:xfrm>
            <a:off x="548640" y="4334400"/>
            <a:ext cx="210096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Per-payment latency</a:t>
            </a:r>
            <a:endParaRPr lang="en-GB" sz="1100" b="0" u="none" strike="noStrike">
              <a:solidFill>
                <a:srgbClr val="000000"/>
              </a:solidFill>
              <a:effectLst/>
              <a:uFillTx/>
              <a:latin typeface="Arial"/>
            </a:endParaRPr>
          </a:p>
        </p:txBody>
      </p:sp>
      <p:sp>
        <p:nvSpPr>
          <p:cNvPr id="151" name="Shape 56"/>
          <p:cNvSpPr/>
          <p:nvPr/>
        </p:nvSpPr>
        <p:spPr>
          <a:xfrm>
            <a:off x="2743200" y="4334400"/>
            <a:ext cx="3198240" cy="38196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52" name="Text 57"/>
          <p:cNvSpPr/>
          <p:nvPr/>
        </p:nvSpPr>
        <p:spPr>
          <a:xfrm>
            <a:off x="2834640" y="4334400"/>
            <a:ext cx="301536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Multi-hop round trip</a:t>
            </a:r>
            <a:endParaRPr lang="en-GB" sz="1100" b="0" u="none" strike="noStrike">
              <a:solidFill>
                <a:srgbClr val="000000"/>
              </a:solidFill>
              <a:effectLst/>
              <a:uFillTx/>
              <a:latin typeface="Arial"/>
            </a:endParaRPr>
          </a:p>
        </p:txBody>
      </p:sp>
      <p:sp>
        <p:nvSpPr>
          <p:cNvPr id="153" name="Shape 58"/>
          <p:cNvSpPr/>
          <p:nvPr/>
        </p:nvSpPr>
        <p:spPr>
          <a:xfrm>
            <a:off x="5943600" y="4334400"/>
            <a:ext cx="2741040" cy="38196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54" name="Text 59"/>
          <p:cNvSpPr/>
          <p:nvPr/>
        </p:nvSpPr>
        <p:spPr>
          <a:xfrm>
            <a:off x="6035040" y="4334400"/>
            <a:ext cx="255816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7931A"/>
                </a:solidFill>
                <a:effectLst/>
                <a:uFillTx/>
                <a:latin typeface="Calibri"/>
                <a:ea typeface="Calibri"/>
              </a:rPr>
              <a:t>Direct (constant)</a:t>
            </a:r>
            <a:endParaRPr lang="en-GB" sz="1100" b="0" u="none" strike="noStrike">
              <a:solidFill>
                <a:srgbClr val="000000"/>
              </a:solidFill>
              <a:effectLst/>
              <a:uFillTx/>
              <a:latin typeface="Arial"/>
            </a:endParaRPr>
          </a:p>
        </p:txBody>
      </p:sp>
      <p:sp>
        <p:nvSpPr>
          <p:cNvPr id="155" name="Text 60"/>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156" name="Text 61"/>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4 / 14</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Three properties a good virtual channel needs</a:t>
            </a:r>
            <a:endParaRPr lang="en-GB" sz="2600" b="0" u="none" strike="noStrike">
              <a:solidFill>
                <a:srgbClr val="000000"/>
              </a:solidFill>
              <a:effectLst/>
              <a:uFillTx/>
              <a:latin typeface="Arial"/>
            </a:endParaRPr>
          </a:p>
        </p:txBody>
      </p:sp>
      <p:sp>
        <p:nvSpPr>
          <p:cNvPr id="158"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Recursive · Variadic · Symmetric</a:t>
            </a:r>
            <a:endParaRPr lang="en-GB" sz="1300" b="0" u="none" strike="noStrike">
              <a:solidFill>
                <a:srgbClr val="000000"/>
              </a:solidFill>
              <a:effectLst/>
              <a:uFillTx/>
              <a:latin typeface="Arial"/>
            </a:endParaRPr>
          </a:p>
        </p:txBody>
      </p:sp>
      <p:sp>
        <p:nvSpPr>
          <p:cNvPr id="159" name="Shape 3"/>
          <p:cNvSpPr/>
          <p:nvPr/>
        </p:nvSpPr>
        <p:spPr>
          <a:xfrm>
            <a:off x="365760" y="1371600"/>
            <a:ext cx="2695320" cy="2329560"/>
          </a:xfrm>
          <a:prstGeom prst="rect">
            <a:avLst/>
          </a:prstGeom>
          <a:solidFill>
            <a:srgbClr val="FFFFFF"/>
          </a:solidFill>
          <a:ln w="12600">
            <a:solidFill>
              <a:srgbClr val="D8DCE6"/>
            </a:solidFill>
            <a:round/>
          </a:ln>
          <a:effectLst>
            <a:outerShdw blurRad="101520" dir="5400000" dist="25560" rotWithShape="0">
              <a:srgbClr val="000000">
                <a:alpha val="7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60" name="Shape 4"/>
          <p:cNvSpPr/>
          <p:nvPr/>
        </p:nvSpPr>
        <p:spPr>
          <a:xfrm>
            <a:off x="365760" y="1371600"/>
            <a:ext cx="2695320" cy="70920"/>
          </a:xfrm>
          <a:prstGeom prst="rect">
            <a:avLst/>
          </a:prstGeom>
          <a:solidFill>
            <a:srgbClr val="F7931A"/>
          </a:solidFill>
          <a:ln w="12600">
            <a:solidFill>
              <a:srgbClr val="F7931A"/>
            </a:solidFill>
            <a:round/>
          </a:ln>
        </p:spPr>
        <p:style>
          <a:lnRef idx="0"/>
          <a:fillRef idx="0"/>
          <a:effectRef idx="0"/>
          <a:fontRef idx="minor"/>
        </p:style>
        <p:txBody>
          <a:bodyPr lIns="90000" tIns="28080" rIns="90000" bIns="28080" anchor="t">
            <a:noAutofit/>
          </a:bodyPr>
          <a:p>
            <a:endParaRPr lang="en-GB" sz="1800" b="0" u="none" strike="noStrike">
              <a:solidFill>
                <a:srgbClr val="000000"/>
              </a:solidFill>
              <a:effectLst/>
              <a:uFillTx/>
              <a:latin typeface="Arial"/>
            </a:endParaRPr>
          </a:p>
        </p:txBody>
      </p:sp>
      <p:pic>
        <p:nvPicPr>
          <p:cNvPr id="161" name="Image 0" descr="preencoded.png"/>
          <p:cNvPicPr/>
          <p:nvPr/>
        </p:nvPicPr>
        <p:blipFill>
          <a:blip r:embed="rId1"/>
          <a:stretch/>
        </p:blipFill>
        <p:spPr>
          <a:xfrm>
            <a:off x="594360" y="1600200"/>
            <a:ext cx="455040" cy="455040"/>
          </a:xfrm>
          <a:prstGeom prst="rect">
            <a:avLst/>
          </a:prstGeom>
          <a:noFill/>
          <a:ln w="0">
            <a:noFill/>
          </a:ln>
        </p:spPr>
      </p:pic>
      <p:sp>
        <p:nvSpPr>
          <p:cNvPr id="162" name="Text 5"/>
          <p:cNvSpPr/>
          <p:nvPr/>
        </p:nvSpPr>
        <p:spPr>
          <a:xfrm>
            <a:off x="1143000" y="1627560"/>
            <a:ext cx="187236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0F1B3D"/>
                </a:solidFill>
                <a:effectLst/>
                <a:uFillTx/>
                <a:latin typeface="Cambria"/>
                <a:ea typeface="Cambria"/>
              </a:rPr>
              <a:t>Recursive</a:t>
            </a:r>
            <a:endParaRPr lang="en-GB" sz="2200" b="0" u="none" strike="noStrike">
              <a:solidFill>
                <a:srgbClr val="000000"/>
              </a:solidFill>
              <a:effectLst/>
              <a:uFillTx/>
              <a:latin typeface="Arial"/>
            </a:endParaRPr>
          </a:p>
        </p:txBody>
      </p:sp>
      <p:sp>
        <p:nvSpPr>
          <p:cNvPr id="163" name="Text 6"/>
          <p:cNvSpPr/>
          <p:nvPr/>
        </p:nvSpPr>
        <p:spPr>
          <a:xfrm>
            <a:off x="548640" y="2194560"/>
            <a:ext cx="2375280" cy="63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0F1B3D"/>
                </a:solidFill>
                <a:effectLst/>
                <a:uFillTx/>
                <a:latin typeface="Calibri"/>
                <a:ea typeface="Calibri"/>
              </a:rPr>
              <a:t>Build a virtual channel on TOP of existing virtual channels.</a:t>
            </a:r>
            <a:endParaRPr lang="en-GB" sz="1200" b="0" u="none" strike="noStrike">
              <a:solidFill>
                <a:srgbClr val="000000"/>
              </a:solidFill>
              <a:effectLst/>
              <a:uFillTx/>
              <a:latin typeface="Arial"/>
            </a:endParaRPr>
          </a:p>
        </p:txBody>
      </p:sp>
      <p:sp>
        <p:nvSpPr>
          <p:cNvPr id="164" name="Text 7"/>
          <p:cNvSpPr/>
          <p:nvPr/>
        </p:nvSpPr>
        <p:spPr>
          <a:xfrm>
            <a:off x="548640" y="2907720"/>
            <a:ext cx="2375280" cy="77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5A6B8C"/>
                </a:solidFill>
                <a:effectLst/>
                <a:uFillTx/>
                <a:latin typeface="Calibri"/>
                <a:ea typeface="Calibri"/>
              </a:rPr>
              <a:t>Move coins between channels even if L1 congested. New channels on demand.</a:t>
            </a:r>
            <a:endParaRPr lang="en-GB" sz="1000" b="0" u="none" strike="noStrike">
              <a:solidFill>
                <a:srgbClr val="000000"/>
              </a:solidFill>
              <a:effectLst/>
              <a:uFillTx/>
              <a:latin typeface="Arial"/>
            </a:endParaRPr>
          </a:p>
        </p:txBody>
      </p:sp>
      <p:sp>
        <p:nvSpPr>
          <p:cNvPr id="165" name="Shape 8"/>
          <p:cNvSpPr/>
          <p:nvPr/>
        </p:nvSpPr>
        <p:spPr>
          <a:xfrm>
            <a:off x="3227760" y="1371600"/>
            <a:ext cx="2695320" cy="2329560"/>
          </a:xfrm>
          <a:prstGeom prst="rect">
            <a:avLst/>
          </a:prstGeom>
          <a:solidFill>
            <a:srgbClr val="FFFFFF"/>
          </a:solidFill>
          <a:ln w="12600">
            <a:solidFill>
              <a:srgbClr val="D8DCE6"/>
            </a:solidFill>
            <a:round/>
          </a:ln>
          <a:effectLst>
            <a:outerShdw blurRad="101520" dir="5400000" dist="25560" rotWithShape="0">
              <a:srgbClr val="000000">
                <a:alpha val="7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66" name="Shape 9"/>
          <p:cNvSpPr/>
          <p:nvPr/>
        </p:nvSpPr>
        <p:spPr>
          <a:xfrm>
            <a:off x="3227760" y="1371600"/>
            <a:ext cx="2695320" cy="70920"/>
          </a:xfrm>
          <a:prstGeom prst="rect">
            <a:avLst/>
          </a:prstGeom>
          <a:solidFill>
            <a:srgbClr val="F7931A"/>
          </a:solidFill>
          <a:ln w="12600">
            <a:solidFill>
              <a:srgbClr val="F7931A"/>
            </a:solidFill>
            <a:round/>
          </a:ln>
        </p:spPr>
        <p:style>
          <a:lnRef idx="0"/>
          <a:fillRef idx="0"/>
          <a:effectRef idx="0"/>
          <a:fontRef idx="minor"/>
        </p:style>
        <p:txBody>
          <a:bodyPr lIns="90000" tIns="28080" rIns="90000" bIns="28080" anchor="t">
            <a:noAutofit/>
          </a:bodyPr>
          <a:p>
            <a:endParaRPr lang="en-GB" sz="1800" b="0" u="none" strike="noStrike">
              <a:solidFill>
                <a:srgbClr val="000000"/>
              </a:solidFill>
              <a:effectLst/>
              <a:uFillTx/>
              <a:latin typeface="Arial"/>
            </a:endParaRPr>
          </a:p>
        </p:txBody>
      </p:sp>
      <p:pic>
        <p:nvPicPr>
          <p:cNvPr id="167" name="Image 1" descr="preencoded.png"/>
          <p:cNvPicPr/>
          <p:nvPr/>
        </p:nvPicPr>
        <p:blipFill>
          <a:blip r:embed="rId2"/>
          <a:stretch/>
        </p:blipFill>
        <p:spPr>
          <a:xfrm>
            <a:off x="3456360" y="1600200"/>
            <a:ext cx="455040" cy="455040"/>
          </a:xfrm>
          <a:prstGeom prst="rect">
            <a:avLst/>
          </a:prstGeom>
          <a:noFill/>
          <a:ln w="0">
            <a:noFill/>
          </a:ln>
        </p:spPr>
      </p:pic>
      <p:sp>
        <p:nvSpPr>
          <p:cNvPr id="168" name="Text 10"/>
          <p:cNvSpPr/>
          <p:nvPr/>
        </p:nvSpPr>
        <p:spPr>
          <a:xfrm>
            <a:off x="4005000" y="1627560"/>
            <a:ext cx="187236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0F1B3D"/>
                </a:solidFill>
                <a:effectLst/>
                <a:uFillTx/>
                <a:latin typeface="Cambria"/>
                <a:ea typeface="Cambria"/>
              </a:rPr>
              <a:t>Variadic</a:t>
            </a:r>
            <a:endParaRPr lang="en-GB" sz="2200" b="0" u="none" strike="noStrike">
              <a:solidFill>
                <a:srgbClr val="000000"/>
              </a:solidFill>
              <a:effectLst/>
              <a:uFillTx/>
              <a:latin typeface="Arial"/>
            </a:endParaRPr>
          </a:p>
        </p:txBody>
      </p:sp>
      <p:sp>
        <p:nvSpPr>
          <p:cNvPr id="169" name="Text 11"/>
          <p:cNvSpPr/>
          <p:nvPr/>
        </p:nvSpPr>
        <p:spPr>
          <a:xfrm>
            <a:off x="3410640" y="2194560"/>
            <a:ext cx="2375280" cy="63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0F1B3D"/>
                </a:solidFill>
                <a:effectLst/>
                <a:uFillTx/>
                <a:latin typeface="Calibri"/>
                <a:ea typeface="Calibri"/>
              </a:rPr>
              <a:t>Open directly over ANY number of base channels in one setup.</a:t>
            </a:r>
            <a:endParaRPr lang="en-GB" sz="1200" b="0" u="none" strike="noStrike">
              <a:solidFill>
                <a:srgbClr val="000000"/>
              </a:solidFill>
              <a:effectLst/>
              <a:uFillTx/>
              <a:latin typeface="Arial"/>
            </a:endParaRPr>
          </a:p>
        </p:txBody>
      </p:sp>
      <p:sp>
        <p:nvSpPr>
          <p:cNvPr id="170" name="Text 12"/>
          <p:cNvSpPr/>
          <p:nvPr/>
        </p:nvSpPr>
        <p:spPr>
          <a:xfrm>
            <a:off x="3410640" y="2907720"/>
            <a:ext cx="2375280" cy="77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5A6B8C"/>
                </a:solidFill>
                <a:effectLst/>
                <a:uFillTx/>
                <a:latin typeface="Calibri"/>
                <a:ea typeface="Calibri"/>
              </a:rPr>
              <a:t>No need to compose binary virtuals — keeps costs low and symmetric.</a:t>
            </a:r>
            <a:endParaRPr lang="en-GB" sz="1000" b="0" u="none" strike="noStrike">
              <a:solidFill>
                <a:srgbClr val="000000"/>
              </a:solidFill>
              <a:effectLst/>
              <a:uFillTx/>
              <a:latin typeface="Arial"/>
            </a:endParaRPr>
          </a:p>
        </p:txBody>
      </p:sp>
      <p:sp>
        <p:nvSpPr>
          <p:cNvPr id="171" name="Shape 13"/>
          <p:cNvSpPr/>
          <p:nvPr/>
        </p:nvSpPr>
        <p:spPr>
          <a:xfrm>
            <a:off x="6089760" y="1371600"/>
            <a:ext cx="2695320" cy="2329560"/>
          </a:xfrm>
          <a:prstGeom prst="rect">
            <a:avLst/>
          </a:prstGeom>
          <a:solidFill>
            <a:srgbClr val="FFFFFF"/>
          </a:solidFill>
          <a:ln w="12600">
            <a:solidFill>
              <a:srgbClr val="D8DCE6"/>
            </a:solidFill>
            <a:round/>
          </a:ln>
          <a:effectLst>
            <a:outerShdw blurRad="101520" dir="5400000" dist="25560" rotWithShape="0">
              <a:srgbClr val="000000">
                <a:alpha val="7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72" name="Shape 14"/>
          <p:cNvSpPr/>
          <p:nvPr/>
        </p:nvSpPr>
        <p:spPr>
          <a:xfrm>
            <a:off x="6089760" y="1371600"/>
            <a:ext cx="2695320" cy="70920"/>
          </a:xfrm>
          <a:prstGeom prst="rect">
            <a:avLst/>
          </a:prstGeom>
          <a:solidFill>
            <a:srgbClr val="F7931A"/>
          </a:solidFill>
          <a:ln w="12600">
            <a:solidFill>
              <a:srgbClr val="F7931A"/>
            </a:solidFill>
            <a:round/>
          </a:ln>
        </p:spPr>
        <p:style>
          <a:lnRef idx="0"/>
          <a:fillRef idx="0"/>
          <a:effectRef idx="0"/>
          <a:fontRef idx="minor"/>
        </p:style>
        <p:txBody>
          <a:bodyPr lIns="90000" tIns="28080" rIns="90000" bIns="28080" anchor="t">
            <a:noAutofit/>
          </a:bodyPr>
          <a:p>
            <a:endParaRPr lang="en-GB" sz="1800" b="0" u="none" strike="noStrike">
              <a:solidFill>
                <a:srgbClr val="000000"/>
              </a:solidFill>
              <a:effectLst/>
              <a:uFillTx/>
              <a:latin typeface="Arial"/>
            </a:endParaRPr>
          </a:p>
        </p:txBody>
      </p:sp>
      <p:pic>
        <p:nvPicPr>
          <p:cNvPr id="173" name="Image 2" descr="preencoded.png"/>
          <p:cNvPicPr/>
          <p:nvPr/>
        </p:nvPicPr>
        <p:blipFill>
          <a:blip r:embed="rId3"/>
          <a:stretch/>
        </p:blipFill>
        <p:spPr>
          <a:xfrm>
            <a:off x="6318360" y="1600200"/>
            <a:ext cx="455040" cy="455040"/>
          </a:xfrm>
          <a:prstGeom prst="rect">
            <a:avLst/>
          </a:prstGeom>
          <a:noFill/>
          <a:ln w="0">
            <a:noFill/>
          </a:ln>
        </p:spPr>
      </p:pic>
      <p:sp>
        <p:nvSpPr>
          <p:cNvPr id="174" name="Text 15"/>
          <p:cNvSpPr/>
          <p:nvPr/>
        </p:nvSpPr>
        <p:spPr>
          <a:xfrm>
            <a:off x="6867000" y="1627560"/>
            <a:ext cx="187236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0F1B3D"/>
                </a:solidFill>
                <a:effectLst/>
                <a:uFillTx/>
                <a:latin typeface="Cambria"/>
                <a:ea typeface="Cambria"/>
              </a:rPr>
              <a:t>Symmetric</a:t>
            </a:r>
            <a:endParaRPr lang="en-GB" sz="2200" b="0" u="none" strike="noStrike">
              <a:solidFill>
                <a:srgbClr val="000000"/>
              </a:solidFill>
              <a:effectLst/>
              <a:uFillTx/>
              <a:latin typeface="Arial"/>
            </a:endParaRPr>
          </a:p>
        </p:txBody>
      </p:sp>
      <p:sp>
        <p:nvSpPr>
          <p:cNvPr id="175" name="Text 16"/>
          <p:cNvSpPr/>
          <p:nvPr/>
        </p:nvSpPr>
        <p:spPr>
          <a:xfrm>
            <a:off x="6272640" y="2194560"/>
            <a:ext cx="2375280" cy="63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0F1B3D"/>
                </a:solidFill>
                <a:effectLst/>
                <a:uFillTx/>
                <a:latin typeface="Calibri"/>
                <a:ea typeface="Calibri"/>
              </a:rPr>
              <a:t>Equitable cost &amp; delay.</a:t>
            </a:r>
            <a:endParaRPr lang="en-GB" sz="1200" b="0" u="none" strike="noStrike">
              <a:solidFill>
                <a:srgbClr val="000000"/>
              </a:solidFill>
              <a:effectLst/>
              <a:uFillTx/>
              <a:latin typeface="Arial"/>
            </a:endParaRPr>
          </a:p>
        </p:txBody>
      </p:sp>
      <p:sp>
        <p:nvSpPr>
          <p:cNvPr id="176" name="Text 17"/>
          <p:cNvSpPr/>
          <p:nvPr/>
        </p:nvSpPr>
        <p:spPr>
          <a:xfrm>
            <a:off x="6272640" y="2907720"/>
            <a:ext cx="2375280" cy="77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5A6B8C"/>
                </a:solidFill>
                <a:effectLst/>
                <a:uFillTx/>
                <a:latin typeface="Calibri"/>
                <a:ea typeface="Calibri"/>
              </a:rPr>
              <a:t>No party is worse-off after the operation. Clean incentives.</a:t>
            </a:r>
            <a:endParaRPr lang="en-GB" sz="1000" b="0" u="none" strike="noStrike">
              <a:solidFill>
                <a:srgbClr val="000000"/>
              </a:solidFill>
              <a:effectLst/>
              <a:uFillTx/>
              <a:latin typeface="Arial"/>
            </a:endParaRPr>
          </a:p>
        </p:txBody>
      </p:sp>
      <p:sp>
        <p:nvSpPr>
          <p:cNvPr id="177" name="Text 18"/>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178" name="Text 19"/>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5 / 14</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9"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Concrete scenario: Alice, Dave, and Eve</a:t>
            </a:r>
            <a:endParaRPr lang="en-GB" sz="2600" b="0" u="none" strike="noStrike">
              <a:solidFill>
                <a:srgbClr val="000000"/>
              </a:solidFill>
              <a:effectLst/>
              <a:uFillTx/>
              <a:latin typeface="Arial"/>
            </a:endParaRPr>
          </a:p>
        </p:txBody>
      </p:sp>
      <p:sp>
        <p:nvSpPr>
          <p:cNvPr id="180"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Variadic open + recursive top-up — no on-chain moves, no extra liveness</a:t>
            </a:r>
            <a:endParaRPr lang="en-GB" sz="1300" b="0" u="none" strike="noStrike">
              <a:solidFill>
                <a:srgbClr val="000000"/>
              </a:solidFill>
              <a:effectLst/>
              <a:uFillTx/>
              <a:latin typeface="Arial"/>
            </a:endParaRPr>
          </a:p>
        </p:txBody>
      </p:sp>
      <p:sp>
        <p:nvSpPr>
          <p:cNvPr id="181" name="Text 3"/>
          <p:cNvSpPr/>
          <p:nvPr/>
        </p:nvSpPr>
        <p:spPr>
          <a:xfrm>
            <a:off x="277200" y="1325880"/>
            <a:ext cx="402120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A6B8C"/>
                </a:solidFill>
                <a:effectLst/>
                <a:uFillTx/>
                <a:latin typeface="Cambria"/>
                <a:ea typeface="Cambria"/>
              </a:rPr>
              <a:t>Step 1 — variadic</a:t>
            </a:r>
            <a:endParaRPr lang="en-GB" sz="1200" b="0" u="none" strike="noStrike">
              <a:solidFill>
                <a:srgbClr val="000000"/>
              </a:solidFill>
              <a:effectLst/>
              <a:uFillTx/>
              <a:latin typeface="Arial"/>
            </a:endParaRPr>
          </a:p>
        </p:txBody>
      </p:sp>
      <p:sp>
        <p:nvSpPr>
          <p:cNvPr id="182" name="Shape 4"/>
          <p:cNvSpPr/>
          <p:nvPr/>
        </p:nvSpPr>
        <p:spPr>
          <a:xfrm>
            <a:off x="277200" y="1783080"/>
            <a:ext cx="546480" cy="546480"/>
          </a:xfrm>
          <a:prstGeom prst="ellipse">
            <a:avLst/>
          </a:prstGeom>
          <a:solidFill>
            <a:srgbClr val="00A933"/>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83" name="Text 5"/>
          <p:cNvSpPr/>
          <p:nvPr/>
        </p:nvSpPr>
        <p:spPr>
          <a:xfrm>
            <a:off x="277200" y="1783080"/>
            <a:ext cx="546480" cy="54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A</a:t>
            </a:r>
            <a:endParaRPr lang="en-GB" sz="1600" b="0" u="none" strike="noStrike">
              <a:solidFill>
                <a:srgbClr val="000000"/>
              </a:solidFill>
              <a:effectLst/>
              <a:uFillTx/>
              <a:latin typeface="Arial"/>
            </a:endParaRPr>
          </a:p>
        </p:txBody>
      </p:sp>
      <p:sp>
        <p:nvSpPr>
          <p:cNvPr id="184" name="Shape 6"/>
          <p:cNvSpPr/>
          <p:nvPr/>
        </p:nvSpPr>
        <p:spPr>
          <a:xfrm>
            <a:off x="825840" y="2057400"/>
            <a:ext cx="411480" cy="360"/>
          </a:xfrm>
          <a:prstGeom prst="line">
            <a:avLst/>
          </a:prstGeom>
          <a:ln w="255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85" name="Shape 7"/>
          <p:cNvSpPr/>
          <p:nvPr/>
        </p:nvSpPr>
        <p:spPr>
          <a:xfrm>
            <a:off x="1237320" y="1783080"/>
            <a:ext cx="546480" cy="54648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86" name="Text 8"/>
          <p:cNvSpPr/>
          <p:nvPr/>
        </p:nvSpPr>
        <p:spPr>
          <a:xfrm>
            <a:off x="1237320" y="1783080"/>
            <a:ext cx="546480" cy="54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B</a:t>
            </a:r>
            <a:endParaRPr lang="en-GB" sz="1600" b="0" u="none" strike="noStrike">
              <a:solidFill>
                <a:srgbClr val="000000"/>
              </a:solidFill>
              <a:effectLst/>
              <a:uFillTx/>
              <a:latin typeface="Arial"/>
            </a:endParaRPr>
          </a:p>
        </p:txBody>
      </p:sp>
      <p:sp>
        <p:nvSpPr>
          <p:cNvPr id="187" name="Shape 9"/>
          <p:cNvSpPr/>
          <p:nvPr/>
        </p:nvSpPr>
        <p:spPr>
          <a:xfrm>
            <a:off x="1785960" y="2057400"/>
            <a:ext cx="411480" cy="360"/>
          </a:xfrm>
          <a:prstGeom prst="line">
            <a:avLst/>
          </a:prstGeom>
          <a:ln w="255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88" name="Shape 10"/>
          <p:cNvSpPr/>
          <p:nvPr/>
        </p:nvSpPr>
        <p:spPr>
          <a:xfrm>
            <a:off x="2197440" y="1783080"/>
            <a:ext cx="546480" cy="546480"/>
          </a:xfrm>
          <a:prstGeom prst="ellipse">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89" name="Text 11"/>
          <p:cNvSpPr/>
          <p:nvPr/>
        </p:nvSpPr>
        <p:spPr>
          <a:xfrm>
            <a:off x="2197440" y="1783080"/>
            <a:ext cx="546480" cy="54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C</a:t>
            </a:r>
            <a:endParaRPr lang="en-GB" sz="1600" b="0" u="none" strike="noStrike">
              <a:solidFill>
                <a:srgbClr val="000000"/>
              </a:solidFill>
              <a:effectLst/>
              <a:uFillTx/>
              <a:latin typeface="Arial"/>
            </a:endParaRPr>
          </a:p>
        </p:txBody>
      </p:sp>
      <p:sp>
        <p:nvSpPr>
          <p:cNvPr id="190" name="Shape 12"/>
          <p:cNvSpPr/>
          <p:nvPr/>
        </p:nvSpPr>
        <p:spPr>
          <a:xfrm>
            <a:off x="2746080" y="2057400"/>
            <a:ext cx="411480" cy="360"/>
          </a:xfrm>
          <a:prstGeom prst="line">
            <a:avLst/>
          </a:prstGeom>
          <a:ln w="255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91" name="Shape 13"/>
          <p:cNvSpPr/>
          <p:nvPr/>
        </p:nvSpPr>
        <p:spPr>
          <a:xfrm>
            <a:off x="3157560" y="1783080"/>
            <a:ext cx="546480" cy="546480"/>
          </a:xfrm>
          <a:prstGeom prst="ellipse">
            <a:avLst/>
          </a:prstGeom>
          <a:solidFill>
            <a:srgbClr val="00A933"/>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92" name="Text 14"/>
          <p:cNvSpPr/>
          <p:nvPr/>
        </p:nvSpPr>
        <p:spPr>
          <a:xfrm>
            <a:off x="3157560" y="1783080"/>
            <a:ext cx="546480" cy="54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D</a:t>
            </a:r>
            <a:endParaRPr lang="en-GB" sz="1600" b="0" u="none" strike="noStrike">
              <a:solidFill>
                <a:srgbClr val="000000"/>
              </a:solidFill>
              <a:effectLst/>
              <a:uFillTx/>
              <a:latin typeface="Arial"/>
            </a:endParaRPr>
          </a:p>
        </p:txBody>
      </p:sp>
      <p:sp>
        <p:nvSpPr>
          <p:cNvPr id="193" name="Shape 15"/>
          <p:cNvSpPr/>
          <p:nvPr/>
        </p:nvSpPr>
        <p:spPr>
          <a:xfrm>
            <a:off x="659520" y="1828800"/>
            <a:ext cx="2688480" cy="360"/>
          </a:xfrm>
          <a:prstGeom prst="line">
            <a:avLst/>
          </a:prstGeom>
          <a:ln w="38160">
            <a:solidFill>
              <a:srgbClr val="F7931A"/>
            </a:solidFill>
            <a:prstDash val="dash"/>
            <a:round/>
            <a:headEnd len="med" type="triangle" w="me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94" name="Text 16"/>
          <p:cNvSpPr/>
          <p:nvPr/>
        </p:nvSpPr>
        <p:spPr>
          <a:xfrm>
            <a:off x="277200" y="1417320"/>
            <a:ext cx="402120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i="1" u="none" strike="noStrike">
                <a:solidFill>
                  <a:srgbClr val="F7931A"/>
                </a:solidFill>
                <a:effectLst/>
                <a:uFillTx/>
                <a:latin typeface="Calibri"/>
                <a:ea typeface="Calibri"/>
              </a:rPr>
              <a:t>virtual A ⇄ D  (over 3 base channels)</a:t>
            </a:r>
            <a:endParaRPr lang="en-GB" sz="1000" b="0" u="none" strike="noStrike">
              <a:solidFill>
                <a:srgbClr val="000000"/>
              </a:solidFill>
              <a:effectLst/>
              <a:uFillTx/>
              <a:latin typeface="Arial"/>
            </a:endParaRPr>
          </a:p>
        </p:txBody>
      </p:sp>
      <p:sp>
        <p:nvSpPr>
          <p:cNvPr id="195" name="Text 17"/>
          <p:cNvSpPr/>
          <p:nvPr/>
        </p:nvSpPr>
        <p:spPr>
          <a:xfrm>
            <a:off x="277200" y="2651760"/>
            <a:ext cx="4221000" cy="63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 One off-chain setup opens a direct A ⇄ D channel on top of A–B–C–D.</a:t>
            </a:r>
            <a:endParaRPr lang="en-GB" sz="1100" b="0" u="none" strike="noStrike">
              <a:solidFill>
                <a:srgbClr val="000000"/>
              </a:solidFill>
              <a:effectLst/>
              <a:uFillTx/>
              <a:latin typeface="Arial"/>
            </a:endParaRPr>
          </a:p>
        </p:txBody>
      </p:sp>
      <p:sp>
        <p:nvSpPr>
          <p:cNvPr id="196" name="Text 18"/>
          <p:cNvSpPr/>
          <p:nvPr/>
        </p:nvSpPr>
        <p:spPr>
          <a:xfrm>
            <a:off x="5006880" y="1325880"/>
            <a:ext cx="402120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7931A"/>
                </a:solidFill>
                <a:effectLst/>
                <a:uFillTx/>
                <a:latin typeface="Cambria"/>
                <a:ea typeface="Cambria"/>
              </a:rPr>
              <a:t>Step 2 — recursive</a:t>
            </a:r>
            <a:endParaRPr lang="en-GB" sz="1200" b="0" u="none" strike="noStrike">
              <a:solidFill>
                <a:srgbClr val="000000"/>
              </a:solidFill>
              <a:effectLst/>
              <a:uFillTx/>
              <a:latin typeface="Arial"/>
            </a:endParaRPr>
          </a:p>
        </p:txBody>
      </p:sp>
      <p:sp>
        <p:nvSpPr>
          <p:cNvPr id="197" name="Shape 19"/>
          <p:cNvSpPr/>
          <p:nvPr/>
        </p:nvSpPr>
        <p:spPr>
          <a:xfrm>
            <a:off x="5006880" y="1783080"/>
            <a:ext cx="546480" cy="546480"/>
          </a:xfrm>
          <a:prstGeom prst="ellipse">
            <a:avLst/>
          </a:prstGeom>
          <a:solidFill>
            <a:srgbClr val="00A933"/>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98" name="Text 20"/>
          <p:cNvSpPr/>
          <p:nvPr/>
        </p:nvSpPr>
        <p:spPr>
          <a:xfrm>
            <a:off x="5006880" y="1783080"/>
            <a:ext cx="546480" cy="54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A</a:t>
            </a:r>
            <a:endParaRPr lang="en-GB" sz="1600" b="0" u="none" strike="noStrike">
              <a:solidFill>
                <a:srgbClr val="000000"/>
              </a:solidFill>
              <a:effectLst/>
              <a:uFillTx/>
              <a:latin typeface="Arial"/>
            </a:endParaRPr>
          </a:p>
        </p:txBody>
      </p:sp>
      <p:sp>
        <p:nvSpPr>
          <p:cNvPr id="199" name="Shape 21"/>
          <p:cNvSpPr/>
          <p:nvPr/>
        </p:nvSpPr>
        <p:spPr>
          <a:xfrm>
            <a:off x="6652800" y="1783080"/>
            <a:ext cx="546480" cy="546480"/>
          </a:xfrm>
          <a:prstGeom prst="ellipse">
            <a:avLst/>
          </a:prstGeom>
          <a:solidFill>
            <a:srgbClr val="00A933"/>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00" name="Text 22"/>
          <p:cNvSpPr/>
          <p:nvPr/>
        </p:nvSpPr>
        <p:spPr>
          <a:xfrm>
            <a:off x="6652800" y="1783080"/>
            <a:ext cx="546480" cy="54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D</a:t>
            </a:r>
            <a:endParaRPr lang="en-GB" sz="1600" b="0" u="none" strike="noStrike">
              <a:solidFill>
                <a:srgbClr val="000000"/>
              </a:solidFill>
              <a:effectLst/>
              <a:uFillTx/>
              <a:latin typeface="Arial"/>
            </a:endParaRPr>
          </a:p>
        </p:txBody>
      </p:sp>
      <p:sp>
        <p:nvSpPr>
          <p:cNvPr id="201" name="Shape 23"/>
          <p:cNvSpPr/>
          <p:nvPr/>
        </p:nvSpPr>
        <p:spPr>
          <a:xfrm>
            <a:off x="8298720" y="1783080"/>
            <a:ext cx="546480" cy="546480"/>
          </a:xfrm>
          <a:prstGeom prst="ellipse">
            <a:avLst/>
          </a:prstGeom>
          <a:solidFill>
            <a:srgbClr val="F7931A"/>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02" name="Text 24"/>
          <p:cNvSpPr/>
          <p:nvPr/>
        </p:nvSpPr>
        <p:spPr>
          <a:xfrm>
            <a:off x="8298720" y="1783080"/>
            <a:ext cx="546480" cy="54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E</a:t>
            </a:r>
            <a:endParaRPr lang="en-GB" sz="1600" b="0" u="none" strike="noStrike">
              <a:solidFill>
                <a:srgbClr val="000000"/>
              </a:solidFill>
              <a:effectLst/>
              <a:uFillTx/>
              <a:latin typeface="Arial"/>
            </a:endParaRPr>
          </a:p>
        </p:txBody>
      </p:sp>
      <p:sp>
        <p:nvSpPr>
          <p:cNvPr id="203" name="Shape 25"/>
          <p:cNvSpPr/>
          <p:nvPr/>
        </p:nvSpPr>
        <p:spPr>
          <a:xfrm>
            <a:off x="5555520" y="2057400"/>
            <a:ext cx="1097280" cy="360"/>
          </a:xfrm>
          <a:prstGeom prst="line">
            <a:avLst/>
          </a:prstGeom>
          <a:ln w="25560">
            <a:solidFill>
              <a:srgbClr val="F7931A"/>
            </a:solidFill>
            <a:prstDash val="dash"/>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204" name="Text 26"/>
          <p:cNvSpPr/>
          <p:nvPr/>
        </p:nvSpPr>
        <p:spPr>
          <a:xfrm>
            <a:off x="5281200" y="2377440"/>
            <a:ext cx="1643760" cy="226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i="1" u="none" strike="noStrike">
                <a:solidFill>
                  <a:srgbClr val="F7931A"/>
                </a:solidFill>
                <a:effectLst/>
                <a:uFillTx/>
                <a:latin typeface="Calibri"/>
                <a:ea typeface="Calibri"/>
              </a:rPr>
              <a:t>virtual A ⇄ D</a:t>
            </a:r>
            <a:endParaRPr lang="en-GB" sz="800" b="0" u="none" strike="noStrike">
              <a:solidFill>
                <a:srgbClr val="000000"/>
              </a:solidFill>
              <a:effectLst/>
              <a:uFillTx/>
              <a:latin typeface="Arial"/>
            </a:endParaRPr>
          </a:p>
        </p:txBody>
      </p:sp>
      <p:sp>
        <p:nvSpPr>
          <p:cNvPr id="205" name="Shape 27"/>
          <p:cNvSpPr/>
          <p:nvPr/>
        </p:nvSpPr>
        <p:spPr>
          <a:xfrm>
            <a:off x="7201440" y="2057400"/>
            <a:ext cx="1097280" cy="360"/>
          </a:xfrm>
          <a:prstGeom prst="line">
            <a:avLst/>
          </a:prstGeom>
          <a:ln w="255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206" name="Text 28"/>
          <p:cNvSpPr/>
          <p:nvPr/>
        </p:nvSpPr>
        <p:spPr>
          <a:xfrm>
            <a:off x="6927120" y="2377440"/>
            <a:ext cx="1643760" cy="226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i="1" u="none" strike="noStrike">
                <a:solidFill>
                  <a:srgbClr val="5A6B8C"/>
                </a:solidFill>
                <a:effectLst/>
                <a:uFillTx/>
                <a:latin typeface="Calibri"/>
                <a:ea typeface="Calibri"/>
              </a:rPr>
              <a:t>base D—E</a:t>
            </a:r>
            <a:endParaRPr lang="en-GB" sz="800" b="0" u="none" strike="noStrike">
              <a:solidFill>
                <a:srgbClr val="000000"/>
              </a:solidFill>
              <a:effectLst/>
              <a:uFillTx/>
              <a:latin typeface="Arial"/>
            </a:endParaRPr>
          </a:p>
        </p:txBody>
      </p:sp>
      <p:sp>
        <p:nvSpPr>
          <p:cNvPr id="207" name="Shape 29"/>
          <p:cNvSpPr/>
          <p:nvPr/>
        </p:nvSpPr>
        <p:spPr>
          <a:xfrm>
            <a:off x="5281200" y="1737360"/>
            <a:ext cx="3291840" cy="360"/>
          </a:xfrm>
          <a:prstGeom prst="line">
            <a:avLst/>
          </a:prstGeom>
          <a:ln w="38160">
            <a:solidFill>
              <a:srgbClr val="5E72E4"/>
            </a:solidFill>
            <a:prstDash val="dash"/>
            <a:round/>
            <a:headEnd len="med" type="triangle" w="me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208" name="Text 30"/>
          <p:cNvSpPr/>
          <p:nvPr/>
        </p:nvSpPr>
        <p:spPr>
          <a:xfrm>
            <a:off x="5006880" y="1417320"/>
            <a:ext cx="402120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i="1" u="none" strike="noStrike">
                <a:solidFill>
                  <a:srgbClr val="5E72E4"/>
                </a:solidFill>
                <a:effectLst/>
                <a:uFillTx/>
                <a:latin typeface="Calibri"/>
                <a:ea typeface="Calibri"/>
              </a:rPr>
              <a:t>new virtual A ⇄ E</a:t>
            </a:r>
            <a:endParaRPr lang="en-GB" sz="1000" b="0" u="none" strike="noStrike">
              <a:solidFill>
                <a:srgbClr val="000000"/>
              </a:solidFill>
              <a:effectLst/>
              <a:uFillTx/>
              <a:latin typeface="Arial"/>
            </a:endParaRPr>
          </a:p>
        </p:txBody>
      </p:sp>
      <p:sp>
        <p:nvSpPr>
          <p:cNvPr id="209" name="Text 31"/>
          <p:cNvSpPr/>
          <p:nvPr/>
        </p:nvSpPr>
        <p:spPr>
          <a:xfrm>
            <a:off x="5006880" y="2651760"/>
            <a:ext cx="4021200" cy="63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 Alice splits half her coins into a new virtual with Eve — built on top of her existing A⇄D virtual.</a:t>
            </a:r>
            <a:endParaRPr lang="en-GB" sz="1100" b="0" u="none" strike="noStrike">
              <a:solidFill>
                <a:srgbClr val="000000"/>
              </a:solidFill>
              <a:effectLst/>
              <a:uFillTx/>
              <a:latin typeface="Arial"/>
            </a:endParaRPr>
          </a:p>
        </p:txBody>
      </p:sp>
      <p:sp>
        <p:nvSpPr>
          <p:cNvPr id="210" name="Shape 32"/>
          <p:cNvSpPr/>
          <p:nvPr/>
        </p:nvSpPr>
        <p:spPr>
          <a:xfrm>
            <a:off x="365760" y="4160520"/>
            <a:ext cx="8410320" cy="637920"/>
          </a:xfrm>
          <a:prstGeom prst="rect">
            <a:avLst/>
          </a:prstGeom>
          <a:solidFill>
            <a:srgbClr val="EEF1F8"/>
          </a:solidFill>
          <a:ln w="12600">
            <a:solidFill>
              <a:srgbClr val="DDE3F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211" name="Image 0" descr="preencoded.png"/>
          <p:cNvPicPr/>
          <p:nvPr/>
        </p:nvPicPr>
        <p:blipFill>
          <a:blip r:embed="rId1"/>
          <a:stretch/>
        </p:blipFill>
        <p:spPr>
          <a:xfrm>
            <a:off x="502920" y="4297680"/>
            <a:ext cx="363600" cy="363600"/>
          </a:xfrm>
          <a:prstGeom prst="rect">
            <a:avLst/>
          </a:prstGeom>
          <a:noFill/>
          <a:ln w="0">
            <a:noFill/>
          </a:ln>
        </p:spPr>
      </p:pic>
      <p:sp>
        <p:nvSpPr>
          <p:cNvPr id="212" name="Text 33"/>
          <p:cNvSpPr/>
          <p:nvPr/>
        </p:nvSpPr>
        <p:spPr>
          <a:xfrm>
            <a:off x="1005840" y="4251960"/>
            <a:ext cx="7678800" cy="45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F1B3D"/>
                </a:solidFill>
                <a:effectLst/>
                <a:uFillTx/>
                <a:latin typeface="Calibri"/>
                <a:ea typeface="Calibri"/>
              </a:rPr>
              <a:t>Result: B and C don't have to wake up for A-D-E setup or A-E payment; nothing touches L1. Variadic + recursive working together.</a:t>
            </a:r>
            <a:endParaRPr lang="en-GB" sz="1200" b="0" u="none" strike="noStrike">
              <a:solidFill>
                <a:srgbClr val="000000"/>
              </a:solidFill>
              <a:effectLst/>
              <a:uFillTx/>
              <a:latin typeface="Arial"/>
            </a:endParaRPr>
          </a:p>
        </p:txBody>
      </p:sp>
      <p:sp>
        <p:nvSpPr>
          <p:cNvPr id="213" name="Text 34"/>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214" name="Text 35"/>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6 / 14</a:t>
            </a:r>
            <a:endParaRPr lang="en-GB" sz="900" b="0" u="none" strike="noStrike">
              <a:solidFill>
                <a:srgbClr val="000000"/>
              </a:solidFill>
              <a:effectLst/>
              <a:uFillTx/>
              <a:latin typeface="Arial"/>
            </a:endParaRPr>
          </a:p>
        </p:txBody>
      </p:sp>
      <p:sp>
        <p:nvSpPr>
          <p:cNvPr id="215" name="Shape 60"/>
          <p:cNvSpPr/>
          <p:nvPr/>
        </p:nvSpPr>
        <p:spPr>
          <a:xfrm>
            <a:off x="3718080" y="2057760"/>
            <a:ext cx="411480" cy="360"/>
          </a:xfrm>
          <a:prstGeom prst="line">
            <a:avLst/>
          </a:prstGeom>
          <a:ln w="25560">
            <a:solidFill>
              <a:srgbClr val="0F1B3D"/>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216" name="Shape 61"/>
          <p:cNvSpPr/>
          <p:nvPr/>
        </p:nvSpPr>
        <p:spPr>
          <a:xfrm>
            <a:off x="4129560" y="1783440"/>
            <a:ext cx="546480" cy="546480"/>
          </a:xfrm>
          <a:prstGeom prst="ellipse">
            <a:avLst/>
          </a:prstGeom>
          <a:solidFill>
            <a:srgbClr val="F7931A"/>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17" name="Text 63"/>
          <p:cNvSpPr/>
          <p:nvPr/>
        </p:nvSpPr>
        <p:spPr>
          <a:xfrm>
            <a:off x="4129560" y="1783440"/>
            <a:ext cx="546480" cy="54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E</a:t>
            </a: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8"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Prior work leaves a gap</a:t>
            </a:r>
            <a:endParaRPr lang="en-GB" sz="2600" b="0" u="none" strike="noStrike">
              <a:solidFill>
                <a:srgbClr val="000000"/>
              </a:solidFill>
              <a:effectLst/>
              <a:uFillTx/>
              <a:latin typeface="Arial"/>
            </a:endParaRPr>
          </a:p>
        </p:txBody>
      </p:sp>
      <p:sp>
        <p:nvSpPr>
          <p:cNvPr id="219"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Each existing Bitcoin construction misses at least one property</a:t>
            </a:r>
            <a:endParaRPr lang="en-GB" sz="1300" b="0" u="none" strike="noStrike">
              <a:solidFill>
                <a:srgbClr val="000000"/>
              </a:solidFill>
              <a:effectLst/>
              <a:uFillTx/>
              <a:latin typeface="Arial"/>
            </a:endParaRPr>
          </a:p>
        </p:txBody>
      </p:sp>
      <p:sp>
        <p:nvSpPr>
          <p:cNvPr id="220" name="Shape 3"/>
          <p:cNvSpPr/>
          <p:nvPr/>
        </p:nvSpPr>
        <p:spPr>
          <a:xfrm>
            <a:off x="365760" y="1417320"/>
            <a:ext cx="1826640" cy="409320"/>
          </a:xfrm>
          <a:prstGeom prst="rect">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21" name="Text 4"/>
          <p:cNvSpPr/>
          <p:nvPr/>
        </p:nvSpPr>
        <p:spPr>
          <a:xfrm>
            <a:off x="438840" y="1417320"/>
            <a:ext cx="173520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FFFFF"/>
                </a:solidFill>
                <a:effectLst/>
                <a:uFillTx/>
                <a:latin typeface="Cambria"/>
                <a:ea typeface="Cambria"/>
              </a:rPr>
              <a:t>Protocol</a:t>
            </a:r>
            <a:endParaRPr lang="en-GB" sz="1100" b="0" u="none" strike="noStrike">
              <a:solidFill>
                <a:srgbClr val="000000"/>
              </a:solidFill>
              <a:effectLst/>
              <a:uFillTx/>
              <a:latin typeface="Arial"/>
            </a:endParaRPr>
          </a:p>
        </p:txBody>
      </p:sp>
      <p:sp>
        <p:nvSpPr>
          <p:cNvPr id="222" name="Shape 5"/>
          <p:cNvSpPr/>
          <p:nvPr/>
        </p:nvSpPr>
        <p:spPr>
          <a:xfrm>
            <a:off x="2194560" y="1417320"/>
            <a:ext cx="1552320" cy="409320"/>
          </a:xfrm>
          <a:prstGeom prst="rect">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23" name="Text 6"/>
          <p:cNvSpPr/>
          <p:nvPr/>
        </p:nvSpPr>
        <p:spPr>
          <a:xfrm>
            <a:off x="2267640" y="1417320"/>
            <a:ext cx="146088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Unlimited lifetime</a:t>
            </a:r>
            <a:endParaRPr lang="en-GB" sz="1100" b="0" u="none" strike="noStrike">
              <a:solidFill>
                <a:srgbClr val="000000"/>
              </a:solidFill>
              <a:effectLst/>
              <a:uFillTx/>
              <a:latin typeface="Arial"/>
            </a:endParaRPr>
          </a:p>
        </p:txBody>
      </p:sp>
      <p:sp>
        <p:nvSpPr>
          <p:cNvPr id="224" name="Shape 7"/>
          <p:cNvSpPr/>
          <p:nvPr/>
        </p:nvSpPr>
        <p:spPr>
          <a:xfrm>
            <a:off x="3749040" y="1417320"/>
            <a:ext cx="1552320" cy="409320"/>
          </a:xfrm>
          <a:prstGeom prst="rect">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25" name="Text 8"/>
          <p:cNvSpPr/>
          <p:nvPr/>
        </p:nvSpPr>
        <p:spPr>
          <a:xfrm>
            <a:off x="3822120" y="1417320"/>
            <a:ext cx="146088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Recursive</a:t>
            </a:r>
            <a:endParaRPr lang="en-GB" sz="1100" b="0" u="none" strike="noStrike">
              <a:solidFill>
                <a:srgbClr val="000000"/>
              </a:solidFill>
              <a:effectLst/>
              <a:uFillTx/>
              <a:latin typeface="Arial"/>
            </a:endParaRPr>
          </a:p>
        </p:txBody>
      </p:sp>
      <p:sp>
        <p:nvSpPr>
          <p:cNvPr id="226" name="Shape 9"/>
          <p:cNvSpPr/>
          <p:nvPr/>
        </p:nvSpPr>
        <p:spPr>
          <a:xfrm>
            <a:off x="5303520" y="1417320"/>
            <a:ext cx="1552320" cy="409320"/>
          </a:xfrm>
          <a:prstGeom prst="rect">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27" name="Text 10"/>
          <p:cNvSpPr/>
          <p:nvPr/>
        </p:nvSpPr>
        <p:spPr>
          <a:xfrm>
            <a:off x="5376600" y="1417320"/>
            <a:ext cx="146088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Variadic</a:t>
            </a:r>
            <a:endParaRPr lang="en-GB" sz="1100" b="0" u="none" strike="noStrike">
              <a:solidFill>
                <a:srgbClr val="000000"/>
              </a:solidFill>
              <a:effectLst/>
              <a:uFillTx/>
              <a:latin typeface="Arial"/>
            </a:endParaRPr>
          </a:p>
        </p:txBody>
      </p:sp>
      <p:sp>
        <p:nvSpPr>
          <p:cNvPr id="228" name="Shape 11"/>
          <p:cNvSpPr/>
          <p:nvPr/>
        </p:nvSpPr>
        <p:spPr>
          <a:xfrm>
            <a:off x="6858000" y="1417320"/>
            <a:ext cx="1552320" cy="409320"/>
          </a:xfrm>
          <a:prstGeom prst="rect">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29" name="Text 12"/>
          <p:cNvSpPr/>
          <p:nvPr/>
        </p:nvSpPr>
        <p:spPr>
          <a:xfrm>
            <a:off x="6931080" y="1417320"/>
            <a:ext cx="146088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Symmetric</a:t>
            </a:r>
            <a:endParaRPr lang="en-GB" sz="1100" b="0" u="none" strike="noStrike">
              <a:solidFill>
                <a:srgbClr val="000000"/>
              </a:solidFill>
              <a:effectLst/>
              <a:uFillTx/>
              <a:latin typeface="Arial"/>
            </a:endParaRPr>
          </a:p>
        </p:txBody>
      </p:sp>
      <p:sp>
        <p:nvSpPr>
          <p:cNvPr id="230" name="Shape 13"/>
          <p:cNvSpPr/>
          <p:nvPr/>
        </p:nvSpPr>
        <p:spPr>
          <a:xfrm>
            <a:off x="365760" y="1828800"/>
            <a:ext cx="182664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31" name="Text 14"/>
          <p:cNvSpPr/>
          <p:nvPr/>
        </p:nvSpPr>
        <p:spPr>
          <a:xfrm>
            <a:off x="438840" y="1828800"/>
            <a:ext cx="173520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0F1B3D"/>
                </a:solidFill>
                <a:effectLst/>
                <a:uFillTx/>
                <a:latin typeface="Calibri"/>
                <a:ea typeface="Calibri"/>
              </a:rPr>
              <a:t>LVPC [AMEEFR]</a:t>
            </a:r>
            <a:endParaRPr lang="en-GB" sz="1200" b="0" u="none" strike="noStrike">
              <a:solidFill>
                <a:srgbClr val="000000"/>
              </a:solidFill>
              <a:effectLst/>
              <a:uFillTx/>
              <a:latin typeface="Arial"/>
            </a:endParaRPr>
          </a:p>
        </p:txBody>
      </p:sp>
      <p:sp>
        <p:nvSpPr>
          <p:cNvPr id="232" name="Shape 15"/>
          <p:cNvSpPr/>
          <p:nvPr/>
        </p:nvSpPr>
        <p:spPr>
          <a:xfrm>
            <a:off x="2194560" y="1828800"/>
            <a:ext cx="155232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33" name="Text 16"/>
          <p:cNvSpPr/>
          <p:nvPr/>
        </p:nvSpPr>
        <p:spPr>
          <a:xfrm>
            <a:off x="2194560" y="182880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DC2626"/>
                </a:solidFill>
                <a:effectLst/>
                <a:uFillTx/>
                <a:latin typeface="Cambria"/>
                <a:ea typeface="Cambria"/>
              </a:rPr>
              <a:t>✗</a:t>
            </a:r>
            <a:endParaRPr lang="en-GB" sz="1800" b="0" u="none" strike="noStrike">
              <a:solidFill>
                <a:srgbClr val="000000"/>
              </a:solidFill>
              <a:effectLst/>
              <a:uFillTx/>
              <a:latin typeface="Arial"/>
            </a:endParaRPr>
          </a:p>
        </p:txBody>
      </p:sp>
      <p:sp>
        <p:nvSpPr>
          <p:cNvPr id="234" name="Shape 17"/>
          <p:cNvSpPr/>
          <p:nvPr/>
        </p:nvSpPr>
        <p:spPr>
          <a:xfrm>
            <a:off x="3749040" y="1828800"/>
            <a:ext cx="155232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35" name="Text 18"/>
          <p:cNvSpPr/>
          <p:nvPr/>
        </p:nvSpPr>
        <p:spPr>
          <a:xfrm>
            <a:off x="3749040" y="182880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6A34A"/>
                </a:solidFill>
                <a:effectLst/>
                <a:uFillTx/>
                <a:latin typeface="Cambria"/>
                <a:ea typeface="Cambria"/>
              </a:rPr>
              <a:t>✓</a:t>
            </a:r>
            <a:endParaRPr lang="en-GB" sz="1800" b="0" u="none" strike="noStrike">
              <a:solidFill>
                <a:srgbClr val="000000"/>
              </a:solidFill>
              <a:effectLst/>
              <a:uFillTx/>
              <a:latin typeface="Arial"/>
            </a:endParaRPr>
          </a:p>
        </p:txBody>
      </p:sp>
      <p:sp>
        <p:nvSpPr>
          <p:cNvPr id="236" name="Shape 19"/>
          <p:cNvSpPr/>
          <p:nvPr/>
        </p:nvSpPr>
        <p:spPr>
          <a:xfrm>
            <a:off x="5303520" y="1828800"/>
            <a:ext cx="155232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37" name="Text 20"/>
          <p:cNvSpPr/>
          <p:nvPr/>
        </p:nvSpPr>
        <p:spPr>
          <a:xfrm>
            <a:off x="5303520" y="182880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DC2626"/>
                </a:solidFill>
                <a:effectLst/>
                <a:uFillTx/>
                <a:latin typeface="Cambria"/>
                <a:ea typeface="Cambria"/>
              </a:rPr>
              <a:t>✗</a:t>
            </a:r>
            <a:endParaRPr lang="en-GB" sz="1800" b="0" u="none" strike="noStrike">
              <a:solidFill>
                <a:srgbClr val="000000"/>
              </a:solidFill>
              <a:effectLst/>
              <a:uFillTx/>
              <a:latin typeface="Arial"/>
            </a:endParaRPr>
          </a:p>
        </p:txBody>
      </p:sp>
      <p:sp>
        <p:nvSpPr>
          <p:cNvPr id="238" name="Shape 21"/>
          <p:cNvSpPr/>
          <p:nvPr/>
        </p:nvSpPr>
        <p:spPr>
          <a:xfrm>
            <a:off x="6858000" y="1828800"/>
            <a:ext cx="155232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39" name="Text 22"/>
          <p:cNvSpPr/>
          <p:nvPr/>
        </p:nvSpPr>
        <p:spPr>
          <a:xfrm>
            <a:off x="6858000" y="182880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6A34A"/>
                </a:solidFill>
                <a:effectLst/>
                <a:uFillTx/>
                <a:latin typeface="Cambria"/>
                <a:ea typeface="Cambria"/>
              </a:rPr>
              <a:t>✓</a:t>
            </a:r>
            <a:endParaRPr lang="en-GB" sz="1800" b="0" u="none" strike="noStrike">
              <a:solidFill>
                <a:srgbClr val="000000"/>
              </a:solidFill>
              <a:effectLst/>
              <a:uFillTx/>
              <a:latin typeface="Arial"/>
            </a:endParaRPr>
          </a:p>
        </p:txBody>
      </p:sp>
      <p:sp>
        <p:nvSpPr>
          <p:cNvPr id="240" name="Shape 23"/>
          <p:cNvSpPr/>
          <p:nvPr/>
        </p:nvSpPr>
        <p:spPr>
          <a:xfrm>
            <a:off x="365760" y="2240280"/>
            <a:ext cx="1826640" cy="409320"/>
          </a:xfrm>
          <a:prstGeom prst="rect">
            <a:avLst/>
          </a:prstGeom>
          <a:solidFill>
            <a:srgbClr val="EEF1F8"/>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41" name="Text 24"/>
          <p:cNvSpPr/>
          <p:nvPr/>
        </p:nvSpPr>
        <p:spPr>
          <a:xfrm>
            <a:off x="438840" y="2240280"/>
            <a:ext cx="173520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0F1B3D"/>
                </a:solidFill>
                <a:effectLst/>
                <a:uFillTx/>
                <a:latin typeface="Calibri"/>
                <a:ea typeface="Calibri"/>
              </a:rPr>
              <a:t>BCVC [JLT]</a:t>
            </a:r>
            <a:endParaRPr lang="en-GB" sz="1200" b="0" u="none" strike="noStrike">
              <a:solidFill>
                <a:srgbClr val="000000"/>
              </a:solidFill>
              <a:effectLst/>
              <a:uFillTx/>
              <a:latin typeface="Arial"/>
            </a:endParaRPr>
          </a:p>
        </p:txBody>
      </p:sp>
      <p:sp>
        <p:nvSpPr>
          <p:cNvPr id="242" name="Shape 25"/>
          <p:cNvSpPr/>
          <p:nvPr/>
        </p:nvSpPr>
        <p:spPr>
          <a:xfrm>
            <a:off x="2194560" y="2240280"/>
            <a:ext cx="1552320" cy="409320"/>
          </a:xfrm>
          <a:prstGeom prst="rect">
            <a:avLst/>
          </a:prstGeom>
          <a:solidFill>
            <a:srgbClr val="EEF1F8"/>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43" name="Text 26"/>
          <p:cNvSpPr/>
          <p:nvPr/>
        </p:nvSpPr>
        <p:spPr>
          <a:xfrm>
            <a:off x="2194560" y="224028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6A34A"/>
                </a:solidFill>
                <a:effectLst/>
                <a:uFillTx/>
                <a:latin typeface="Cambria"/>
                <a:ea typeface="Cambria"/>
              </a:rPr>
              <a:t>✓</a:t>
            </a:r>
            <a:endParaRPr lang="en-GB" sz="1800" b="0" u="none" strike="noStrike">
              <a:solidFill>
                <a:srgbClr val="000000"/>
              </a:solidFill>
              <a:effectLst/>
              <a:uFillTx/>
              <a:latin typeface="Arial"/>
            </a:endParaRPr>
          </a:p>
        </p:txBody>
      </p:sp>
      <p:sp>
        <p:nvSpPr>
          <p:cNvPr id="244" name="Shape 27"/>
          <p:cNvSpPr/>
          <p:nvPr/>
        </p:nvSpPr>
        <p:spPr>
          <a:xfrm>
            <a:off x="3749040" y="2240280"/>
            <a:ext cx="1552320" cy="409320"/>
          </a:xfrm>
          <a:prstGeom prst="rect">
            <a:avLst/>
          </a:prstGeom>
          <a:solidFill>
            <a:srgbClr val="EEF1F8"/>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45" name="Text 28"/>
          <p:cNvSpPr/>
          <p:nvPr/>
        </p:nvSpPr>
        <p:spPr>
          <a:xfrm>
            <a:off x="3749040" y="224028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DC2626"/>
                </a:solidFill>
                <a:effectLst/>
                <a:uFillTx/>
                <a:latin typeface="Cambria"/>
                <a:ea typeface="Cambria"/>
              </a:rPr>
              <a:t>✗</a:t>
            </a:r>
            <a:endParaRPr lang="en-GB" sz="1800" b="0" u="none" strike="noStrike">
              <a:solidFill>
                <a:srgbClr val="000000"/>
              </a:solidFill>
              <a:effectLst/>
              <a:uFillTx/>
              <a:latin typeface="Arial"/>
            </a:endParaRPr>
          </a:p>
        </p:txBody>
      </p:sp>
      <p:sp>
        <p:nvSpPr>
          <p:cNvPr id="246" name="Shape 29"/>
          <p:cNvSpPr/>
          <p:nvPr/>
        </p:nvSpPr>
        <p:spPr>
          <a:xfrm>
            <a:off x="5303520" y="2240280"/>
            <a:ext cx="1552320" cy="409320"/>
          </a:xfrm>
          <a:prstGeom prst="rect">
            <a:avLst/>
          </a:prstGeom>
          <a:solidFill>
            <a:srgbClr val="EEF1F8"/>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47" name="Text 30"/>
          <p:cNvSpPr/>
          <p:nvPr/>
        </p:nvSpPr>
        <p:spPr>
          <a:xfrm>
            <a:off x="5303520" y="224028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DC2626"/>
                </a:solidFill>
                <a:effectLst/>
                <a:uFillTx/>
                <a:latin typeface="Cambria"/>
                <a:ea typeface="Cambria"/>
              </a:rPr>
              <a:t>✗</a:t>
            </a:r>
            <a:endParaRPr lang="en-GB" sz="1800" b="0" u="none" strike="noStrike">
              <a:solidFill>
                <a:srgbClr val="000000"/>
              </a:solidFill>
              <a:effectLst/>
              <a:uFillTx/>
              <a:latin typeface="Arial"/>
            </a:endParaRPr>
          </a:p>
        </p:txBody>
      </p:sp>
      <p:sp>
        <p:nvSpPr>
          <p:cNvPr id="248" name="Shape 31"/>
          <p:cNvSpPr/>
          <p:nvPr/>
        </p:nvSpPr>
        <p:spPr>
          <a:xfrm>
            <a:off x="6858000" y="2240280"/>
            <a:ext cx="1552320" cy="409320"/>
          </a:xfrm>
          <a:prstGeom prst="rect">
            <a:avLst/>
          </a:prstGeom>
          <a:solidFill>
            <a:srgbClr val="EEF1F8"/>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49" name="Text 32"/>
          <p:cNvSpPr/>
          <p:nvPr/>
        </p:nvSpPr>
        <p:spPr>
          <a:xfrm>
            <a:off x="6858000" y="224028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6A34A"/>
                </a:solidFill>
                <a:effectLst/>
                <a:uFillTx/>
                <a:latin typeface="Cambria"/>
                <a:ea typeface="Cambria"/>
              </a:rPr>
              <a:t>✓</a:t>
            </a:r>
            <a:endParaRPr lang="en-GB" sz="1800" b="0" u="none" strike="noStrike">
              <a:solidFill>
                <a:srgbClr val="000000"/>
              </a:solidFill>
              <a:effectLst/>
              <a:uFillTx/>
              <a:latin typeface="Arial"/>
            </a:endParaRPr>
          </a:p>
        </p:txBody>
      </p:sp>
      <p:sp>
        <p:nvSpPr>
          <p:cNvPr id="250" name="Shape 33"/>
          <p:cNvSpPr/>
          <p:nvPr/>
        </p:nvSpPr>
        <p:spPr>
          <a:xfrm>
            <a:off x="365760" y="2651760"/>
            <a:ext cx="182664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51" name="Text 34"/>
          <p:cNvSpPr/>
          <p:nvPr/>
        </p:nvSpPr>
        <p:spPr>
          <a:xfrm>
            <a:off x="438840" y="2651760"/>
            <a:ext cx="173520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0F1B3D"/>
                </a:solidFill>
                <a:effectLst/>
                <a:uFillTx/>
                <a:latin typeface="Calibri"/>
                <a:ea typeface="Calibri"/>
              </a:rPr>
              <a:t>Donner [AMKM]</a:t>
            </a:r>
            <a:endParaRPr lang="en-GB" sz="1200" b="0" u="none" strike="noStrike">
              <a:solidFill>
                <a:srgbClr val="000000"/>
              </a:solidFill>
              <a:effectLst/>
              <a:uFillTx/>
              <a:latin typeface="Arial"/>
            </a:endParaRPr>
          </a:p>
        </p:txBody>
      </p:sp>
      <p:sp>
        <p:nvSpPr>
          <p:cNvPr id="252" name="Shape 35"/>
          <p:cNvSpPr/>
          <p:nvPr/>
        </p:nvSpPr>
        <p:spPr>
          <a:xfrm>
            <a:off x="2194560" y="2651760"/>
            <a:ext cx="155232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53" name="Text 36"/>
          <p:cNvSpPr/>
          <p:nvPr/>
        </p:nvSpPr>
        <p:spPr>
          <a:xfrm>
            <a:off x="2194560" y="265176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DC2626"/>
                </a:solidFill>
                <a:effectLst/>
                <a:uFillTx/>
                <a:latin typeface="Cambria"/>
                <a:ea typeface="Cambria"/>
              </a:rPr>
              <a:t>✗</a:t>
            </a:r>
            <a:endParaRPr lang="en-GB" sz="1800" b="0" u="none" strike="noStrike">
              <a:solidFill>
                <a:srgbClr val="000000"/>
              </a:solidFill>
              <a:effectLst/>
              <a:uFillTx/>
              <a:latin typeface="Arial"/>
            </a:endParaRPr>
          </a:p>
        </p:txBody>
      </p:sp>
      <p:sp>
        <p:nvSpPr>
          <p:cNvPr id="254" name="Shape 37"/>
          <p:cNvSpPr/>
          <p:nvPr/>
        </p:nvSpPr>
        <p:spPr>
          <a:xfrm>
            <a:off x="3749040" y="2651760"/>
            <a:ext cx="155232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55" name="Text 38"/>
          <p:cNvSpPr/>
          <p:nvPr/>
        </p:nvSpPr>
        <p:spPr>
          <a:xfrm>
            <a:off x="3749040" y="265176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DC2626"/>
                </a:solidFill>
                <a:effectLst/>
                <a:uFillTx/>
                <a:latin typeface="Cambria"/>
                <a:ea typeface="Cambria"/>
              </a:rPr>
              <a:t>✗</a:t>
            </a:r>
            <a:endParaRPr lang="en-GB" sz="1800" b="0" u="none" strike="noStrike">
              <a:solidFill>
                <a:srgbClr val="000000"/>
              </a:solidFill>
              <a:effectLst/>
              <a:uFillTx/>
              <a:latin typeface="Arial"/>
            </a:endParaRPr>
          </a:p>
        </p:txBody>
      </p:sp>
      <p:sp>
        <p:nvSpPr>
          <p:cNvPr id="256" name="Shape 39"/>
          <p:cNvSpPr/>
          <p:nvPr/>
        </p:nvSpPr>
        <p:spPr>
          <a:xfrm>
            <a:off x="5303520" y="2651760"/>
            <a:ext cx="155232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57" name="Text 40"/>
          <p:cNvSpPr/>
          <p:nvPr/>
        </p:nvSpPr>
        <p:spPr>
          <a:xfrm>
            <a:off x="5303520" y="265176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6A34A"/>
                </a:solidFill>
                <a:effectLst/>
                <a:uFillTx/>
                <a:latin typeface="Cambria"/>
                <a:ea typeface="Cambria"/>
              </a:rPr>
              <a:t>✓</a:t>
            </a:r>
            <a:endParaRPr lang="en-GB" sz="1800" b="0" u="none" strike="noStrike">
              <a:solidFill>
                <a:srgbClr val="000000"/>
              </a:solidFill>
              <a:effectLst/>
              <a:uFillTx/>
              <a:latin typeface="Arial"/>
            </a:endParaRPr>
          </a:p>
        </p:txBody>
      </p:sp>
      <p:sp>
        <p:nvSpPr>
          <p:cNvPr id="258" name="Shape 41"/>
          <p:cNvSpPr/>
          <p:nvPr/>
        </p:nvSpPr>
        <p:spPr>
          <a:xfrm>
            <a:off x="6858000" y="2651760"/>
            <a:ext cx="1552320" cy="409320"/>
          </a:xfrm>
          <a:prstGeom prst="rect">
            <a:avLst/>
          </a:prstGeom>
          <a:solidFill>
            <a:srgbClr val="FFFFFF"/>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59" name="Text 42"/>
          <p:cNvSpPr/>
          <p:nvPr/>
        </p:nvSpPr>
        <p:spPr>
          <a:xfrm>
            <a:off x="6858000" y="265176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DC2626"/>
                </a:solidFill>
                <a:effectLst/>
                <a:uFillTx/>
                <a:latin typeface="Cambria"/>
                <a:ea typeface="Cambria"/>
              </a:rPr>
              <a:t>✗</a:t>
            </a:r>
            <a:endParaRPr lang="en-GB" sz="1800" b="0" u="none" strike="noStrike">
              <a:solidFill>
                <a:srgbClr val="000000"/>
              </a:solidFill>
              <a:effectLst/>
              <a:uFillTx/>
              <a:latin typeface="Arial"/>
            </a:endParaRPr>
          </a:p>
        </p:txBody>
      </p:sp>
      <p:sp>
        <p:nvSpPr>
          <p:cNvPr id="260" name="Shape 43"/>
          <p:cNvSpPr/>
          <p:nvPr/>
        </p:nvSpPr>
        <p:spPr>
          <a:xfrm>
            <a:off x="365760" y="3063240"/>
            <a:ext cx="1826640" cy="409320"/>
          </a:xfrm>
          <a:prstGeom prst="rect">
            <a:avLst/>
          </a:prstGeom>
          <a:solidFill>
            <a:srgbClr val="FFF1DD"/>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61" name="Text 44"/>
          <p:cNvSpPr/>
          <p:nvPr/>
        </p:nvSpPr>
        <p:spPr>
          <a:xfrm>
            <a:off x="438840" y="3063240"/>
            <a:ext cx="173520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F1B3D"/>
                </a:solidFill>
                <a:effectLst/>
                <a:uFillTx/>
                <a:latin typeface="Calibri"/>
                <a:ea typeface="Calibri"/>
              </a:rPr>
              <a:t>Elmo (ours)</a:t>
            </a:r>
            <a:endParaRPr lang="en-GB" sz="1200" b="0" u="none" strike="noStrike">
              <a:solidFill>
                <a:srgbClr val="000000"/>
              </a:solidFill>
              <a:effectLst/>
              <a:uFillTx/>
              <a:latin typeface="Arial"/>
            </a:endParaRPr>
          </a:p>
        </p:txBody>
      </p:sp>
      <p:sp>
        <p:nvSpPr>
          <p:cNvPr id="262" name="Shape 45"/>
          <p:cNvSpPr/>
          <p:nvPr/>
        </p:nvSpPr>
        <p:spPr>
          <a:xfrm>
            <a:off x="2194560" y="3063240"/>
            <a:ext cx="1552320" cy="409320"/>
          </a:xfrm>
          <a:prstGeom prst="rect">
            <a:avLst/>
          </a:prstGeom>
          <a:solidFill>
            <a:srgbClr val="FFF1DD"/>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63" name="Text 46"/>
          <p:cNvSpPr/>
          <p:nvPr/>
        </p:nvSpPr>
        <p:spPr>
          <a:xfrm>
            <a:off x="2194560" y="306324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6A34A"/>
                </a:solidFill>
                <a:effectLst/>
                <a:uFillTx/>
                <a:latin typeface="Cambria"/>
                <a:ea typeface="Cambria"/>
              </a:rPr>
              <a:t>✓</a:t>
            </a:r>
            <a:endParaRPr lang="en-GB" sz="1800" b="0" u="none" strike="noStrike">
              <a:solidFill>
                <a:srgbClr val="000000"/>
              </a:solidFill>
              <a:effectLst/>
              <a:uFillTx/>
              <a:latin typeface="Arial"/>
            </a:endParaRPr>
          </a:p>
        </p:txBody>
      </p:sp>
      <p:sp>
        <p:nvSpPr>
          <p:cNvPr id="264" name="Shape 47"/>
          <p:cNvSpPr/>
          <p:nvPr/>
        </p:nvSpPr>
        <p:spPr>
          <a:xfrm>
            <a:off x="3749040" y="3063240"/>
            <a:ext cx="1552320" cy="409320"/>
          </a:xfrm>
          <a:prstGeom prst="rect">
            <a:avLst/>
          </a:prstGeom>
          <a:solidFill>
            <a:srgbClr val="FFF1DD"/>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65" name="Text 48"/>
          <p:cNvSpPr/>
          <p:nvPr/>
        </p:nvSpPr>
        <p:spPr>
          <a:xfrm>
            <a:off x="3749040" y="306324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6A34A"/>
                </a:solidFill>
                <a:effectLst/>
                <a:uFillTx/>
                <a:latin typeface="Cambria"/>
                <a:ea typeface="Cambria"/>
              </a:rPr>
              <a:t>✓</a:t>
            </a:r>
            <a:endParaRPr lang="en-GB" sz="1800" b="0" u="none" strike="noStrike">
              <a:solidFill>
                <a:srgbClr val="000000"/>
              </a:solidFill>
              <a:effectLst/>
              <a:uFillTx/>
              <a:latin typeface="Arial"/>
            </a:endParaRPr>
          </a:p>
        </p:txBody>
      </p:sp>
      <p:sp>
        <p:nvSpPr>
          <p:cNvPr id="266" name="Shape 49"/>
          <p:cNvSpPr/>
          <p:nvPr/>
        </p:nvSpPr>
        <p:spPr>
          <a:xfrm>
            <a:off x="5303520" y="3063240"/>
            <a:ext cx="1552320" cy="409320"/>
          </a:xfrm>
          <a:prstGeom prst="rect">
            <a:avLst/>
          </a:prstGeom>
          <a:solidFill>
            <a:srgbClr val="FFF1DD"/>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67" name="Text 50"/>
          <p:cNvSpPr/>
          <p:nvPr/>
        </p:nvSpPr>
        <p:spPr>
          <a:xfrm>
            <a:off x="5303520" y="306324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6A34A"/>
                </a:solidFill>
                <a:effectLst/>
                <a:uFillTx/>
                <a:latin typeface="Cambria"/>
                <a:ea typeface="Cambria"/>
              </a:rPr>
              <a:t>✓</a:t>
            </a:r>
            <a:endParaRPr lang="en-GB" sz="1800" b="0" u="none" strike="noStrike">
              <a:solidFill>
                <a:srgbClr val="000000"/>
              </a:solidFill>
              <a:effectLst/>
              <a:uFillTx/>
              <a:latin typeface="Arial"/>
            </a:endParaRPr>
          </a:p>
        </p:txBody>
      </p:sp>
      <p:sp>
        <p:nvSpPr>
          <p:cNvPr id="268" name="Shape 51"/>
          <p:cNvSpPr/>
          <p:nvPr/>
        </p:nvSpPr>
        <p:spPr>
          <a:xfrm>
            <a:off x="6858000" y="3063240"/>
            <a:ext cx="1552320" cy="409320"/>
          </a:xfrm>
          <a:prstGeom prst="rect">
            <a:avLst/>
          </a:prstGeom>
          <a:solidFill>
            <a:srgbClr val="FFF1DD"/>
          </a:solidFill>
          <a:ln w="6480">
            <a:solidFill>
              <a:srgbClr val="D8DCE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69" name="Text 52"/>
          <p:cNvSpPr/>
          <p:nvPr/>
        </p:nvSpPr>
        <p:spPr>
          <a:xfrm>
            <a:off x="6858000" y="3063240"/>
            <a:ext cx="1552320" cy="40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6A34A"/>
                </a:solidFill>
                <a:effectLst/>
                <a:uFillTx/>
                <a:latin typeface="Cambria"/>
                <a:ea typeface="Cambria"/>
              </a:rPr>
              <a:t>✓</a:t>
            </a:r>
            <a:endParaRPr lang="en-GB" sz="1800" b="0" u="none" strike="noStrike">
              <a:solidFill>
                <a:srgbClr val="000000"/>
              </a:solidFill>
              <a:effectLst/>
              <a:uFillTx/>
              <a:latin typeface="Arial"/>
            </a:endParaRPr>
          </a:p>
        </p:txBody>
      </p:sp>
      <p:sp>
        <p:nvSpPr>
          <p:cNvPr id="270" name="Shape 53"/>
          <p:cNvSpPr/>
          <p:nvPr/>
        </p:nvSpPr>
        <p:spPr>
          <a:xfrm>
            <a:off x="365760" y="3931920"/>
            <a:ext cx="4112640" cy="866520"/>
          </a:xfrm>
          <a:prstGeom prst="rect">
            <a:avLst/>
          </a:prstGeom>
          <a:solidFill>
            <a:srgbClr val="FEF2F2"/>
          </a:solidFill>
          <a:ln w="12600">
            <a:solidFill>
              <a:srgbClr val="FECAC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271" name="Image 0" descr="preencoded.png"/>
          <p:cNvPicPr/>
          <p:nvPr/>
        </p:nvPicPr>
        <p:blipFill>
          <a:blip r:embed="rId1"/>
          <a:stretch/>
        </p:blipFill>
        <p:spPr>
          <a:xfrm>
            <a:off x="502920" y="4041720"/>
            <a:ext cx="290520" cy="290520"/>
          </a:xfrm>
          <a:prstGeom prst="rect">
            <a:avLst/>
          </a:prstGeom>
          <a:noFill/>
          <a:ln w="0">
            <a:noFill/>
          </a:ln>
        </p:spPr>
      </p:pic>
      <p:sp>
        <p:nvSpPr>
          <p:cNvPr id="272" name="Text 54"/>
          <p:cNvSpPr/>
          <p:nvPr/>
        </p:nvSpPr>
        <p:spPr>
          <a:xfrm>
            <a:off x="868680" y="4005000"/>
            <a:ext cx="33811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F1B3D"/>
                </a:solidFill>
                <a:effectLst/>
                <a:uFillTx/>
                <a:latin typeface="Cambria"/>
                <a:ea typeface="Cambria"/>
              </a:rPr>
              <a:t>LVPC: binary only</a:t>
            </a:r>
            <a:endParaRPr lang="en-GB" sz="1300" b="0" u="none" strike="noStrike">
              <a:solidFill>
                <a:srgbClr val="000000"/>
              </a:solidFill>
              <a:effectLst/>
              <a:uFillTx/>
              <a:latin typeface="Arial"/>
            </a:endParaRPr>
          </a:p>
        </p:txBody>
      </p:sp>
      <p:sp>
        <p:nvSpPr>
          <p:cNvPr id="273" name="Text 55"/>
          <p:cNvSpPr/>
          <p:nvPr/>
        </p:nvSpPr>
        <p:spPr>
          <a:xfrm>
            <a:off x="502920" y="4316040"/>
            <a:ext cx="3929760" cy="45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5A6B8C"/>
                </a:solidFill>
                <a:effectLst/>
                <a:uFillTx/>
                <a:latin typeface="Calibri"/>
                <a:ea typeface="Calibri"/>
              </a:rPr>
              <a:t>Combining n channels needs (n−1) stacked virtuals. Costs blow up asymmetrically.</a:t>
            </a:r>
            <a:endParaRPr lang="en-GB" sz="1000" b="0" u="none" strike="noStrike">
              <a:solidFill>
                <a:srgbClr val="000000"/>
              </a:solidFill>
              <a:effectLst/>
              <a:uFillTx/>
              <a:latin typeface="Arial"/>
            </a:endParaRPr>
          </a:p>
        </p:txBody>
      </p:sp>
      <p:sp>
        <p:nvSpPr>
          <p:cNvPr id="274" name="Shape 56"/>
          <p:cNvSpPr/>
          <p:nvPr/>
        </p:nvSpPr>
        <p:spPr>
          <a:xfrm>
            <a:off x="4663440" y="3931920"/>
            <a:ext cx="4112640" cy="866520"/>
          </a:xfrm>
          <a:prstGeom prst="rect">
            <a:avLst/>
          </a:prstGeom>
          <a:solidFill>
            <a:srgbClr val="FEF2F2"/>
          </a:solidFill>
          <a:ln w="12600">
            <a:solidFill>
              <a:srgbClr val="FECAC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275" name="Image 1" descr="preencoded.png"/>
          <p:cNvPicPr/>
          <p:nvPr/>
        </p:nvPicPr>
        <p:blipFill>
          <a:blip r:embed="rId2"/>
          <a:stretch/>
        </p:blipFill>
        <p:spPr>
          <a:xfrm>
            <a:off x="4800600" y="4041720"/>
            <a:ext cx="290520" cy="290520"/>
          </a:xfrm>
          <a:prstGeom prst="rect">
            <a:avLst/>
          </a:prstGeom>
          <a:noFill/>
          <a:ln w="0">
            <a:noFill/>
          </a:ln>
        </p:spPr>
      </p:pic>
      <p:sp>
        <p:nvSpPr>
          <p:cNvPr id="276" name="Text 57"/>
          <p:cNvSpPr/>
          <p:nvPr/>
        </p:nvSpPr>
        <p:spPr>
          <a:xfrm>
            <a:off x="5166360" y="4005000"/>
            <a:ext cx="33811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F1B3D"/>
                </a:solidFill>
                <a:effectLst/>
                <a:uFillTx/>
                <a:latin typeface="Cambria"/>
                <a:ea typeface="Cambria"/>
              </a:rPr>
              <a:t>Donner: not recursive</a:t>
            </a:r>
            <a:endParaRPr lang="en-GB" sz="1300" b="0" u="none" strike="noStrike">
              <a:solidFill>
                <a:srgbClr val="000000"/>
              </a:solidFill>
              <a:effectLst/>
              <a:uFillTx/>
              <a:latin typeface="Arial"/>
            </a:endParaRPr>
          </a:p>
        </p:txBody>
      </p:sp>
      <p:sp>
        <p:nvSpPr>
          <p:cNvPr id="277" name="Text 58"/>
          <p:cNvSpPr/>
          <p:nvPr/>
        </p:nvSpPr>
        <p:spPr>
          <a:xfrm>
            <a:off x="4800600" y="4316040"/>
            <a:ext cx="3929760" cy="45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5A6B8C"/>
                </a:solidFill>
                <a:effectLst/>
                <a:uFillTx/>
                <a:latin typeface="Calibri"/>
                <a:ea typeface="Calibri"/>
              </a:rPr>
              <a:t>Funder locks 2× the coins (one set on-chain). Needs periodic refresh — finite lifetime.</a:t>
            </a:r>
            <a:endParaRPr lang="en-GB" sz="1000" b="0" u="none" strike="noStrike">
              <a:solidFill>
                <a:srgbClr val="000000"/>
              </a:solidFill>
              <a:effectLst/>
              <a:uFillTx/>
              <a:latin typeface="Arial"/>
            </a:endParaRPr>
          </a:p>
        </p:txBody>
      </p:sp>
      <p:sp>
        <p:nvSpPr>
          <p:cNvPr id="278" name="Text 59"/>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279" name="Text 60"/>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7 / 14</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280" name="Shape 0"/>
          <p:cNvSpPr/>
          <p:nvPr/>
        </p:nvSpPr>
        <p:spPr>
          <a:xfrm>
            <a:off x="457200" y="457200"/>
            <a:ext cx="162360" cy="162360"/>
          </a:xfrm>
          <a:prstGeom prst="ellipse">
            <a:avLst/>
          </a:prstGeom>
          <a:solidFill>
            <a:srgbClr val="F7931A"/>
          </a:solidFill>
          <a:ln w="12600">
            <a:solidFill>
              <a:srgbClr val="F7931A"/>
            </a:solidFill>
            <a:round/>
          </a:ln>
        </p:spPr>
        <p:style>
          <a:lnRef idx="0"/>
          <a:fillRef idx="0"/>
          <a:effectRef idx="0"/>
          <a:fontRef idx="minor"/>
        </p:style>
        <p:txBody>
          <a:bodyPr lIns="81360" tIns="45000" rIns="81360" bIns="45000" anchor="t">
            <a:noAutofit/>
          </a:bodyPr>
          <a:p>
            <a:endParaRPr lang="en-GB" sz="1800" b="0" u="none" strike="noStrike">
              <a:solidFill>
                <a:srgbClr val="000000"/>
              </a:solidFill>
              <a:effectLst/>
              <a:uFillTx/>
              <a:latin typeface="Arial"/>
            </a:endParaRPr>
          </a:p>
        </p:txBody>
      </p:sp>
      <p:sp>
        <p:nvSpPr>
          <p:cNvPr id="281" name="Text 1"/>
          <p:cNvSpPr/>
          <p:nvPr/>
        </p:nvSpPr>
        <p:spPr>
          <a:xfrm>
            <a:off x="457200" y="777240"/>
            <a:ext cx="8227440" cy="36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5C26B"/>
                </a:solidFill>
                <a:effectLst/>
                <a:uFillTx/>
                <a:latin typeface="Calibri"/>
                <a:ea typeface="Calibri"/>
              </a:rPr>
              <a:t>OUR CONTRIBUTION</a:t>
            </a:r>
            <a:endParaRPr lang="en-GB" sz="1300" b="0" u="none" strike="noStrike">
              <a:solidFill>
                <a:srgbClr val="FFFFFF"/>
              </a:solidFill>
              <a:effectLst/>
              <a:uFillTx/>
              <a:latin typeface="Arial"/>
            </a:endParaRPr>
          </a:p>
        </p:txBody>
      </p:sp>
      <p:sp>
        <p:nvSpPr>
          <p:cNvPr id="282" name="Text 2"/>
          <p:cNvSpPr/>
          <p:nvPr/>
        </p:nvSpPr>
        <p:spPr>
          <a:xfrm>
            <a:off x="457200" y="1143000"/>
            <a:ext cx="8227440" cy="72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600" b="1" u="none" strike="noStrike">
                <a:solidFill>
                  <a:srgbClr val="FFFFFF"/>
                </a:solidFill>
                <a:effectLst/>
                <a:uFillTx/>
                <a:latin typeface="Cambria"/>
                <a:ea typeface="Cambria"/>
              </a:rPr>
              <a:t>Elmo</a:t>
            </a:r>
            <a:endParaRPr lang="en-GB" sz="5600" b="0" u="none" strike="noStrike">
              <a:solidFill>
                <a:srgbClr val="FFFFFF"/>
              </a:solidFill>
              <a:effectLst/>
              <a:uFillTx/>
              <a:latin typeface="Arial"/>
            </a:endParaRPr>
          </a:p>
        </p:txBody>
      </p:sp>
      <p:sp>
        <p:nvSpPr>
          <p:cNvPr id="283" name="Text 3"/>
          <p:cNvSpPr/>
          <p:nvPr/>
        </p:nvSpPr>
        <p:spPr>
          <a:xfrm>
            <a:off x="457200" y="1874520"/>
            <a:ext cx="8410320" cy="54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i="1" u="none" strike="noStrike">
                <a:solidFill>
                  <a:srgbClr val="F5C26B"/>
                </a:solidFill>
                <a:effectLst/>
                <a:uFillTx/>
                <a:latin typeface="Cambria"/>
                <a:ea typeface="Cambria"/>
              </a:rPr>
              <a:t>first Bitcoin virtual channel that is recursive, variadic, AND symmetric — with indefinite lifetime</a:t>
            </a:r>
            <a:endParaRPr lang="en-GB" sz="1700" b="0" u="none" strike="noStrike">
              <a:solidFill>
                <a:srgbClr val="FFFFFF"/>
              </a:solidFill>
              <a:effectLst/>
              <a:uFillTx/>
              <a:latin typeface="Arial"/>
            </a:endParaRPr>
          </a:p>
        </p:txBody>
      </p:sp>
      <p:sp>
        <p:nvSpPr>
          <p:cNvPr id="284" name="Shape 4"/>
          <p:cNvSpPr/>
          <p:nvPr/>
        </p:nvSpPr>
        <p:spPr>
          <a:xfrm>
            <a:off x="457200" y="2743200"/>
            <a:ext cx="2603880" cy="1826640"/>
          </a:xfrm>
          <a:prstGeom prst="rect">
            <a:avLst/>
          </a:prstGeom>
          <a:solidFill>
            <a:srgbClr val="1A2A5C"/>
          </a:solidFill>
          <a:ln w="12600">
            <a:solidFill>
              <a:srgbClr val="2A3A6E"/>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85" name="Shape 5"/>
          <p:cNvSpPr/>
          <p:nvPr/>
        </p:nvSpPr>
        <p:spPr>
          <a:xfrm>
            <a:off x="457200" y="2743200"/>
            <a:ext cx="2603880" cy="52560"/>
          </a:xfrm>
          <a:prstGeom prst="rect">
            <a:avLst/>
          </a:prstGeom>
          <a:solidFill>
            <a:srgbClr val="F7931A"/>
          </a:solidFill>
          <a:ln w="12600">
            <a:solidFill>
              <a:srgbClr val="F7931A"/>
            </a:solidFill>
            <a:round/>
          </a:ln>
        </p:spPr>
        <p:style>
          <a:lnRef idx="0"/>
          <a:fillRef idx="0"/>
          <a:effectRef idx="0"/>
          <a:fontRef idx="minor"/>
        </p:style>
        <p:txBody>
          <a:bodyPr lIns="90000" tIns="9720" rIns="90000" bIns="9720" anchor="t">
            <a:noAutofit/>
          </a:bodyPr>
          <a:p>
            <a:endParaRPr lang="en-GB" sz="1800" b="0" u="none" strike="noStrike">
              <a:solidFill>
                <a:srgbClr val="000000"/>
              </a:solidFill>
              <a:effectLst/>
              <a:uFillTx/>
              <a:latin typeface="Arial"/>
            </a:endParaRPr>
          </a:p>
        </p:txBody>
      </p:sp>
      <p:pic>
        <p:nvPicPr>
          <p:cNvPr id="286" name="Image 0" descr="preencoded.png"/>
          <p:cNvPicPr/>
          <p:nvPr/>
        </p:nvPicPr>
        <p:blipFill>
          <a:blip r:embed="rId1"/>
          <a:stretch/>
        </p:blipFill>
        <p:spPr>
          <a:xfrm>
            <a:off x="640080" y="2971800"/>
            <a:ext cx="409320" cy="409320"/>
          </a:xfrm>
          <a:prstGeom prst="rect">
            <a:avLst/>
          </a:prstGeom>
          <a:noFill/>
          <a:ln w="0">
            <a:noFill/>
          </a:ln>
        </p:spPr>
      </p:pic>
      <p:sp>
        <p:nvSpPr>
          <p:cNvPr id="287" name="Text 6"/>
          <p:cNvSpPr/>
          <p:nvPr/>
        </p:nvSpPr>
        <p:spPr>
          <a:xfrm>
            <a:off x="1143000" y="2990160"/>
            <a:ext cx="182664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mbria"/>
                <a:ea typeface="Cambria"/>
              </a:rPr>
              <a:t>Construction</a:t>
            </a:r>
            <a:endParaRPr lang="en-GB" sz="1700" b="0" u="none" strike="noStrike">
              <a:solidFill>
                <a:srgbClr val="FFFFFF"/>
              </a:solidFill>
              <a:effectLst/>
              <a:uFillTx/>
              <a:latin typeface="Arial"/>
            </a:endParaRPr>
          </a:p>
        </p:txBody>
      </p:sp>
      <p:sp>
        <p:nvSpPr>
          <p:cNvPr id="288" name="Text 7"/>
          <p:cNvSpPr/>
          <p:nvPr/>
        </p:nvSpPr>
        <p:spPr>
          <a:xfrm>
            <a:off x="640080" y="3474720"/>
            <a:ext cx="2329560" cy="104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C8D2E6"/>
                </a:solidFill>
                <a:effectLst/>
                <a:uFillTx/>
                <a:latin typeface="Calibri"/>
                <a:ea typeface="Calibri"/>
              </a:rPr>
              <a:t>Optimal O(1) round complexity for payments, optimistic close, per party unilateral close</a:t>
            </a:r>
            <a:endParaRPr lang="en-GB" sz="1100" b="0" u="none" strike="noStrike">
              <a:solidFill>
                <a:srgbClr val="FFFFFF"/>
              </a:solidFill>
              <a:effectLst/>
              <a:uFillTx/>
              <a:latin typeface="Arial"/>
            </a:endParaRPr>
          </a:p>
        </p:txBody>
      </p:sp>
      <p:sp>
        <p:nvSpPr>
          <p:cNvPr id="289" name="Shape 8"/>
          <p:cNvSpPr/>
          <p:nvPr/>
        </p:nvSpPr>
        <p:spPr>
          <a:xfrm>
            <a:off x="3246120" y="2743200"/>
            <a:ext cx="2603880" cy="1826640"/>
          </a:xfrm>
          <a:prstGeom prst="rect">
            <a:avLst/>
          </a:prstGeom>
          <a:solidFill>
            <a:srgbClr val="1A2A5C"/>
          </a:solidFill>
          <a:ln w="12600">
            <a:solidFill>
              <a:srgbClr val="2A3A6E"/>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90" name="Shape 9"/>
          <p:cNvSpPr/>
          <p:nvPr/>
        </p:nvSpPr>
        <p:spPr>
          <a:xfrm>
            <a:off x="3246120" y="2743200"/>
            <a:ext cx="2603880" cy="52560"/>
          </a:xfrm>
          <a:prstGeom prst="rect">
            <a:avLst/>
          </a:prstGeom>
          <a:solidFill>
            <a:srgbClr val="F7931A"/>
          </a:solidFill>
          <a:ln w="12600">
            <a:solidFill>
              <a:srgbClr val="F7931A"/>
            </a:solidFill>
            <a:round/>
          </a:ln>
        </p:spPr>
        <p:style>
          <a:lnRef idx="0"/>
          <a:fillRef idx="0"/>
          <a:effectRef idx="0"/>
          <a:fontRef idx="minor"/>
        </p:style>
        <p:txBody>
          <a:bodyPr lIns="90000" tIns="9720" rIns="90000" bIns="9720" anchor="t">
            <a:noAutofit/>
          </a:bodyPr>
          <a:p>
            <a:endParaRPr lang="en-GB" sz="1800" b="0" u="none" strike="noStrike">
              <a:solidFill>
                <a:srgbClr val="000000"/>
              </a:solidFill>
              <a:effectLst/>
              <a:uFillTx/>
              <a:latin typeface="Arial"/>
            </a:endParaRPr>
          </a:p>
        </p:txBody>
      </p:sp>
      <p:pic>
        <p:nvPicPr>
          <p:cNvPr id="291" name="Image 1" descr="preencoded.png"/>
          <p:cNvPicPr/>
          <p:nvPr/>
        </p:nvPicPr>
        <p:blipFill>
          <a:blip r:embed="rId2"/>
          <a:stretch/>
        </p:blipFill>
        <p:spPr>
          <a:xfrm>
            <a:off x="3429000" y="2971800"/>
            <a:ext cx="409320" cy="409320"/>
          </a:xfrm>
          <a:prstGeom prst="rect">
            <a:avLst/>
          </a:prstGeom>
          <a:noFill/>
          <a:ln w="0">
            <a:noFill/>
          </a:ln>
        </p:spPr>
      </p:pic>
      <p:sp>
        <p:nvSpPr>
          <p:cNvPr id="292" name="Text 10"/>
          <p:cNvSpPr/>
          <p:nvPr/>
        </p:nvSpPr>
        <p:spPr>
          <a:xfrm>
            <a:off x="3931920" y="2990160"/>
            <a:ext cx="182664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mbria"/>
                <a:ea typeface="Cambria"/>
              </a:rPr>
              <a:t>Security</a:t>
            </a:r>
            <a:endParaRPr lang="en-GB" sz="1700" b="0" u="none" strike="noStrike">
              <a:solidFill>
                <a:srgbClr val="FFFFFF"/>
              </a:solidFill>
              <a:effectLst/>
              <a:uFillTx/>
              <a:latin typeface="Arial"/>
            </a:endParaRPr>
          </a:p>
        </p:txBody>
      </p:sp>
      <p:sp>
        <p:nvSpPr>
          <p:cNvPr id="293" name="Text 11"/>
          <p:cNvSpPr/>
          <p:nvPr/>
        </p:nvSpPr>
        <p:spPr>
          <a:xfrm>
            <a:off x="3429000" y="3474720"/>
            <a:ext cx="2329560" cy="104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C8D2E6"/>
                </a:solidFill>
                <a:effectLst/>
                <a:uFillTx/>
                <a:latin typeface="Calibri"/>
                <a:ea typeface="Calibri"/>
              </a:rPr>
              <a:t>UC-secure with a novel induction-based proof for recursive composition + balance security</a:t>
            </a:r>
            <a:endParaRPr lang="en-GB" sz="1100" b="0" u="none" strike="noStrike">
              <a:solidFill>
                <a:srgbClr val="FFFFFF"/>
              </a:solidFill>
              <a:effectLst/>
              <a:uFillTx/>
              <a:latin typeface="Arial"/>
            </a:endParaRPr>
          </a:p>
        </p:txBody>
      </p:sp>
      <p:sp>
        <p:nvSpPr>
          <p:cNvPr id="294" name="Shape 12"/>
          <p:cNvSpPr/>
          <p:nvPr/>
        </p:nvSpPr>
        <p:spPr>
          <a:xfrm>
            <a:off x="6035040" y="2743200"/>
            <a:ext cx="2603880" cy="1826640"/>
          </a:xfrm>
          <a:prstGeom prst="rect">
            <a:avLst/>
          </a:prstGeom>
          <a:solidFill>
            <a:srgbClr val="1A2A5C"/>
          </a:solidFill>
          <a:ln w="12600">
            <a:solidFill>
              <a:srgbClr val="2A3A6E"/>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95" name="Shape 13"/>
          <p:cNvSpPr/>
          <p:nvPr/>
        </p:nvSpPr>
        <p:spPr>
          <a:xfrm>
            <a:off x="6035040" y="2743200"/>
            <a:ext cx="2603880" cy="52560"/>
          </a:xfrm>
          <a:prstGeom prst="rect">
            <a:avLst/>
          </a:prstGeom>
          <a:solidFill>
            <a:srgbClr val="F7931A"/>
          </a:solidFill>
          <a:ln w="12600">
            <a:solidFill>
              <a:srgbClr val="F7931A"/>
            </a:solidFill>
            <a:round/>
          </a:ln>
        </p:spPr>
        <p:style>
          <a:lnRef idx="0"/>
          <a:fillRef idx="0"/>
          <a:effectRef idx="0"/>
          <a:fontRef idx="minor"/>
        </p:style>
        <p:txBody>
          <a:bodyPr lIns="90000" tIns="9720" rIns="90000" bIns="9720" anchor="t">
            <a:noAutofit/>
          </a:bodyPr>
          <a:p>
            <a:endParaRPr lang="en-GB" sz="1800" b="0" u="none" strike="noStrike">
              <a:solidFill>
                <a:srgbClr val="000000"/>
              </a:solidFill>
              <a:effectLst/>
              <a:uFillTx/>
              <a:latin typeface="Arial"/>
            </a:endParaRPr>
          </a:p>
        </p:txBody>
      </p:sp>
      <p:pic>
        <p:nvPicPr>
          <p:cNvPr id="296" name="Image 2" descr="preencoded.png"/>
          <p:cNvPicPr/>
          <p:nvPr/>
        </p:nvPicPr>
        <p:blipFill>
          <a:blip r:embed="rId3"/>
          <a:stretch/>
        </p:blipFill>
        <p:spPr>
          <a:xfrm>
            <a:off x="6217920" y="2971800"/>
            <a:ext cx="409320" cy="409320"/>
          </a:xfrm>
          <a:prstGeom prst="rect">
            <a:avLst/>
          </a:prstGeom>
          <a:noFill/>
          <a:ln w="0">
            <a:noFill/>
          </a:ln>
        </p:spPr>
      </p:pic>
      <p:sp>
        <p:nvSpPr>
          <p:cNvPr id="297" name="Text 14"/>
          <p:cNvSpPr/>
          <p:nvPr/>
        </p:nvSpPr>
        <p:spPr>
          <a:xfrm>
            <a:off x="6720840" y="2990160"/>
            <a:ext cx="1826640" cy="38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mbria"/>
                <a:ea typeface="Cambria"/>
              </a:rPr>
              <a:t>Evaluation</a:t>
            </a:r>
            <a:endParaRPr lang="en-GB" sz="1700" b="0" u="none" strike="noStrike">
              <a:solidFill>
                <a:srgbClr val="FFFFFF"/>
              </a:solidFill>
              <a:effectLst/>
              <a:uFillTx/>
              <a:latin typeface="Arial"/>
            </a:endParaRPr>
          </a:p>
        </p:txBody>
      </p:sp>
      <p:sp>
        <p:nvSpPr>
          <p:cNvPr id="298" name="Text 15"/>
          <p:cNvSpPr/>
          <p:nvPr/>
        </p:nvSpPr>
        <p:spPr>
          <a:xfrm>
            <a:off x="6217920" y="3474720"/>
            <a:ext cx="2329560" cy="104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C8D2E6"/>
                </a:solidFill>
                <a:effectLst/>
                <a:uFillTx/>
                <a:latin typeface="Calibri"/>
                <a:ea typeface="Calibri"/>
              </a:rPr>
              <a:t>Open-source simulation framework — on par with or better than Donner &amp; LVPC</a:t>
            </a:r>
            <a:endParaRPr lang="en-GB" sz="1100" b="0" u="none" strike="noStrike">
              <a:solidFill>
                <a:srgbClr val="FFFFFF"/>
              </a:solidFill>
              <a:effectLst/>
              <a:uFillTx/>
              <a:latin typeface="Arial"/>
            </a:endParaRPr>
          </a:p>
        </p:txBody>
      </p:sp>
      <p:sp>
        <p:nvSpPr>
          <p:cNvPr id="299" name="Text 16"/>
          <p:cNvSpPr/>
          <p:nvPr/>
        </p:nvSpPr>
        <p:spPr>
          <a:xfrm>
            <a:off x="457200" y="4709160"/>
            <a:ext cx="822744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F5C26B"/>
                </a:solidFill>
                <a:effectLst/>
                <a:uFillTx/>
                <a:latin typeface="Calibri"/>
                <a:ea typeface="Calibri"/>
              </a:rPr>
              <a:t>Requires ANYPREVOUT — a proposed Bitcoin update we'll explain shortly.</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0"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An Elmo </a:t>
            </a:r>
            <a:r>
              <a:rPr lang="en-US" sz="2600" b="1" i="1" u="none" strike="noStrike">
                <a:solidFill>
                  <a:srgbClr val="0F1B3D"/>
                </a:solidFill>
                <a:effectLst/>
                <a:uFillTx/>
                <a:latin typeface="Cambria"/>
                <a:ea typeface="Cambria"/>
              </a:rPr>
              <a:t>simple </a:t>
            </a:r>
            <a:r>
              <a:rPr lang="en-US" sz="2600" b="1" u="none" strike="noStrike">
                <a:solidFill>
                  <a:srgbClr val="0F1B3D"/>
                </a:solidFill>
                <a:effectLst/>
                <a:uFillTx/>
                <a:latin typeface="Cambria"/>
                <a:ea typeface="Cambria"/>
              </a:rPr>
              <a:t>channel</a:t>
            </a:r>
            <a:endParaRPr lang="en-GB" sz="2600" b="0" u="none" strike="noStrike">
              <a:solidFill>
                <a:srgbClr val="000000"/>
              </a:solidFill>
              <a:effectLst/>
              <a:uFillTx/>
              <a:latin typeface="Arial"/>
            </a:endParaRPr>
          </a:p>
        </p:txBody>
      </p:sp>
      <p:sp>
        <p:nvSpPr>
          <p:cNvPr id="301"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Like a Lightning channel</a:t>
            </a:r>
            <a:endParaRPr lang="en-GB" sz="1300" b="0" u="none" strike="noStrike">
              <a:solidFill>
                <a:srgbClr val="000000"/>
              </a:solidFill>
              <a:effectLst/>
              <a:uFillTx/>
              <a:latin typeface="Arial"/>
            </a:endParaRPr>
          </a:p>
        </p:txBody>
      </p:sp>
      <p:sp>
        <p:nvSpPr>
          <p:cNvPr id="302" name="Shape 3"/>
          <p:cNvSpPr/>
          <p:nvPr/>
        </p:nvSpPr>
        <p:spPr>
          <a:xfrm>
            <a:off x="1097280" y="1737360"/>
            <a:ext cx="1643760" cy="1278000"/>
          </a:xfrm>
          <a:prstGeom prst="rect">
            <a:avLst/>
          </a:prstGeom>
          <a:solidFill>
            <a:srgbClr val="FFFFFF"/>
          </a:solidFill>
          <a:ln w="12600">
            <a:solidFill>
              <a:srgbClr val="9CA3A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03" name="Text 4"/>
          <p:cNvSpPr/>
          <p:nvPr/>
        </p:nvSpPr>
        <p:spPr>
          <a:xfrm>
            <a:off x="1097280" y="1755720"/>
            <a:ext cx="164376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F1B3D"/>
                </a:solidFill>
                <a:effectLst/>
                <a:uFillTx/>
                <a:latin typeface="Cambria"/>
                <a:ea typeface="Cambria"/>
              </a:rPr>
              <a:t>Funding F</a:t>
            </a:r>
            <a:endParaRPr lang="en-GB" sz="1100" b="0" u="none" strike="noStrike">
              <a:solidFill>
                <a:srgbClr val="000000"/>
              </a:solidFill>
              <a:effectLst/>
              <a:uFillTx/>
              <a:latin typeface="Arial"/>
            </a:endParaRPr>
          </a:p>
        </p:txBody>
      </p:sp>
      <p:sp>
        <p:nvSpPr>
          <p:cNvPr id="304" name="Text 5"/>
          <p:cNvSpPr/>
          <p:nvPr/>
        </p:nvSpPr>
        <p:spPr>
          <a:xfrm>
            <a:off x="1097280" y="2030040"/>
            <a:ext cx="82080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In</a:t>
            </a:r>
            <a:endParaRPr lang="en-GB" sz="900" b="0" u="none" strike="noStrike">
              <a:solidFill>
                <a:srgbClr val="000000"/>
              </a:solidFill>
              <a:effectLst/>
              <a:uFillTx/>
              <a:latin typeface="Arial"/>
            </a:endParaRPr>
          </a:p>
        </p:txBody>
      </p:sp>
      <p:sp>
        <p:nvSpPr>
          <p:cNvPr id="305" name="Text 6"/>
          <p:cNvSpPr/>
          <p:nvPr/>
        </p:nvSpPr>
        <p:spPr>
          <a:xfrm>
            <a:off x="1920240" y="2030040"/>
            <a:ext cx="82080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Out</a:t>
            </a:r>
            <a:endParaRPr lang="en-GB" sz="900" b="0" u="none" strike="noStrike">
              <a:solidFill>
                <a:srgbClr val="000000"/>
              </a:solidFill>
              <a:effectLst/>
              <a:uFillTx/>
              <a:latin typeface="Arial"/>
            </a:endParaRPr>
          </a:p>
        </p:txBody>
      </p:sp>
      <p:sp>
        <p:nvSpPr>
          <p:cNvPr id="306" name="Shape 7"/>
          <p:cNvSpPr/>
          <p:nvPr/>
        </p:nvSpPr>
        <p:spPr>
          <a:xfrm>
            <a:off x="1920240" y="2029680"/>
            <a:ext cx="360" cy="932760"/>
          </a:xfrm>
          <a:prstGeom prst="line">
            <a:avLst/>
          </a:prstGeom>
          <a:ln w="6480">
            <a:solidFill>
              <a:srgbClr val="D1D5DB"/>
            </a:solidFill>
            <a:roun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307" name="Shape 8"/>
          <p:cNvSpPr/>
          <p:nvPr/>
        </p:nvSpPr>
        <p:spPr>
          <a:xfrm>
            <a:off x="1188720" y="2299680"/>
            <a:ext cx="63792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08" name="Text 9"/>
          <p:cNvSpPr/>
          <p:nvPr/>
        </p:nvSpPr>
        <p:spPr>
          <a:xfrm>
            <a:off x="1188720" y="2299680"/>
            <a:ext cx="63792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3₿</a:t>
            </a:r>
            <a:endParaRPr lang="en-GB" sz="900" b="0" u="none" strike="noStrike">
              <a:solidFill>
                <a:srgbClr val="000000"/>
              </a:solidFill>
              <a:effectLst/>
              <a:uFillTx/>
              <a:latin typeface="Arial"/>
            </a:endParaRPr>
          </a:p>
        </p:txBody>
      </p:sp>
      <p:sp>
        <p:nvSpPr>
          <p:cNvPr id="309" name="Shape 10"/>
          <p:cNvSpPr/>
          <p:nvPr/>
        </p:nvSpPr>
        <p:spPr>
          <a:xfrm>
            <a:off x="1188720" y="2638080"/>
            <a:ext cx="63792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10" name="Text 11"/>
          <p:cNvSpPr/>
          <p:nvPr/>
        </p:nvSpPr>
        <p:spPr>
          <a:xfrm>
            <a:off x="1188720" y="2638080"/>
            <a:ext cx="63792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1₿</a:t>
            </a:r>
            <a:endParaRPr lang="en-GB" sz="900" b="0" u="none" strike="noStrike">
              <a:solidFill>
                <a:srgbClr val="000000"/>
              </a:solidFill>
              <a:effectLst/>
              <a:uFillTx/>
              <a:latin typeface="Arial"/>
            </a:endParaRPr>
          </a:p>
        </p:txBody>
      </p:sp>
      <p:sp>
        <p:nvSpPr>
          <p:cNvPr id="311" name="Shape 12"/>
          <p:cNvSpPr/>
          <p:nvPr/>
        </p:nvSpPr>
        <p:spPr>
          <a:xfrm>
            <a:off x="2011680" y="2468880"/>
            <a:ext cx="63792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12" name="Text 13"/>
          <p:cNvSpPr/>
          <p:nvPr/>
        </p:nvSpPr>
        <p:spPr>
          <a:xfrm>
            <a:off x="2011680" y="2468880"/>
            <a:ext cx="63792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4₿</a:t>
            </a:r>
            <a:endParaRPr lang="en-GB" sz="900" b="0" u="none" strike="noStrike">
              <a:solidFill>
                <a:srgbClr val="000000"/>
              </a:solidFill>
              <a:effectLst/>
              <a:uFillTx/>
              <a:latin typeface="Arial"/>
            </a:endParaRPr>
          </a:p>
        </p:txBody>
      </p:sp>
      <p:sp>
        <p:nvSpPr>
          <p:cNvPr id="313" name="Text 14"/>
          <p:cNvSpPr/>
          <p:nvPr/>
        </p:nvSpPr>
        <p:spPr>
          <a:xfrm>
            <a:off x="1097280" y="3035880"/>
            <a:ext cx="164376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i="1" u="none" strike="noStrike">
                <a:solidFill>
                  <a:srgbClr val="5A6B8C"/>
                </a:solidFill>
                <a:effectLst/>
                <a:uFillTx/>
                <a:latin typeface="Calibri"/>
                <a:ea typeface="Calibri"/>
              </a:rPr>
              <a:t>on-chain</a:t>
            </a:r>
            <a:endParaRPr lang="en-GB" sz="900" b="0" u="none" strike="noStrike">
              <a:solidFill>
                <a:srgbClr val="000000"/>
              </a:solidFill>
              <a:effectLst/>
              <a:uFillTx/>
              <a:latin typeface="Arial"/>
            </a:endParaRPr>
          </a:p>
        </p:txBody>
      </p:sp>
      <p:sp>
        <p:nvSpPr>
          <p:cNvPr id="314" name="Text 15"/>
          <p:cNvSpPr/>
          <p:nvPr/>
        </p:nvSpPr>
        <p:spPr>
          <a:xfrm>
            <a:off x="640080" y="2302560"/>
            <a:ext cx="363600" cy="27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0F1B3D"/>
                </a:solidFill>
                <a:effectLst/>
                <a:uFillTx/>
                <a:latin typeface="Cambria"/>
                <a:ea typeface="Cambria"/>
              </a:rPr>
              <a:t>A</a:t>
            </a:r>
            <a:endParaRPr lang="en-GB" sz="1100" b="0" u="none" strike="noStrike">
              <a:solidFill>
                <a:srgbClr val="000000"/>
              </a:solidFill>
              <a:effectLst/>
              <a:uFillTx/>
              <a:latin typeface="Arial"/>
            </a:endParaRPr>
          </a:p>
        </p:txBody>
      </p:sp>
      <p:sp>
        <p:nvSpPr>
          <p:cNvPr id="315" name="Text 16"/>
          <p:cNvSpPr/>
          <p:nvPr/>
        </p:nvSpPr>
        <p:spPr>
          <a:xfrm>
            <a:off x="640080" y="2668320"/>
            <a:ext cx="363600" cy="27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0F1B3D"/>
                </a:solidFill>
                <a:effectLst/>
                <a:uFillTx/>
                <a:latin typeface="Cambria"/>
                <a:ea typeface="Cambria"/>
              </a:rPr>
              <a:t>B</a:t>
            </a:r>
            <a:endParaRPr lang="en-GB" sz="1100" b="0" u="none" strike="noStrike">
              <a:solidFill>
                <a:srgbClr val="000000"/>
              </a:solidFill>
              <a:effectLst/>
              <a:uFillTx/>
              <a:latin typeface="Arial"/>
            </a:endParaRPr>
          </a:p>
        </p:txBody>
      </p:sp>
      <p:sp>
        <p:nvSpPr>
          <p:cNvPr id="316" name="Shape 17"/>
          <p:cNvSpPr/>
          <p:nvPr/>
        </p:nvSpPr>
        <p:spPr>
          <a:xfrm>
            <a:off x="1023840" y="2439720"/>
            <a:ext cx="119160" cy="360"/>
          </a:xfrm>
          <a:prstGeom prst="line">
            <a:avLst/>
          </a:prstGeom>
          <a:ln w="12600">
            <a:solidFill>
              <a:srgbClr val="374151"/>
            </a:solidFill>
            <a:round/>
            <a:tailEnd len="med" type="triangle" w="med"/>
          </a:ln>
        </p:spPr>
        <p:style>
          <a:lnRef idx="0"/>
          <a:fillRef idx="0"/>
          <a:effectRef idx="0"/>
          <a:fontRef idx="minor"/>
        </p:style>
        <p:txBody>
          <a:bodyPr lIns="59400" tIns="-44640" rIns="59400" bIns="-44640" anchor="t" anchorCtr="1">
            <a:noAutofit/>
          </a:bodyPr>
          <a:p>
            <a:endParaRPr lang="en-GB" sz="1800" b="0" u="none" strike="noStrike">
              <a:solidFill>
                <a:srgbClr val="000000"/>
              </a:solidFill>
              <a:effectLst/>
              <a:uFillTx/>
              <a:latin typeface="Arial"/>
            </a:endParaRPr>
          </a:p>
        </p:txBody>
      </p:sp>
      <p:sp>
        <p:nvSpPr>
          <p:cNvPr id="317" name="Shape 18"/>
          <p:cNvSpPr/>
          <p:nvPr/>
        </p:nvSpPr>
        <p:spPr>
          <a:xfrm>
            <a:off x="1023840" y="2805480"/>
            <a:ext cx="119160" cy="360"/>
          </a:xfrm>
          <a:prstGeom prst="line">
            <a:avLst/>
          </a:prstGeom>
          <a:ln w="12600">
            <a:solidFill>
              <a:srgbClr val="374151"/>
            </a:solidFill>
            <a:round/>
            <a:tailEnd len="med" type="triangle" w="med"/>
          </a:ln>
        </p:spPr>
        <p:style>
          <a:lnRef idx="0"/>
          <a:fillRef idx="0"/>
          <a:effectRef idx="0"/>
          <a:fontRef idx="minor"/>
        </p:style>
        <p:txBody>
          <a:bodyPr lIns="59400" tIns="-44640" rIns="59400" bIns="-44640" anchor="t" anchorCtr="1">
            <a:noAutofit/>
          </a:bodyPr>
          <a:p>
            <a:endParaRPr lang="en-GB" sz="1800" b="0" u="none" strike="noStrike">
              <a:solidFill>
                <a:srgbClr val="000000"/>
              </a:solidFill>
              <a:effectLst/>
              <a:uFillTx/>
              <a:latin typeface="Arial"/>
            </a:endParaRPr>
          </a:p>
        </p:txBody>
      </p:sp>
      <p:sp>
        <p:nvSpPr>
          <p:cNvPr id="318" name="Shape 19"/>
          <p:cNvSpPr/>
          <p:nvPr/>
        </p:nvSpPr>
        <p:spPr>
          <a:xfrm>
            <a:off x="2788920" y="2629440"/>
            <a:ext cx="73152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319" name="Text 20"/>
          <p:cNvSpPr/>
          <p:nvPr/>
        </p:nvSpPr>
        <p:spPr>
          <a:xfrm>
            <a:off x="2743200" y="2446560"/>
            <a:ext cx="82080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i="1" u="none" strike="noStrike">
                <a:solidFill>
                  <a:srgbClr val="5A6B8C"/>
                </a:solidFill>
                <a:effectLst/>
                <a:uFillTx/>
                <a:latin typeface="Calibri"/>
                <a:ea typeface="Calibri"/>
              </a:rPr>
              <a:t>CheckMultiSig</a:t>
            </a:r>
            <a:endParaRPr lang="en-GB" sz="800" b="0" u="none" strike="noStrike">
              <a:solidFill>
                <a:srgbClr val="000000"/>
              </a:solidFill>
              <a:effectLst/>
              <a:uFillTx/>
              <a:latin typeface="Arial"/>
            </a:endParaRPr>
          </a:p>
        </p:txBody>
      </p:sp>
      <p:sp>
        <p:nvSpPr>
          <p:cNvPr id="320" name="Text 21"/>
          <p:cNvSpPr/>
          <p:nvPr/>
        </p:nvSpPr>
        <p:spPr>
          <a:xfrm>
            <a:off x="2743200" y="2656800"/>
            <a:ext cx="82080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5E72E4"/>
                </a:solidFill>
                <a:effectLst/>
                <a:uFillTx/>
                <a:latin typeface="Calibri"/>
                <a:ea typeface="Calibri"/>
              </a:rPr>
              <a:t>A &amp; B</a:t>
            </a:r>
            <a:endParaRPr lang="en-GB" sz="800" b="0" u="none" strike="noStrike">
              <a:solidFill>
                <a:srgbClr val="000000"/>
              </a:solidFill>
              <a:effectLst/>
              <a:uFillTx/>
              <a:latin typeface="Arial"/>
            </a:endParaRPr>
          </a:p>
        </p:txBody>
      </p:sp>
      <p:sp>
        <p:nvSpPr>
          <p:cNvPr id="321" name="Shape 22"/>
          <p:cNvSpPr/>
          <p:nvPr/>
        </p:nvSpPr>
        <p:spPr>
          <a:xfrm>
            <a:off x="3566160" y="1737360"/>
            <a:ext cx="1918080" cy="1278000"/>
          </a:xfrm>
          <a:prstGeom prst="rect">
            <a:avLst/>
          </a:prstGeom>
          <a:solidFill>
            <a:srgbClr val="FFFFFF"/>
          </a:solidFill>
          <a:ln w="12600">
            <a:solidFill>
              <a:srgbClr val="9CA3A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22" name="Text 23"/>
          <p:cNvSpPr/>
          <p:nvPr/>
        </p:nvSpPr>
        <p:spPr>
          <a:xfrm>
            <a:off x="3566160" y="1755720"/>
            <a:ext cx="1918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F1B3D"/>
                </a:solidFill>
                <a:effectLst/>
                <a:uFillTx/>
                <a:latin typeface="Cambria"/>
                <a:ea typeface="Cambria"/>
              </a:rPr>
              <a:t>Commitment C</a:t>
            </a:r>
            <a:r>
              <a:rPr lang="en-US" sz="1100" b="1" u="none" strike="noStrike" baseline="-8000">
                <a:solidFill>
                  <a:srgbClr val="0F1B3D"/>
                </a:solidFill>
                <a:effectLst/>
                <a:uFillTx/>
                <a:latin typeface="Cambria"/>
                <a:ea typeface="Cambria"/>
              </a:rPr>
              <a:t>A</a:t>
            </a:r>
            <a:endParaRPr lang="en-GB" sz="1100" b="0" u="none" strike="noStrike">
              <a:solidFill>
                <a:srgbClr val="000000"/>
              </a:solidFill>
              <a:effectLst/>
              <a:uFillTx/>
              <a:latin typeface="Arial"/>
            </a:endParaRPr>
          </a:p>
        </p:txBody>
      </p:sp>
      <p:sp>
        <p:nvSpPr>
          <p:cNvPr id="323" name="Text 24"/>
          <p:cNvSpPr/>
          <p:nvPr/>
        </p:nvSpPr>
        <p:spPr>
          <a:xfrm>
            <a:off x="3566160" y="2030040"/>
            <a:ext cx="95796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In</a:t>
            </a:r>
            <a:endParaRPr lang="en-GB" sz="900" b="0" u="none" strike="noStrike">
              <a:solidFill>
                <a:srgbClr val="000000"/>
              </a:solidFill>
              <a:effectLst/>
              <a:uFillTx/>
              <a:latin typeface="Arial"/>
            </a:endParaRPr>
          </a:p>
        </p:txBody>
      </p:sp>
      <p:sp>
        <p:nvSpPr>
          <p:cNvPr id="324" name="Text 25"/>
          <p:cNvSpPr/>
          <p:nvPr/>
        </p:nvSpPr>
        <p:spPr>
          <a:xfrm>
            <a:off x="4526280" y="2030040"/>
            <a:ext cx="95796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Out</a:t>
            </a:r>
            <a:endParaRPr lang="en-GB" sz="900" b="0" u="none" strike="noStrike">
              <a:solidFill>
                <a:srgbClr val="000000"/>
              </a:solidFill>
              <a:effectLst/>
              <a:uFillTx/>
              <a:latin typeface="Arial"/>
            </a:endParaRPr>
          </a:p>
        </p:txBody>
      </p:sp>
      <p:sp>
        <p:nvSpPr>
          <p:cNvPr id="325" name="Shape 26"/>
          <p:cNvSpPr/>
          <p:nvPr/>
        </p:nvSpPr>
        <p:spPr>
          <a:xfrm>
            <a:off x="4526280" y="2029680"/>
            <a:ext cx="360" cy="932760"/>
          </a:xfrm>
          <a:prstGeom prst="line">
            <a:avLst/>
          </a:prstGeom>
          <a:ln w="6480">
            <a:solidFill>
              <a:srgbClr val="D1D5DB"/>
            </a:solidFill>
            <a:roun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326" name="Shape 27"/>
          <p:cNvSpPr/>
          <p:nvPr/>
        </p:nvSpPr>
        <p:spPr>
          <a:xfrm>
            <a:off x="3657600" y="2468880"/>
            <a:ext cx="775080" cy="290520"/>
          </a:xfrm>
          <a:prstGeom prst="rect">
            <a:avLst/>
          </a:prstGeom>
          <a:solidFill>
            <a:srgbClr val="FFFFFF"/>
          </a:solidFill>
          <a:ln w="12600">
            <a:solidFill>
              <a:srgbClr val="F7931A"/>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27" name="Text 28"/>
          <p:cNvSpPr/>
          <p:nvPr/>
        </p:nvSpPr>
        <p:spPr>
          <a:xfrm>
            <a:off x="3657600" y="246888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4₿</a:t>
            </a:r>
            <a:endParaRPr lang="en-GB" sz="900" b="0" u="none" strike="noStrike">
              <a:solidFill>
                <a:srgbClr val="000000"/>
              </a:solidFill>
              <a:effectLst/>
              <a:uFillTx/>
              <a:latin typeface="Arial"/>
            </a:endParaRPr>
          </a:p>
        </p:txBody>
      </p:sp>
      <p:sp>
        <p:nvSpPr>
          <p:cNvPr id="328" name="Shape 29"/>
          <p:cNvSpPr/>
          <p:nvPr/>
        </p:nvSpPr>
        <p:spPr>
          <a:xfrm>
            <a:off x="4617720" y="229968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29" name="Text 30"/>
          <p:cNvSpPr/>
          <p:nvPr/>
        </p:nvSpPr>
        <p:spPr>
          <a:xfrm>
            <a:off x="4617720" y="229968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3₿</a:t>
            </a:r>
            <a:endParaRPr lang="en-GB" sz="900" b="0" u="none" strike="noStrike">
              <a:solidFill>
                <a:srgbClr val="000000"/>
              </a:solidFill>
              <a:effectLst/>
              <a:uFillTx/>
              <a:latin typeface="Arial"/>
            </a:endParaRPr>
          </a:p>
        </p:txBody>
      </p:sp>
      <p:sp>
        <p:nvSpPr>
          <p:cNvPr id="330" name="Shape 31"/>
          <p:cNvSpPr/>
          <p:nvPr/>
        </p:nvSpPr>
        <p:spPr>
          <a:xfrm>
            <a:off x="4617720" y="263808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31" name="Text 32"/>
          <p:cNvSpPr/>
          <p:nvPr/>
        </p:nvSpPr>
        <p:spPr>
          <a:xfrm>
            <a:off x="4617720" y="263808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1₿</a:t>
            </a:r>
            <a:endParaRPr lang="en-GB" sz="900" b="0" u="none" strike="noStrike">
              <a:solidFill>
                <a:srgbClr val="000000"/>
              </a:solidFill>
              <a:effectLst/>
              <a:uFillTx/>
              <a:latin typeface="Arial"/>
            </a:endParaRPr>
          </a:p>
        </p:txBody>
      </p:sp>
      <p:sp>
        <p:nvSpPr>
          <p:cNvPr id="332" name="Text 33"/>
          <p:cNvSpPr/>
          <p:nvPr/>
        </p:nvSpPr>
        <p:spPr>
          <a:xfrm>
            <a:off x="3566160" y="3035880"/>
            <a:ext cx="191808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i="1" u="none" strike="noStrike">
                <a:solidFill>
                  <a:srgbClr val="5A6B8C"/>
                </a:solidFill>
                <a:effectLst/>
                <a:uFillTx/>
                <a:latin typeface="Calibri"/>
                <a:ea typeface="Calibri"/>
              </a:rPr>
              <a:t>held off-chain by A</a:t>
            </a:r>
            <a:endParaRPr lang="en-GB" sz="900" b="0" u="none" strike="noStrike">
              <a:solidFill>
                <a:srgbClr val="000000"/>
              </a:solidFill>
              <a:effectLst/>
              <a:uFillTx/>
              <a:latin typeface="Arial"/>
            </a:endParaRPr>
          </a:p>
        </p:txBody>
      </p:sp>
      <p:sp>
        <p:nvSpPr>
          <p:cNvPr id="333" name="Text 34"/>
          <p:cNvSpPr/>
          <p:nvPr/>
        </p:nvSpPr>
        <p:spPr>
          <a:xfrm>
            <a:off x="5532120" y="2178000"/>
            <a:ext cx="27216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B3D"/>
                </a:solidFill>
                <a:effectLst/>
                <a:uFillTx/>
                <a:latin typeface="Cambria"/>
                <a:ea typeface="Cambria"/>
              </a:rPr>
              <a:t>A+Δ</a:t>
            </a:r>
            <a:endParaRPr lang="en-GB" sz="1100" b="0" u="none" strike="noStrike">
              <a:solidFill>
                <a:srgbClr val="000000"/>
              </a:solidFill>
              <a:effectLst/>
              <a:uFillTx/>
              <a:latin typeface="Arial"/>
            </a:endParaRPr>
          </a:p>
        </p:txBody>
      </p:sp>
      <p:sp>
        <p:nvSpPr>
          <p:cNvPr id="334" name="Text 35"/>
          <p:cNvSpPr/>
          <p:nvPr/>
        </p:nvSpPr>
        <p:spPr>
          <a:xfrm>
            <a:off x="5640120" y="2534040"/>
            <a:ext cx="27216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B3D"/>
                </a:solidFill>
                <a:effectLst/>
                <a:uFillTx/>
                <a:latin typeface="Cambria"/>
                <a:ea typeface="Cambria"/>
              </a:rPr>
              <a:t>B</a:t>
            </a:r>
            <a:endParaRPr lang="en-GB" sz="1100" b="0" u="none" strike="noStrike">
              <a:solidFill>
                <a:srgbClr val="000000"/>
              </a:solidFill>
              <a:effectLst/>
              <a:uFillTx/>
              <a:latin typeface="Arial"/>
            </a:endParaRPr>
          </a:p>
        </p:txBody>
      </p:sp>
      <p:sp>
        <p:nvSpPr>
          <p:cNvPr id="335" name="Text 36"/>
          <p:cNvSpPr/>
          <p:nvPr/>
        </p:nvSpPr>
        <p:spPr>
          <a:xfrm>
            <a:off x="5943600" y="843120"/>
            <a:ext cx="21009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5A6B8C"/>
                </a:solidFill>
                <a:effectLst/>
                <a:uFillTx/>
                <a:latin typeface="Calibri"/>
                <a:ea typeface="Calibri"/>
              </a:rPr>
              <a:t>B holds a symmetric C</a:t>
            </a:r>
            <a:r>
              <a:rPr lang="en-US" sz="1000" b="0" i="1" u="none" strike="noStrike" baseline="-8000">
                <a:solidFill>
                  <a:srgbClr val="5A6B8C"/>
                </a:solidFill>
                <a:effectLst/>
                <a:uFillTx/>
                <a:latin typeface="Calibri"/>
                <a:ea typeface="Calibri"/>
              </a:rPr>
              <a:t>B</a:t>
            </a:r>
            <a:endParaRPr lang="en-GB" sz="1000" b="0" u="none" strike="noStrike">
              <a:solidFill>
                <a:srgbClr val="000000"/>
              </a:solidFill>
              <a:effectLst/>
              <a:uFillTx/>
              <a:latin typeface="Arial"/>
            </a:endParaRPr>
          </a:p>
        </p:txBody>
      </p:sp>
      <p:sp>
        <p:nvSpPr>
          <p:cNvPr id="336" name="Text 37"/>
          <p:cNvSpPr/>
          <p:nvPr/>
        </p:nvSpPr>
        <p:spPr>
          <a:xfrm>
            <a:off x="5943600" y="1117440"/>
            <a:ext cx="21009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5A6B8C"/>
                </a:solidFill>
                <a:effectLst/>
                <a:uFillTx/>
                <a:latin typeface="Calibri"/>
                <a:ea typeface="Calibri"/>
              </a:rPr>
              <a:t>Δ = relative timelock (e.g. 5 days)</a:t>
            </a:r>
            <a:endParaRPr lang="en-GB" sz="900" b="0" u="none" strike="noStrike">
              <a:solidFill>
                <a:srgbClr val="000000"/>
              </a:solidFill>
              <a:effectLst/>
              <a:uFillTx/>
              <a:latin typeface="Arial"/>
            </a:endParaRPr>
          </a:p>
        </p:txBody>
      </p:sp>
      <p:sp>
        <p:nvSpPr>
          <p:cNvPr id="337" name="Shape 38"/>
          <p:cNvSpPr/>
          <p:nvPr/>
        </p:nvSpPr>
        <p:spPr>
          <a:xfrm>
            <a:off x="5943600" y="1437480"/>
            <a:ext cx="180720" cy="135000"/>
          </a:xfrm>
          <a:prstGeom prst="rect">
            <a:avLst/>
          </a:prstGeom>
          <a:solidFill>
            <a:srgbClr val="FFFFFF"/>
          </a:solidFill>
          <a:ln w="12600">
            <a:solidFill>
              <a:srgbClr val="F7931A"/>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38" name="Text 39"/>
          <p:cNvSpPr/>
          <p:nvPr/>
        </p:nvSpPr>
        <p:spPr>
          <a:xfrm>
            <a:off x="6172200" y="1428480"/>
            <a:ext cx="1460880" cy="1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5A6B8C"/>
                </a:solidFill>
                <a:effectLst/>
                <a:uFillTx/>
                <a:latin typeface="Calibri"/>
                <a:ea typeface="Calibri"/>
              </a:rPr>
              <a:t>= pre-signed</a:t>
            </a:r>
            <a:endParaRPr lang="en-GB" sz="800" b="0" u="none" strike="noStrike">
              <a:solidFill>
                <a:srgbClr val="000000"/>
              </a:solidFill>
              <a:effectLst/>
              <a:uFillTx/>
              <a:latin typeface="Arial"/>
            </a:endParaRPr>
          </a:p>
        </p:txBody>
      </p:sp>
      <p:sp>
        <p:nvSpPr>
          <p:cNvPr id="339" name="Shape 40"/>
          <p:cNvSpPr/>
          <p:nvPr/>
        </p:nvSpPr>
        <p:spPr>
          <a:xfrm>
            <a:off x="365760" y="3383280"/>
            <a:ext cx="2695320" cy="1278000"/>
          </a:xfrm>
          <a:prstGeom prst="rect">
            <a:avLst/>
          </a:prstGeom>
          <a:solidFill>
            <a:srgbClr val="EEF1F8"/>
          </a:solidFill>
          <a:ln w="12600">
            <a:solidFill>
              <a:srgbClr val="DDE3F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40" name="Text 41"/>
          <p:cNvSpPr/>
          <p:nvPr/>
        </p:nvSpPr>
        <p:spPr>
          <a:xfrm>
            <a:off x="502920" y="3474720"/>
            <a:ext cx="246672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7931A"/>
                </a:solidFill>
                <a:effectLst/>
                <a:uFillTx/>
                <a:latin typeface="Cambria"/>
                <a:ea typeface="Cambria"/>
              </a:rPr>
              <a:t>Open</a:t>
            </a:r>
            <a:endParaRPr lang="en-GB" sz="1300" b="0" u="none" strike="noStrike">
              <a:solidFill>
                <a:srgbClr val="000000"/>
              </a:solidFill>
              <a:effectLst/>
              <a:uFillTx/>
              <a:latin typeface="Arial"/>
            </a:endParaRPr>
          </a:p>
        </p:txBody>
      </p:sp>
      <p:sp>
        <p:nvSpPr>
          <p:cNvPr id="341" name="Text 42"/>
          <p:cNvSpPr/>
          <p:nvPr/>
        </p:nvSpPr>
        <p:spPr>
          <a:xfrm>
            <a:off x="502920" y="3840480"/>
            <a:ext cx="2466720" cy="775080"/>
          </a:xfrm>
          <a:prstGeom prst="rect">
            <a:avLst/>
          </a:prstGeom>
          <a:noFill/>
          <a:ln w="0">
            <a:noFill/>
          </a:ln>
        </p:spPr>
        <p:style>
          <a:lnRef idx="0"/>
          <a:fillRef idx="0"/>
          <a:effectRef idx="0"/>
          <a:fontRef idx="minor"/>
        </p:style>
        <p:txBody>
          <a:bodyPr lIns="0" tIns="0" rIns="0" bIns="0" anchor="ctr">
            <a:noAutofit/>
          </a:bodyPr>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Sign C</a:t>
            </a:r>
            <a:r>
              <a:rPr lang="en-US" sz="1000" b="0" u="none" strike="noStrike" baseline="-8000">
                <a:solidFill>
                  <a:srgbClr val="0F1B3D"/>
                </a:solidFill>
                <a:effectLst/>
                <a:uFillTx/>
                <a:latin typeface="Calibri"/>
                <a:ea typeface="Calibri"/>
              </a:rPr>
              <a:t>A</a:t>
            </a:r>
            <a:r>
              <a:rPr lang="en-US" sz="1000" b="0" u="none" strike="noStrike">
                <a:solidFill>
                  <a:srgbClr val="0F1B3D"/>
                </a:solidFill>
                <a:effectLst/>
                <a:uFillTx/>
                <a:latin typeface="Calibri"/>
                <a:ea typeface="Calibri"/>
              </a:rPr>
              <a:t>, C</a:t>
            </a:r>
            <a:r>
              <a:rPr lang="en-US" sz="1000" b="0" u="none" strike="noStrike" baseline="-8000">
                <a:solidFill>
                  <a:srgbClr val="0F1B3D"/>
                </a:solidFill>
                <a:effectLst/>
                <a:uFillTx/>
                <a:latin typeface="Calibri"/>
                <a:ea typeface="Calibri"/>
              </a:rPr>
              <a:t>B</a:t>
            </a:r>
            <a:r>
              <a:rPr lang="en-US" sz="1000" b="0" u="none" strike="noStrike">
                <a:solidFill>
                  <a:srgbClr val="0F1B3D"/>
                </a:solidFill>
                <a:effectLst/>
                <a:uFillTx/>
                <a:latin typeface="Calibri"/>
                <a:ea typeface="Calibri"/>
              </a:rPr>
              <a:t> off-chain</a:t>
            </a:r>
            <a:endParaRPr lang="en-GB" sz="1000" b="0" u="none" strike="noStrike">
              <a:solidFill>
                <a:srgbClr val="000000"/>
              </a:solidFill>
              <a:effectLst/>
              <a:uFillTx/>
              <a:latin typeface="Arial"/>
            </a:endParaRPr>
          </a:p>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Publish F on-chain</a:t>
            </a:r>
            <a:endParaRPr lang="en-GB" sz="1000" b="0" u="none" strike="noStrike">
              <a:solidFill>
                <a:srgbClr val="000000"/>
              </a:solidFill>
              <a:effectLst/>
              <a:uFillTx/>
              <a:latin typeface="Arial"/>
            </a:endParaRPr>
          </a:p>
        </p:txBody>
      </p:sp>
      <p:sp>
        <p:nvSpPr>
          <p:cNvPr id="342" name="Text 49"/>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343" name="Text 50"/>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9 / 14</a:t>
            </a:r>
            <a:endParaRPr lang="en-GB" sz="900" b="0" u="none" strike="noStrike">
              <a:solidFill>
                <a:srgbClr val="000000"/>
              </a:solidFill>
              <a:effectLst/>
              <a:uFillTx/>
              <a:latin typeface="Arial"/>
            </a:endParaRPr>
          </a:p>
        </p:txBody>
      </p:sp>
      <p:sp>
        <p:nvSpPr>
          <p:cNvPr id="344" name="Shape 62"/>
          <p:cNvSpPr/>
          <p:nvPr/>
        </p:nvSpPr>
        <p:spPr>
          <a:xfrm>
            <a:off x="5524920" y="2449800"/>
            <a:ext cx="37080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345" name="Shape 65"/>
          <p:cNvSpPr/>
          <p:nvPr/>
        </p:nvSpPr>
        <p:spPr>
          <a:xfrm>
            <a:off x="5524920" y="2773800"/>
            <a:ext cx="37080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6" name="Text 64"/>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An Elmo </a:t>
            </a:r>
            <a:r>
              <a:rPr lang="en-US" sz="2600" b="1" i="1" u="none" strike="noStrike">
                <a:solidFill>
                  <a:srgbClr val="0F1B3D"/>
                </a:solidFill>
                <a:effectLst/>
                <a:uFillTx/>
                <a:latin typeface="Cambria"/>
                <a:ea typeface="Cambria"/>
              </a:rPr>
              <a:t>simple </a:t>
            </a:r>
            <a:r>
              <a:rPr lang="en-US" sz="2600" b="1" u="none" strike="noStrike">
                <a:solidFill>
                  <a:srgbClr val="0F1B3D"/>
                </a:solidFill>
                <a:effectLst/>
                <a:uFillTx/>
                <a:latin typeface="Cambria"/>
                <a:ea typeface="Cambria"/>
              </a:rPr>
              <a:t>channel</a:t>
            </a:r>
            <a:endParaRPr lang="en-GB" sz="2600" b="0" u="none" strike="noStrike">
              <a:solidFill>
                <a:srgbClr val="000000"/>
              </a:solidFill>
              <a:effectLst/>
              <a:uFillTx/>
              <a:latin typeface="Arial"/>
            </a:endParaRPr>
          </a:p>
        </p:txBody>
      </p:sp>
      <p:sp>
        <p:nvSpPr>
          <p:cNvPr id="347" name="Text 66"/>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Like a Lightning channel</a:t>
            </a:r>
            <a:endParaRPr lang="en-GB" sz="1300" b="0" u="none" strike="noStrike">
              <a:solidFill>
                <a:srgbClr val="000000"/>
              </a:solidFill>
              <a:effectLst/>
              <a:uFillTx/>
              <a:latin typeface="Arial"/>
            </a:endParaRPr>
          </a:p>
        </p:txBody>
      </p:sp>
      <p:sp>
        <p:nvSpPr>
          <p:cNvPr id="348" name="Shape 69"/>
          <p:cNvSpPr/>
          <p:nvPr/>
        </p:nvSpPr>
        <p:spPr>
          <a:xfrm>
            <a:off x="1097280" y="1737360"/>
            <a:ext cx="1643760" cy="1278000"/>
          </a:xfrm>
          <a:prstGeom prst="rect">
            <a:avLst/>
          </a:prstGeom>
          <a:solidFill>
            <a:srgbClr val="FFFFFF"/>
          </a:solidFill>
          <a:ln w="12600">
            <a:solidFill>
              <a:srgbClr val="9CA3A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49" name="Text 68"/>
          <p:cNvSpPr/>
          <p:nvPr/>
        </p:nvSpPr>
        <p:spPr>
          <a:xfrm>
            <a:off x="1097280" y="1755720"/>
            <a:ext cx="164376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F1B3D"/>
                </a:solidFill>
                <a:effectLst/>
                <a:uFillTx/>
                <a:latin typeface="Cambria"/>
                <a:ea typeface="Cambria"/>
              </a:rPr>
              <a:t>Funding F</a:t>
            </a:r>
            <a:endParaRPr lang="en-GB" sz="1100" b="0" u="none" strike="noStrike">
              <a:solidFill>
                <a:srgbClr val="000000"/>
              </a:solidFill>
              <a:effectLst/>
              <a:uFillTx/>
              <a:latin typeface="Arial"/>
            </a:endParaRPr>
          </a:p>
        </p:txBody>
      </p:sp>
      <p:sp>
        <p:nvSpPr>
          <p:cNvPr id="350" name="Text 72"/>
          <p:cNvSpPr/>
          <p:nvPr/>
        </p:nvSpPr>
        <p:spPr>
          <a:xfrm>
            <a:off x="1097280" y="2030040"/>
            <a:ext cx="82080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In</a:t>
            </a:r>
            <a:endParaRPr lang="en-GB" sz="900" b="0" u="none" strike="noStrike">
              <a:solidFill>
                <a:srgbClr val="000000"/>
              </a:solidFill>
              <a:effectLst/>
              <a:uFillTx/>
              <a:latin typeface="Arial"/>
            </a:endParaRPr>
          </a:p>
        </p:txBody>
      </p:sp>
      <p:sp>
        <p:nvSpPr>
          <p:cNvPr id="351" name="Text 73"/>
          <p:cNvSpPr/>
          <p:nvPr/>
        </p:nvSpPr>
        <p:spPr>
          <a:xfrm>
            <a:off x="1920240" y="2030040"/>
            <a:ext cx="82080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Out</a:t>
            </a:r>
            <a:endParaRPr lang="en-GB" sz="900" b="0" u="none" strike="noStrike">
              <a:solidFill>
                <a:srgbClr val="000000"/>
              </a:solidFill>
              <a:effectLst/>
              <a:uFillTx/>
              <a:latin typeface="Arial"/>
            </a:endParaRPr>
          </a:p>
        </p:txBody>
      </p:sp>
      <p:sp>
        <p:nvSpPr>
          <p:cNvPr id="352" name="Shape 70"/>
          <p:cNvSpPr/>
          <p:nvPr/>
        </p:nvSpPr>
        <p:spPr>
          <a:xfrm>
            <a:off x="1920240" y="2029680"/>
            <a:ext cx="360" cy="932760"/>
          </a:xfrm>
          <a:prstGeom prst="line">
            <a:avLst/>
          </a:prstGeom>
          <a:ln w="6480">
            <a:solidFill>
              <a:srgbClr val="D1D5DB"/>
            </a:solidFill>
            <a:roun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353" name="Shape 71"/>
          <p:cNvSpPr/>
          <p:nvPr/>
        </p:nvSpPr>
        <p:spPr>
          <a:xfrm>
            <a:off x="1188720" y="2299680"/>
            <a:ext cx="63792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54" name="Text 75"/>
          <p:cNvSpPr/>
          <p:nvPr/>
        </p:nvSpPr>
        <p:spPr>
          <a:xfrm>
            <a:off x="1188720" y="2299680"/>
            <a:ext cx="63792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3₿</a:t>
            </a:r>
            <a:endParaRPr lang="en-GB" sz="900" b="0" u="none" strike="noStrike">
              <a:solidFill>
                <a:srgbClr val="000000"/>
              </a:solidFill>
              <a:effectLst/>
              <a:uFillTx/>
              <a:latin typeface="Arial"/>
            </a:endParaRPr>
          </a:p>
        </p:txBody>
      </p:sp>
      <p:sp>
        <p:nvSpPr>
          <p:cNvPr id="355" name="Shape 74"/>
          <p:cNvSpPr/>
          <p:nvPr/>
        </p:nvSpPr>
        <p:spPr>
          <a:xfrm>
            <a:off x="1188720" y="2638080"/>
            <a:ext cx="63792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56" name="Text 77"/>
          <p:cNvSpPr/>
          <p:nvPr/>
        </p:nvSpPr>
        <p:spPr>
          <a:xfrm>
            <a:off x="1188720" y="2638080"/>
            <a:ext cx="63792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1₿</a:t>
            </a:r>
            <a:endParaRPr lang="en-GB" sz="900" b="0" u="none" strike="noStrike">
              <a:solidFill>
                <a:srgbClr val="000000"/>
              </a:solidFill>
              <a:effectLst/>
              <a:uFillTx/>
              <a:latin typeface="Arial"/>
            </a:endParaRPr>
          </a:p>
        </p:txBody>
      </p:sp>
      <p:sp>
        <p:nvSpPr>
          <p:cNvPr id="357" name="Shape 76"/>
          <p:cNvSpPr/>
          <p:nvPr/>
        </p:nvSpPr>
        <p:spPr>
          <a:xfrm>
            <a:off x="2011680" y="2468880"/>
            <a:ext cx="63792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58" name="Text 79"/>
          <p:cNvSpPr/>
          <p:nvPr/>
        </p:nvSpPr>
        <p:spPr>
          <a:xfrm>
            <a:off x="2011680" y="2468880"/>
            <a:ext cx="63792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4₿</a:t>
            </a:r>
            <a:endParaRPr lang="en-GB" sz="900" b="0" u="none" strike="noStrike">
              <a:solidFill>
                <a:srgbClr val="000000"/>
              </a:solidFill>
              <a:effectLst/>
              <a:uFillTx/>
              <a:latin typeface="Arial"/>
            </a:endParaRPr>
          </a:p>
        </p:txBody>
      </p:sp>
      <p:sp>
        <p:nvSpPr>
          <p:cNvPr id="359" name="Text 83"/>
          <p:cNvSpPr/>
          <p:nvPr/>
        </p:nvSpPr>
        <p:spPr>
          <a:xfrm>
            <a:off x="1097280" y="3035880"/>
            <a:ext cx="164376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i="1" u="none" strike="noStrike">
                <a:solidFill>
                  <a:srgbClr val="5A6B8C"/>
                </a:solidFill>
                <a:effectLst/>
                <a:uFillTx/>
                <a:latin typeface="Calibri"/>
                <a:ea typeface="Calibri"/>
              </a:rPr>
              <a:t>on-chain</a:t>
            </a:r>
            <a:endParaRPr lang="en-GB" sz="900" b="0" u="none" strike="noStrike">
              <a:solidFill>
                <a:srgbClr val="000000"/>
              </a:solidFill>
              <a:effectLst/>
              <a:uFillTx/>
              <a:latin typeface="Arial"/>
            </a:endParaRPr>
          </a:p>
        </p:txBody>
      </p:sp>
      <p:sp>
        <p:nvSpPr>
          <p:cNvPr id="360" name="Text 84"/>
          <p:cNvSpPr/>
          <p:nvPr/>
        </p:nvSpPr>
        <p:spPr>
          <a:xfrm>
            <a:off x="640080" y="2302560"/>
            <a:ext cx="363600" cy="27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0F1B3D"/>
                </a:solidFill>
                <a:effectLst/>
                <a:uFillTx/>
                <a:latin typeface="Cambria"/>
                <a:ea typeface="Cambria"/>
              </a:rPr>
              <a:t>A</a:t>
            </a:r>
            <a:endParaRPr lang="en-GB" sz="1100" b="0" u="none" strike="noStrike">
              <a:solidFill>
                <a:srgbClr val="000000"/>
              </a:solidFill>
              <a:effectLst/>
              <a:uFillTx/>
              <a:latin typeface="Arial"/>
            </a:endParaRPr>
          </a:p>
        </p:txBody>
      </p:sp>
      <p:sp>
        <p:nvSpPr>
          <p:cNvPr id="361" name="Text 86"/>
          <p:cNvSpPr/>
          <p:nvPr/>
        </p:nvSpPr>
        <p:spPr>
          <a:xfrm>
            <a:off x="640080" y="2668320"/>
            <a:ext cx="363600" cy="27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0F1B3D"/>
                </a:solidFill>
                <a:effectLst/>
                <a:uFillTx/>
                <a:latin typeface="Cambria"/>
                <a:ea typeface="Cambria"/>
              </a:rPr>
              <a:t>B</a:t>
            </a:r>
            <a:endParaRPr lang="en-GB" sz="1100" b="0" u="none" strike="noStrike">
              <a:solidFill>
                <a:srgbClr val="000000"/>
              </a:solidFill>
              <a:effectLst/>
              <a:uFillTx/>
              <a:latin typeface="Arial"/>
            </a:endParaRPr>
          </a:p>
        </p:txBody>
      </p:sp>
      <p:sp>
        <p:nvSpPr>
          <p:cNvPr id="362" name="Shape 78"/>
          <p:cNvSpPr/>
          <p:nvPr/>
        </p:nvSpPr>
        <p:spPr>
          <a:xfrm>
            <a:off x="1023840" y="2439720"/>
            <a:ext cx="119160" cy="360"/>
          </a:xfrm>
          <a:prstGeom prst="line">
            <a:avLst/>
          </a:prstGeom>
          <a:ln w="12600">
            <a:solidFill>
              <a:srgbClr val="374151"/>
            </a:solidFill>
            <a:round/>
            <a:tailEnd len="med" type="triangle" w="med"/>
          </a:ln>
        </p:spPr>
        <p:style>
          <a:lnRef idx="0"/>
          <a:fillRef idx="0"/>
          <a:effectRef idx="0"/>
          <a:fontRef idx="minor"/>
        </p:style>
        <p:txBody>
          <a:bodyPr lIns="59400" tIns="-44640" rIns="59400" bIns="-44640" anchor="t" anchorCtr="1">
            <a:noAutofit/>
          </a:bodyPr>
          <a:p>
            <a:endParaRPr lang="en-GB" sz="1800" b="0" u="none" strike="noStrike">
              <a:solidFill>
                <a:srgbClr val="000000"/>
              </a:solidFill>
              <a:effectLst/>
              <a:uFillTx/>
              <a:latin typeface="Arial"/>
            </a:endParaRPr>
          </a:p>
        </p:txBody>
      </p:sp>
      <p:sp>
        <p:nvSpPr>
          <p:cNvPr id="363" name="Shape 80"/>
          <p:cNvSpPr/>
          <p:nvPr/>
        </p:nvSpPr>
        <p:spPr>
          <a:xfrm>
            <a:off x="1023840" y="2805480"/>
            <a:ext cx="119160" cy="360"/>
          </a:xfrm>
          <a:prstGeom prst="line">
            <a:avLst/>
          </a:prstGeom>
          <a:ln w="12600">
            <a:solidFill>
              <a:srgbClr val="374151"/>
            </a:solidFill>
            <a:round/>
            <a:tailEnd len="med" type="triangle" w="med"/>
          </a:ln>
        </p:spPr>
        <p:style>
          <a:lnRef idx="0"/>
          <a:fillRef idx="0"/>
          <a:effectRef idx="0"/>
          <a:fontRef idx="minor"/>
        </p:style>
        <p:txBody>
          <a:bodyPr lIns="59400" tIns="-44640" rIns="59400" bIns="-44640" anchor="t" anchorCtr="1">
            <a:noAutofit/>
          </a:bodyPr>
          <a:p>
            <a:endParaRPr lang="en-GB" sz="1800" b="0" u="none" strike="noStrike">
              <a:solidFill>
                <a:srgbClr val="000000"/>
              </a:solidFill>
              <a:effectLst/>
              <a:uFillTx/>
              <a:latin typeface="Arial"/>
            </a:endParaRPr>
          </a:p>
        </p:txBody>
      </p:sp>
      <p:sp>
        <p:nvSpPr>
          <p:cNvPr id="364" name="Shape 81"/>
          <p:cNvSpPr/>
          <p:nvPr/>
        </p:nvSpPr>
        <p:spPr>
          <a:xfrm>
            <a:off x="2788920" y="2629440"/>
            <a:ext cx="73152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365" name="Text 88"/>
          <p:cNvSpPr/>
          <p:nvPr/>
        </p:nvSpPr>
        <p:spPr>
          <a:xfrm>
            <a:off x="2743200" y="2446560"/>
            <a:ext cx="82080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i="1" u="none" strike="noStrike">
                <a:solidFill>
                  <a:srgbClr val="5A6B8C"/>
                </a:solidFill>
                <a:effectLst/>
                <a:uFillTx/>
                <a:latin typeface="Calibri"/>
                <a:ea typeface="Calibri"/>
              </a:rPr>
              <a:t>CheckMultiSig</a:t>
            </a:r>
            <a:endParaRPr lang="en-GB" sz="800" b="0" u="none" strike="noStrike">
              <a:solidFill>
                <a:srgbClr val="000000"/>
              </a:solidFill>
              <a:effectLst/>
              <a:uFillTx/>
              <a:latin typeface="Arial"/>
            </a:endParaRPr>
          </a:p>
        </p:txBody>
      </p:sp>
      <p:sp>
        <p:nvSpPr>
          <p:cNvPr id="366" name="Text 90"/>
          <p:cNvSpPr/>
          <p:nvPr/>
        </p:nvSpPr>
        <p:spPr>
          <a:xfrm>
            <a:off x="2743200" y="2656800"/>
            <a:ext cx="82080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5E72E4"/>
                </a:solidFill>
                <a:effectLst/>
                <a:uFillTx/>
                <a:latin typeface="Calibri"/>
                <a:ea typeface="Calibri"/>
              </a:rPr>
              <a:t>A &amp; B</a:t>
            </a:r>
            <a:endParaRPr lang="en-GB" sz="800" b="0" u="none" strike="noStrike">
              <a:solidFill>
                <a:srgbClr val="000000"/>
              </a:solidFill>
              <a:effectLst/>
              <a:uFillTx/>
              <a:latin typeface="Arial"/>
            </a:endParaRPr>
          </a:p>
        </p:txBody>
      </p:sp>
      <p:sp>
        <p:nvSpPr>
          <p:cNvPr id="367" name="Shape 82"/>
          <p:cNvSpPr/>
          <p:nvPr/>
        </p:nvSpPr>
        <p:spPr>
          <a:xfrm>
            <a:off x="3566160" y="1737360"/>
            <a:ext cx="1918080" cy="1278000"/>
          </a:xfrm>
          <a:prstGeom prst="rect">
            <a:avLst/>
          </a:prstGeom>
          <a:solidFill>
            <a:srgbClr val="FFFFFF"/>
          </a:solidFill>
          <a:ln w="12600">
            <a:solidFill>
              <a:srgbClr val="9CA3A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68" name="Text 94"/>
          <p:cNvSpPr/>
          <p:nvPr/>
        </p:nvSpPr>
        <p:spPr>
          <a:xfrm>
            <a:off x="3566160" y="1755720"/>
            <a:ext cx="1918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F1B3D"/>
                </a:solidFill>
                <a:effectLst/>
                <a:uFillTx/>
                <a:latin typeface="Cambria"/>
                <a:ea typeface="Cambria"/>
              </a:rPr>
              <a:t>Commitment C</a:t>
            </a:r>
            <a:r>
              <a:rPr lang="en-US" sz="1100" b="1" u="none" strike="noStrike" baseline="-8000">
                <a:solidFill>
                  <a:srgbClr val="0F1B3D"/>
                </a:solidFill>
                <a:effectLst/>
                <a:uFillTx/>
                <a:latin typeface="Cambria"/>
                <a:ea typeface="Cambria"/>
              </a:rPr>
              <a:t>A</a:t>
            </a:r>
            <a:endParaRPr lang="en-GB" sz="1100" b="0" u="none" strike="noStrike">
              <a:solidFill>
                <a:srgbClr val="000000"/>
              </a:solidFill>
              <a:effectLst/>
              <a:uFillTx/>
              <a:latin typeface="Arial"/>
            </a:endParaRPr>
          </a:p>
        </p:txBody>
      </p:sp>
      <p:sp>
        <p:nvSpPr>
          <p:cNvPr id="369" name="Text 95"/>
          <p:cNvSpPr/>
          <p:nvPr/>
        </p:nvSpPr>
        <p:spPr>
          <a:xfrm>
            <a:off x="3566160" y="2030040"/>
            <a:ext cx="95796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In</a:t>
            </a:r>
            <a:endParaRPr lang="en-GB" sz="900" b="0" u="none" strike="noStrike">
              <a:solidFill>
                <a:srgbClr val="000000"/>
              </a:solidFill>
              <a:effectLst/>
              <a:uFillTx/>
              <a:latin typeface="Arial"/>
            </a:endParaRPr>
          </a:p>
        </p:txBody>
      </p:sp>
      <p:sp>
        <p:nvSpPr>
          <p:cNvPr id="370" name="Text 97"/>
          <p:cNvSpPr/>
          <p:nvPr/>
        </p:nvSpPr>
        <p:spPr>
          <a:xfrm>
            <a:off x="4526280" y="2030040"/>
            <a:ext cx="95796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Out</a:t>
            </a:r>
            <a:endParaRPr lang="en-GB" sz="900" b="0" u="none" strike="noStrike">
              <a:solidFill>
                <a:srgbClr val="000000"/>
              </a:solidFill>
              <a:effectLst/>
              <a:uFillTx/>
              <a:latin typeface="Arial"/>
            </a:endParaRPr>
          </a:p>
        </p:txBody>
      </p:sp>
      <p:sp>
        <p:nvSpPr>
          <p:cNvPr id="371" name="Shape 85"/>
          <p:cNvSpPr/>
          <p:nvPr/>
        </p:nvSpPr>
        <p:spPr>
          <a:xfrm>
            <a:off x="4526280" y="2029680"/>
            <a:ext cx="360" cy="932760"/>
          </a:xfrm>
          <a:prstGeom prst="line">
            <a:avLst/>
          </a:prstGeom>
          <a:ln w="6480">
            <a:solidFill>
              <a:srgbClr val="D1D5DB"/>
            </a:solidFill>
            <a:roun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372" name="Shape 87"/>
          <p:cNvSpPr/>
          <p:nvPr/>
        </p:nvSpPr>
        <p:spPr>
          <a:xfrm>
            <a:off x="3657600" y="2468880"/>
            <a:ext cx="775080" cy="290520"/>
          </a:xfrm>
          <a:prstGeom prst="rect">
            <a:avLst/>
          </a:prstGeom>
          <a:solidFill>
            <a:srgbClr val="FFFFFF"/>
          </a:solidFill>
          <a:ln w="12600">
            <a:solidFill>
              <a:srgbClr val="F7931A"/>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73" name="Text 99"/>
          <p:cNvSpPr/>
          <p:nvPr/>
        </p:nvSpPr>
        <p:spPr>
          <a:xfrm>
            <a:off x="3657600" y="246888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4₿</a:t>
            </a:r>
            <a:endParaRPr lang="en-GB" sz="900" b="0" u="none" strike="noStrike">
              <a:solidFill>
                <a:srgbClr val="000000"/>
              </a:solidFill>
              <a:effectLst/>
              <a:uFillTx/>
              <a:latin typeface="Arial"/>
            </a:endParaRPr>
          </a:p>
        </p:txBody>
      </p:sp>
      <p:sp>
        <p:nvSpPr>
          <p:cNvPr id="374" name="Shape 89"/>
          <p:cNvSpPr/>
          <p:nvPr/>
        </p:nvSpPr>
        <p:spPr>
          <a:xfrm>
            <a:off x="4617720" y="229968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75" name="Text 101"/>
          <p:cNvSpPr/>
          <p:nvPr/>
        </p:nvSpPr>
        <p:spPr>
          <a:xfrm>
            <a:off x="4617720" y="229968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3₿</a:t>
            </a:r>
            <a:endParaRPr lang="en-GB" sz="900" b="0" u="none" strike="noStrike">
              <a:solidFill>
                <a:srgbClr val="000000"/>
              </a:solidFill>
              <a:effectLst/>
              <a:uFillTx/>
              <a:latin typeface="Arial"/>
            </a:endParaRPr>
          </a:p>
        </p:txBody>
      </p:sp>
      <p:sp>
        <p:nvSpPr>
          <p:cNvPr id="376" name="Shape 91"/>
          <p:cNvSpPr/>
          <p:nvPr/>
        </p:nvSpPr>
        <p:spPr>
          <a:xfrm>
            <a:off x="4617720" y="263808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77" name="Text 102"/>
          <p:cNvSpPr/>
          <p:nvPr/>
        </p:nvSpPr>
        <p:spPr>
          <a:xfrm>
            <a:off x="4617720" y="263808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1₿</a:t>
            </a:r>
            <a:endParaRPr lang="en-GB" sz="900" b="0" u="none" strike="noStrike">
              <a:solidFill>
                <a:srgbClr val="000000"/>
              </a:solidFill>
              <a:effectLst/>
              <a:uFillTx/>
              <a:latin typeface="Arial"/>
            </a:endParaRPr>
          </a:p>
        </p:txBody>
      </p:sp>
      <p:sp>
        <p:nvSpPr>
          <p:cNvPr id="378" name="Text 103"/>
          <p:cNvSpPr/>
          <p:nvPr/>
        </p:nvSpPr>
        <p:spPr>
          <a:xfrm>
            <a:off x="3566160" y="3035880"/>
            <a:ext cx="191808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i="1" u="none" strike="noStrike">
                <a:solidFill>
                  <a:srgbClr val="FF0000"/>
                </a:solidFill>
                <a:effectLst/>
                <a:uFillTx/>
                <a:latin typeface="Calibri"/>
                <a:ea typeface="Calibri"/>
              </a:rPr>
              <a:t>revoked</a:t>
            </a:r>
            <a:endParaRPr lang="en-GB" sz="900" b="0" u="none" strike="noStrike">
              <a:solidFill>
                <a:srgbClr val="000000"/>
              </a:solidFill>
              <a:effectLst/>
              <a:uFillTx/>
              <a:latin typeface="Arial"/>
            </a:endParaRPr>
          </a:p>
        </p:txBody>
      </p:sp>
      <p:sp>
        <p:nvSpPr>
          <p:cNvPr id="379" name="Text 104"/>
          <p:cNvSpPr/>
          <p:nvPr/>
        </p:nvSpPr>
        <p:spPr>
          <a:xfrm>
            <a:off x="5532120" y="2178000"/>
            <a:ext cx="27216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B3D"/>
                </a:solidFill>
                <a:effectLst/>
                <a:uFillTx/>
                <a:latin typeface="Cambria"/>
                <a:ea typeface="Cambria"/>
              </a:rPr>
              <a:t>A+Δ</a:t>
            </a:r>
            <a:endParaRPr lang="en-GB" sz="1100" b="0" u="none" strike="noStrike">
              <a:solidFill>
                <a:srgbClr val="000000"/>
              </a:solidFill>
              <a:effectLst/>
              <a:uFillTx/>
              <a:latin typeface="Arial"/>
            </a:endParaRPr>
          </a:p>
        </p:txBody>
      </p:sp>
      <p:sp>
        <p:nvSpPr>
          <p:cNvPr id="380" name="Text 105"/>
          <p:cNvSpPr/>
          <p:nvPr/>
        </p:nvSpPr>
        <p:spPr>
          <a:xfrm>
            <a:off x="5640120" y="2534040"/>
            <a:ext cx="27216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B3D"/>
                </a:solidFill>
                <a:effectLst/>
                <a:uFillTx/>
                <a:latin typeface="Cambria"/>
                <a:ea typeface="Cambria"/>
              </a:rPr>
              <a:t>B</a:t>
            </a:r>
            <a:endParaRPr lang="en-GB" sz="1100" b="0" u="none" strike="noStrike">
              <a:solidFill>
                <a:srgbClr val="000000"/>
              </a:solidFill>
              <a:effectLst/>
              <a:uFillTx/>
              <a:latin typeface="Arial"/>
            </a:endParaRPr>
          </a:p>
        </p:txBody>
      </p:sp>
      <p:sp>
        <p:nvSpPr>
          <p:cNvPr id="381" name="Text 109"/>
          <p:cNvSpPr/>
          <p:nvPr/>
        </p:nvSpPr>
        <p:spPr>
          <a:xfrm>
            <a:off x="5943600" y="843120"/>
            <a:ext cx="21009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5A6B8C"/>
                </a:solidFill>
                <a:effectLst/>
                <a:uFillTx/>
                <a:latin typeface="Calibri"/>
                <a:ea typeface="Calibri"/>
              </a:rPr>
              <a:t>B holds a symmetric C</a:t>
            </a:r>
            <a:r>
              <a:rPr lang="en-US" sz="1000" b="0" i="1" u="none" strike="noStrike" baseline="-8000">
                <a:solidFill>
                  <a:srgbClr val="5A6B8C"/>
                </a:solidFill>
                <a:effectLst/>
                <a:uFillTx/>
                <a:latin typeface="Calibri"/>
                <a:ea typeface="Calibri"/>
              </a:rPr>
              <a:t>B</a:t>
            </a:r>
            <a:r>
              <a:rPr lang="en-US" sz="1000" b="0" i="1" u="none" strike="noStrike">
                <a:solidFill>
                  <a:srgbClr val="5A6B8C"/>
                </a:solidFill>
                <a:effectLst/>
                <a:uFillTx/>
                <a:latin typeface="Calibri"/>
                <a:ea typeface="Calibri"/>
              </a:rPr>
              <a:t>’</a:t>
            </a:r>
            <a:r>
              <a:rPr lang="en-US" sz="1000" b="0" i="1" u="none" strike="noStrike">
                <a:solidFill>
                  <a:srgbClr val="FF0000"/>
                </a:solidFill>
                <a:effectLst/>
                <a:uFillTx/>
                <a:latin typeface="Calibri"/>
                <a:ea typeface="Calibri"/>
              </a:rPr>
              <a:t>, C</a:t>
            </a:r>
            <a:r>
              <a:rPr lang="en-US" sz="1000" b="0" i="1" u="none" strike="noStrike" baseline="-8000">
                <a:solidFill>
                  <a:srgbClr val="FF0000"/>
                </a:solidFill>
                <a:effectLst/>
                <a:uFillTx/>
                <a:latin typeface="Calibri"/>
                <a:ea typeface="Calibri"/>
              </a:rPr>
              <a:t>B</a:t>
            </a:r>
            <a:r>
              <a:rPr lang="en-US" sz="1000" b="0" i="1" u="none" strike="noStrike">
                <a:solidFill>
                  <a:srgbClr val="FF0000"/>
                </a:solidFill>
                <a:effectLst/>
                <a:uFillTx/>
                <a:latin typeface="Calibri"/>
                <a:ea typeface="Calibri"/>
              </a:rPr>
              <a:t> also revoked</a:t>
            </a:r>
            <a:endParaRPr lang="en-GB" sz="1000" b="0" u="none" strike="noStrike">
              <a:solidFill>
                <a:srgbClr val="000000"/>
              </a:solidFill>
              <a:effectLst/>
              <a:uFillTx/>
              <a:latin typeface="Arial"/>
            </a:endParaRPr>
          </a:p>
        </p:txBody>
      </p:sp>
      <p:sp>
        <p:nvSpPr>
          <p:cNvPr id="382" name="Text 110"/>
          <p:cNvSpPr/>
          <p:nvPr/>
        </p:nvSpPr>
        <p:spPr>
          <a:xfrm>
            <a:off x="5943600" y="1117440"/>
            <a:ext cx="21009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5A6B8C"/>
                </a:solidFill>
                <a:effectLst/>
                <a:uFillTx/>
                <a:latin typeface="Calibri"/>
                <a:ea typeface="Calibri"/>
              </a:rPr>
              <a:t>Δ = relative timelock (e.g. 5 days)</a:t>
            </a:r>
            <a:endParaRPr lang="en-GB" sz="900" b="0" u="none" strike="noStrike">
              <a:solidFill>
                <a:srgbClr val="000000"/>
              </a:solidFill>
              <a:effectLst/>
              <a:uFillTx/>
              <a:latin typeface="Arial"/>
            </a:endParaRPr>
          </a:p>
        </p:txBody>
      </p:sp>
      <p:sp>
        <p:nvSpPr>
          <p:cNvPr id="383" name="Shape 92"/>
          <p:cNvSpPr/>
          <p:nvPr/>
        </p:nvSpPr>
        <p:spPr>
          <a:xfrm>
            <a:off x="5943600" y="1437480"/>
            <a:ext cx="180720" cy="135000"/>
          </a:xfrm>
          <a:prstGeom prst="rect">
            <a:avLst/>
          </a:prstGeom>
          <a:solidFill>
            <a:srgbClr val="FFFFFF"/>
          </a:solidFill>
          <a:ln w="12600">
            <a:solidFill>
              <a:srgbClr val="F7931A"/>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84" name="Text 112"/>
          <p:cNvSpPr/>
          <p:nvPr/>
        </p:nvSpPr>
        <p:spPr>
          <a:xfrm>
            <a:off x="6172200" y="1428480"/>
            <a:ext cx="1460880" cy="1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5A6B8C"/>
                </a:solidFill>
                <a:effectLst/>
                <a:uFillTx/>
                <a:latin typeface="Calibri"/>
                <a:ea typeface="Calibri"/>
              </a:rPr>
              <a:t>= pre-signed</a:t>
            </a:r>
            <a:endParaRPr lang="en-GB" sz="800" b="0" u="none" strike="noStrike">
              <a:solidFill>
                <a:srgbClr val="000000"/>
              </a:solidFill>
              <a:effectLst/>
              <a:uFillTx/>
              <a:latin typeface="Arial"/>
            </a:endParaRPr>
          </a:p>
        </p:txBody>
      </p:sp>
      <p:sp>
        <p:nvSpPr>
          <p:cNvPr id="385" name="Shape 93"/>
          <p:cNvSpPr/>
          <p:nvPr/>
        </p:nvSpPr>
        <p:spPr>
          <a:xfrm>
            <a:off x="365760" y="3383280"/>
            <a:ext cx="2695320" cy="1278000"/>
          </a:xfrm>
          <a:prstGeom prst="rect">
            <a:avLst/>
          </a:prstGeom>
          <a:solidFill>
            <a:srgbClr val="EEF1F8"/>
          </a:solidFill>
          <a:ln w="12600">
            <a:solidFill>
              <a:srgbClr val="DDE3F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86" name="Text 114"/>
          <p:cNvSpPr/>
          <p:nvPr/>
        </p:nvSpPr>
        <p:spPr>
          <a:xfrm>
            <a:off x="502920" y="3474720"/>
            <a:ext cx="246672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7931A"/>
                </a:solidFill>
                <a:effectLst/>
                <a:uFillTx/>
                <a:latin typeface="Cambria"/>
                <a:ea typeface="Cambria"/>
              </a:rPr>
              <a:t>Open</a:t>
            </a:r>
            <a:endParaRPr lang="en-GB" sz="1300" b="0" u="none" strike="noStrike">
              <a:solidFill>
                <a:srgbClr val="000000"/>
              </a:solidFill>
              <a:effectLst/>
              <a:uFillTx/>
              <a:latin typeface="Arial"/>
            </a:endParaRPr>
          </a:p>
        </p:txBody>
      </p:sp>
      <p:sp>
        <p:nvSpPr>
          <p:cNvPr id="387" name="Text 115"/>
          <p:cNvSpPr/>
          <p:nvPr/>
        </p:nvSpPr>
        <p:spPr>
          <a:xfrm>
            <a:off x="502920" y="3840480"/>
            <a:ext cx="2466720" cy="775080"/>
          </a:xfrm>
          <a:prstGeom prst="rect">
            <a:avLst/>
          </a:prstGeom>
          <a:noFill/>
          <a:ln w="0">
            <a:noFill/>
          </a:ln>
        </p:spPr>
        <p:style>
          <a:lnRef idx="0"/>
          <a:fillRef idx="0"/>
          <a:effectRef idx="0"/>
          <a:fontRef idx="minor"/>
        </p:style>
        <p:txBody>
          <a:bodyPr lIns="0" tIns="0" rIns="0" bIns="0" anchor="ctr">
            <a:noAutofit/>
          </a:bodyPr>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Sign C</a:t>
            </a:r>
            <a:r>
              <a:rPr lang="en-US" sz="1000" b="0" u="none" strike="noStrike" baseline="-8000">
                <a:solidFill>
                  <a:srgbClr val="0F1B3D"/>
                </a:solidFill>
                <a:effectLst/>
                <a:uFillTx/>
                <a:latin typeface="Calibri"/>
                <a:ea typeface="Calibri"/>
              </a:rPr>
              <a:t>A</a:t>
            </a:r>
            <a:r>
              <a:rPr lang="en-US" sz="1000" b="0" u="none" strike="noStrike">
                <a:solidFill>
                  <a:srgbClr val="0F1B3D"/>
                </a:solidFill>
                <a:effectLst/>
                <a:uFillTx/>
                <a:latin typeface="Calibri"/>
                <a:ea typeface="Calibri"/>
              </a:rPr>
              <a:t>, C</a:t>
            </a:r>
            <a:r>
              <a:rPr lang="en-US" sz="1000" b="0" u="none" strike="noStrike" baseline="-8000">
                <a:solidFill>
                  <a:srgbClr val="0F1B3D"/>
                </a:solidFill>
                <a:effectLst/>
                <a:uFillTx/>
                <a:latin typeface="Calibri"/>
                <a:ea typeface="Calibri"/>
              </a:rPr>
              <a:t>B</a:t>
            </a:r>
            <a:r>
              <a:rPr lang="en-US" sz="1000" b="0" u="none" strike="noStrike">
                <a:solidFill>
                  <a:srgbClr val="0F1B3D"/>
                </a:solidFill>
                <a:effectLst/>
                <a:uFillTx/>
                <a:latin typeface="Calibri"/>
                <a:ea typeface="Calibri"/>
              </a:rPr>
              <a:t> off-chain</a:t>
            </a:r>
            <a:endParaRPr lang="en-GB" sz="1000" b="0" u="none" strike="noStrike">
              <a:solidFill>
                <a:srgbClr val="000000"/>
              </a:solidFill>
              <a:effectLst/>
              <a:uFillTx/>
              <a:latin typeface="Arial"/>
            </a:endParaRPr>
          </a:p>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Publish F on-chain</a:t>
            </a:r>
            <a:endParaRPr lang="en-GB" sz="1000" b="0" u="none" strike="noStrike">
              <a:solidFill>
                <a:srgbClr val="000000"/>
              </a:solidFill>
              <a:effectLst/>
              <a:uFillTx/>
              <a:latin typeface="Arial"/>
            </a:endParaRPr>
          </a:p>
        </p:txBody>
      </p:sp>
      <p:sp>
        <p:nvSpPr>
          <p:cNvPr id="388" name="Shape 96"/>
          <p:cNvSpPr/>
          <p:nvPr/>
        </p:nvSpPr>
        <p:spPr>
          <a:xfrm>
            <a:off x="3227760" y="3383280"/>
            <a:ext cx="2695320" cy="1278000"/>
          </a:xfrm>
          <a:prstGeom prst="rect">
            <a:avLst/>
          </a:prstGeom>
          <a:solidFill>
            <a:srgbClr val="EEF1F8"/>
          </a:solidFill>
          <a:ln w="12600">
            <a:solidFill>
              <a:srgbClr val="DDE3F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89" name="Text 116"/>
          <p:cNvSpPr/>
          <p:nvPr/>
        </p:nvSpPr>
        <p:spPr>
          <a:xfrm>
            <a:off x="3364920" y="3474720"/>
            <a:ext cx="246672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7931A"/>
                </a:solidFill>
                <a:effectLst/>
                <a:uFillTx/>
                <a:latin typeface="Cambria"/>
                <a:ea typeface="Cambria"/>
              </a:rPr>
              <a:t>Α pays B 1₿</a:t>
            </a:r>
            <a:endParaRPr lang="en-GB" sz="1300" b="0" u="none" strike="noStrike">
              <a:solidFill>
                <a:srgbClr val="000000"/>
              </a:solidFill>
              <a:effectLst/>
              <a:uFillTx/>
              <a:latin typeface="Arial"/>
            </a:endParaRPr>
          </a:p>
        </p:txBody>
      </p:sp>
      <p:sp>
        <p:nvSpPr>
          <p:cNvPr id="390" name="Text 117"/>
          <p:cNvSpPr/>
          <p:nvPr/>
        </p:nvSpPr>
        <p:spPr>
          <a:xfrm>
            <a:off x="3364920" y="3840480"/>
            <a:ext cx="2466720" cy="775080"/>
          </a:xfrm>
          <a:prstGeom prst="rect">
            <a:avLst/>
          </a:prstGeom>
          <a:noFill/>
          <a:ln w="0">
            <a:noFill/>
          </a:ln>
        </p:spPr>
        <p:style>
          <a:lnRef idx="0"/>
          <a:fillRef idx="0"/>
          <a:effectRef idx="0"/>
          <a:fontRef idx="minor"/>
        </p:style>
        <p:txBody>
          <a:bodyPr lIns="0" tIns="0" rIns="0" bIns="0" anchor="ctr">
            <a:noAutofit/>
          </a:bodyPr>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Build and sign new C</a:t>
            </a:r>
            <a:r>
              <a:rPr lang="en-US" sz="1000" b="0" u="none" strike="noStrike" baseline="-8000">
                <a:solidFill>
                  <a:srgbClr val="0F1B3D"/>
                </a:solidFill>
                <a:effectLst/>
                <a:uFillTx/>
                <a:latin typeface="Calibri"/>
                <a:ea typeface="Calibri"/>
              </a:rPr>
              <a:t>A</a:t>
            </a:r>
            <a:r>
              <a:rPr lang="en-US" sz="1000" b="0" u="none" strike="noStrike">
                <a:solidFill>
                  <a:srgbClr val="0F1B3D"/>
                </a:solidFill>
                <a:effectLst/>
                <a:uFillTx/>
                <a:latin typeface="Calibri"/>
                <a:ea typeface="Calibri"/>
              </a:rPr>
              <a:t>', C</a:t>
            </a:r>
            <a:r>
              <a:rPr lang="en-US" sz="1000" b="0" u="none" strike="noStrike" baseline="-8000">
                <a:solidFill>
                  <a:srgbClr val="0F1B3D"/>
                </a:solidFill>
                <a:effectLst/>
                <a:uFillTx/>
                <a:latin typeface="Calibri"/>
                <a:ea typeface="Calibri"/>
              </a:rPr>
              <a:t>B</a:t>
            </a:r>
            <a:r>
              <a:rPr lang="en-US" sz="1000" b="0" u="none" strike="noStrike">
                <a:solidFill>
                  <a:srgbClr val="0F1B3D"/>
                </a:solidFill>
                <a:effectLst/>
                <a:uFillTx/>
                <a:latin typeface="Calibri"/>
                <a:ea typeface="Calibri"/>
              </a:rPr>
              <a:t>' with shifted balances.</a:t>
            </a:r>
            <a:endParaRPr lang="en-GB" sz="1000" b="0" u="none" strike="noStrike">
              <a:solidFill>
                <a:srgbClr val="000000"/>
              </a:solidFill>
              <a:effectLst/>
              <a:uFillTx/>
              <a:latin typeface="Arial"/>
            </a:endParaRPr>
          </a:p>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Revoke old commitments.</a:t>
            </a:r>
            <a:endParaRPr lang="en-GB" sz="1000" b="0" u="none" strike="noStrike">
              <a:solidFill>
                <a:srgbClr val="000000"/>
              </a:solidFill>
              <a:effectLst/>
              <a:uFillTx/>
              <a:latin typeface="Arial"/>
            </a:endParaRPr>
          </a:p>
        </p:txBody>
      </p:sp>
      <p:sp>
        <p:nvSpPr>
          <p:cNvPr id="391" name="Text 122"/>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392" name="Text 124"/>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9 / 14</a:t>
            </a:r>
            <a:endParaRPr lang="en-GB" sz="900" b="0" u="none" strike="noStrike">
              <a:solidFill>
                <a:srgbClr val="000000"/>
              </a:solidFill>
              <a:effectLst/>
              <a:uFillTx/>
              <a:latin typeface="Arial"/>
            </a:endParaRPr>
          </a:p>
        </p:txBody>
      </p:sp>
      <p:sp>
        <p:nvSpPr>
          <p:cNvPr id="393" name="Shape 100"/>
          <p:cNvSpPr/>
          <p:nvPr/>
        </p:nvSpPr>
        <p:spPr>
          <a:xfrm>
            <a:off x="5524920" y="2449800"/>
            <a:ext cx="37080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394" name="Shape 106"/>
          <p:cNvSpPr/>
          <p:nvPr/>
        </p:nvSpPr>
        <p:spPr>
          <a:xfrm>
            <a:off x="5524920" y="2773800"/>
            <a:ext cx="37080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395" name="Text 139"/>
          <p:cNvSpPr/>
          <p:nvPr/>
        </p:nvSpPr>
        <p:spPr>
          <a:xfrm>
            <a:off x="3657960" y="246924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4₿</a:t>
            </a:r>
            <a:endParaRPr lang="en-GB" sz="900" b="0" u="none" strike="noStrike">
              <a:solidFill>
                <a:srgbClr val="000000"/>
              </a:solidFill>
              <a:effectLst/>
              <a:uFillTx/>
              <a:latin typeface="Arial"/>
            </a:endParaRPr>
          </a:p>
        </p:txBody>
      </p:sp>
      <p:sp>
        <p:nvSpPr>
          <p:cNvPr id="396" name="Shape 113"/>
          <p:cNvSpPr/>
          <p:nvPr/>
        </p:nvSpPr>
        <p:spPr>
          <a:xfrm>
            <a:off x="4618080" y="230004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97" name="Text 140"/>
          <p:cNvSpPr/>
          <p:nvPr/>
        </p:nvSpPr>
        <p:spPr>
          <a:xfrm>
            <a:off x="4618080" y="230004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3₿</a:t>
            </a:r>
            <a:endParaRPr lang="en-GB" sz="900" b="0" u="none" strike="noStrike">
              <a:solidFill>
                <a:srgbClr val="000000"/>
              </a:solidFill>
              <a:effectLst/>
              <a:uFillTx/>
              <a:latin typeface="Arial"/>
            </a:endParaRPr>
          </a:p>
        </p:txBody>
      </p:sp>
      <p:sp>
        <p:nvSpPr>
          <p:cNvPr id="398" name="Shape 119"/>
          <p:cNvSpPr/>
          <p:nvPr/>
        </p:nvSpPr>
        <p:spPr>
          <a:xfrm>
            <a:off x="4618080" y="263844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99" name="Text 141"/>
          <p:cNvSpPr/>
          <p:nvPr/>
        </p:nvSpPr>
        <p:spPr>
          <a:xfrm>
            <a:off x="4618080" y="263844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1₿</a:t>
            </a:r>
            <a:endParaRPr lang="en-GB" sz="900" b="0" u="none" strike="noStrike">
              <a:solidFill>
                <a:srgbClr val="000000"/>
              </a:solidFill>
              <a:effectLst/>
              <a:uFillTx/>
              <a:latin typeface="Arial"/>
            </a:endParaRPr>
          </a:p>
        </p:txBody>
      </p:sp>
      <p:sp>
        <p:nvSpPr>
          <p:cNvPr id="400" name="Shape 125"/>
          <p:cNvSpPr/>
          <p:nvPr/>
        </p:nvSpPr>
        <p:spPr>
          <a:xfrm>
            <a:off x="6266880" y="1738080"/>
            <a:ext cx="1918080" cy="1278000"/>
          </a:xfrm>
          <a:prstGeom prst="rect">
            <a:avLst/>
          </a:prstGeom>
          <a:solidFill>
            <a:srgbClr val="FFFFFF"/>
          </a:solidFill>
          <a:ln w="12600">
            <a:solidFill>
              <a:srgbClr val="9CA3A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01" name="Text 145"/>
          <p:cNvSpPr/>
          <p:nvPr/>
        </p:nvSpPr>
        <p:spPr>
          <a:xfrm>
            <a:off x="6266880" y="1756440"/>
            <a:ext cx="1918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F1B3D"/>
                </a:solidFill>
                <a:effectLst/>
                <a:uFillTx/>
                <a:latin typeface="Cambria"/>
                <a:ea typeface="Cambria"/>
              </a:rPr>
              <a:t>Commitment C</a:t>
            </a:r>
            <a:r>
              <a:rPr lang="en-US" sz="1100" b="1" u="none" strike="noStrike" baseline="-8000">
                <a:solidFill>
                  <a:srgbClr val="0F1B3D"/>
                </a:solidFill>
                <a:effectLst/>
                <a:uFillTx/>
                <a:latin typeface="Cambria"/>
                <a:ea typeface="Cambria"/>
              </a:rPr>
              <a:t>A</a:t>
            </a:r>
            <a:r>
              <a:rPr lang="en-US" sz="1100" b="1" u="none" strike="noStrike">
                <a:solidFill>
                  <a:srgbClr val="0F1B3D"/>
                </a:solidFill>
                <a:effectLst/>
                <a:uFillTx/>
                <a:latin typeface="Cambria"/>
                <a:ea typeface="Cambria"/>
              </a:rPr>
              <a:t>’</a:t>
            </a:r>
            <a:endParaRPr lang="en-GB" sz="1100" b="0" u="none" strike="noStrike">
              <a:solidFill>
                <a:srgbClr val="000000"/>
              </a:solidFill>
              <a:effectLst/>
              <a:uFillTx/>
              <a:latin typeface="Arial"/>
            </a:endParaRPr>
          </a:p>
        </p:txBody>
      </p:sp>
      <p:sp>
        <p:nvSpPr>
          <p:cNvPr id="402" name="Text 146"/>
          <p:cNvSpPr/>
          <p:nvPr/>
        </p:nvSpPr>
        <p:spPr>
          <a:xfrm>
            <a:off x="6266880" y="2030760"/>
            <a:ext cx="95796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In</a:t>
            </a:r>
            <a:endParaRPr lang="en-GB" sz="900" b="0" u="none" strike="noStrike">
              <a:solidFill>
                <a:srgbClr val="000000"/>
              </a:solidFill>
              <a:effectLst/>
              <a:uFillTx/>
              <a:latin typeface="Arial"/>
            </a:endParaRPr>
          </a:p>
        </p:txBody>
      </p:sp>
      <p:sp>
        <p:nvSpPr>
          <p:cNvPr id="403" name="Text 147"/>
          <p:cNvSpPr/>
          <p:nvPr/>
        </p:nvSpPr>
        <p:spPr>
          <a:xfrm>
            <a:off x="7227000" y="2030760"/>
            <a:ext cx="95796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Out</a:t>
            </a:r>
            <a:endParaRPr lang="en-GB" sz="900" b="0" u="none" strike="noStrike">
              <a:solidFill>
                <a:srgbClr val="000000"/>
              </a:solidFill>
              <a:effectLst/>
              <a:uFillTx/>
              <a:latin typeface="Arial"/>
            </a:endParaRPr>
          </a:p>
        </p:txBody>
      </p:sp>
      <p:sp>
        <p:nvSpPr>
          <p:cNvPr id="404" name="Shape 127"/>
          <p:cNvSpPr/>
          <p:nvPr/>
        </p:nvSpPr>
        <p:spPr>
          <a:xfrm>
            <a:off x="7227000" y="2030400"/>
            <a:ext cx="360" cy="932760"/>
          </a:xfrm>
          <a:prstGeom prst="line">
            <a:avLst/>
          </a:prstGeom>
          <a:ln w="6480">
            <a:solidFill>
              <a:srgbClr val="D1D5DB"/>
            </a:solidFill>
            <a:roun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405" name="Shape 128"/>
          <p:cNvSpPr/>
          <p:nvPr/>
        </p:nvSpPr>
        <p:spPr>
          <a:xfrm>
            <a:off x="6358320" y="2469600"/>
            <a:ext cx="775080" cy="290520"/>
          </a:xfrm>
          <a:prstGeom prst="rect">
            <a:avLst/>
          </a:prstGeom>
          <a:solidFill>
            <a:srgbClr val="FFFFFF"/>
          </a:solidFill>
          <a:ln w="12600">
            <a:solidFill>
              <a:srgbClr val="F7931A"/>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06" name="Text 148"/>
          <p:cNvSpPr/>
          <p:nvPr/>
        </p:nvSpPr>
        <p:spPr>
          <a:xfrm>
            <a:off x="6358320" y="246960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4₿</a:t>
            </a:r>
            <a:endParaRPr lang="en-GB" sz="900" b="0" u="none" strike="noStrike">
              <a:solidFill>
                <a:srgbClr val="000000"/>
              </a:solidFill>
              <a:effectLst/>
              <a:uFillTx/>
              <a:latin typeface="Arial"/>
            </a:endParaRPr>
          </a:p>
        </p:txBody>
      </p:sp>
      <p:sp>
        <p:nvSpPr>
          <p:cNvPr id="407" name="Shape 129"/>
          <p:cNvSpPr/>
          <p:nvPr/>
        </p:nvSpPr>
        <p:spPr>
          <a:xfrm>
            <a:off x="7318440" y="230040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08" name="Text 149"/>
          <p:cNvSpPr/>
          <p:nvPr/>
        </p:nvSpPr>
        <p:spPr>
          <a:xfrm>
            <a:off x="7318440" y="230040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2₿</a:t>
            </a:r>
            <a:endParaRPr lang="en-GB" sz="900" b="0" u="none" strike="noStrike">
              <a:solidFill>
                <a:srgbClr val="000000"/>
              </a:solidFill>
              <a:effectLst/>
              <a:uFillTx/>
              <a:latin typeface="Arial"/>
            </a:endParaRPr>
          </a:p>
        </p:txBody>
      </p:sp>
      <p:sp>
        <p:nvSpPr>
          <p:cNvPr id="409" name="Shape 131"/>
          <p:cNvSpPr/>
          <p:nvPr/>
        </p:nvSpPr>
        <p:spPr>
          <a:xfrm>
            <a:off x="7318440" y="263880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10" name="Text 150"/>
          <p:cNvSpPr/>
          <p:nvPr/>
        </p:nvSpPr>
        <p:spPr>
          <a:xfrm>
            <a:off x="7318440" y="263880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2₿</a:t>
            </a:r>
            <a:endParaRPr lang="en-GB" sz="900" b="0" u="none" strike="noStrike">
              <a:solidFill>
                <a:srgbClr val="000000"/>
              </a:solidFill>
              <a:effectLst/>
              <a:uFillTx/>
              <a:latin typeface="Arial"/>
            </a:endParaRPr>
          </a:p>
        </p:txBody>
      </p:sp>
      <p:sp>
        <p:nvSpPr>
          <p:cNvPr id="411" name="Text 151"/>
          <p:cNvSpPr/>
          <p:nvPr/>
        </p:nvSpPr>
        <p:spPr>
          <a:xfrm>
            <a:off x="6266880" y="3036600"/>
            <a:ext cx="191808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i="1" u="none" strike="noStrike">
                <a:solidFill>
                  <a:srgbClr val="5A6B8C"/>
                </a:solidFill>
                <a:effectLst/>
                <a:uFillTx/>
                <a:latin typeface="Calibri"/>
                <a:ea typeface="Calibri"/>
              </a:rPr>
              <a:t>held off-chain by A</a:t>
            </a:r>
            <a:endParaRPr lang="en-GB" sz="900" b="0" u="none" strike="noStrike">
              <a:solidFill>
                <a:srgbClr val="000000"/>
              </a:solidFill>
              <a:effectLst/>
              <a:uFillTx/>
              <a:latin typeface="Arial"/>
            </a:endParaRPr>
          </a:p>
        </p:txBody>
      </p:sp>
      <p:sp>
        <p:nvSpPr>
          <p:cNvPr id="412" name="Text 152"/>
          <p:cNvSpPr/>
          <p:nvPr/>
        </p:nvSpPr>
        <p:spPr>
          <a:xfrm>
            <a:off x="8232840" y="2178720"/>
            <a:ext cx="27216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B3D"/>
                </a:solidFill>
                <a:effectLst/>
                <a:uFillTx/>
                <a:latin typeface="Cambria"/>
                <a:ea typeface="Cambria"/>
              </a:rPr>
              <a:t>A+Δ</a:t>
            </a:r>
            <a:endParaRPr lang="en-GB" sz="1100" b="0" u="none" strike="noStrike">
              <a:solidFill>
                <a:srgbClr val="000000"/>
              </a:solidFill>
              <a:effectLst/>
              <a:uFillTx/>
              <a:latin typeface="Arial"/>
            </a:endParaRPr>
          </a:p>
        </p:txBody>
      </p:sp>
      <p:sp>
        <p:nvSpPr>
          <p:cNvPr id="413" name="Text 153"/>
          <p:cNvSpPr/>
          <p:nvPr/>
        </p:nvSpPr>
        <p:spPr>
          <a:xfrm>
            <a:off x="8340840" y="2534760"/>
            <a:ext cx="27216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B3D"/>
                </a:solidFill>
                <a:effectLst/>
                <a:uFillTx/>
                <a:latin typeface="Cambria"/>
                <a:ea typeface="Cambria"/>
              </a:rPr>
              <a:t>B</a:t>
            </a:r>
            <a:endParaRPr lang="en-GB" sz="1100" b="0" u="none" strike="noStrike">
              <a:solidFill>
                <a:srgbClr val="000000"/>
              </a:solidFill>
              <a:effectLst/>
              <a:uFillTx/>
              <a:latin typeface="Arial"/>
            </a:endParaRPr>
          </a:p>
        </p:txBody>
      </p:sp>
      <p:sp>
        <p:nvSpPr>
          <p:cNvPr id="414" name="Shape 132"/>
          <p:cNvSpPr/>
          <p:nvPr/>
        </p:nvSpPr>
        <p:spPr>
          <a:xfrm>
            <a:off x="8225640" y="2450520"/>
            <a:ext cx="37080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415" name="Shape 133"/>
          <p:cNvSpPr/>
          <p:nvPr/>
        </p:nvSpPr>
        <p:spPr>
          <a:xfrm>
            <a:off x="8225640" y="2774520"/>
            <a:ext cx="37080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416" name=""/>
          <p:cNvSpPr/>
          <p:nvPr/>
        </p:nvSpPr>
        <p:spPr>
          <a:xfrm flipH="1">
            <a:off x="3420000" y="1620000"/>
            <a:ext cx="2340000" cy="1440000"/>
          </a:xfrm>
          <a:prstGeom prst="line">
            <a:avLst/>
          </a:prstGeom>
          <a:ln w="18000">
            <a:solidFill>
              <a:srgbClr val="FF0000"/>
            </a:solidFill>
            <a:round/>
          </a:ln>
        </p:spPr>
        <p:style>
          <a:lnRef idx="0"/>
          <a:fillRef idx="0"/>
          <a:effectRef idx="0"/>
          <a:fontRef idx="minor"/>
        </p:style>
        <p:txBody>
          <a:bodyPr lIns="99000" tIns="54000" rIns="99000" bIns="54000" anchor="ctr">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7" name="Text 126"/>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An Elmo </a:t>
            </a:r>
            <a:r>
              <a:rPr lang="en-US" sz="2600" b="1" i="1" u="none" strike="noStrike">
                <a:solidFill>
                  <a:srgbClr val="0F1B3D"/>
                </a:solidFill>
                <a:effectLst/>
                <a:uFillTx/>
                <a:latin typeface="Cambria"/>
                <a:ea typeface="Cambria"/>
              </a:rPr>
              <a:t>simple </a:t>
            </a:r>
            <a:r>
              <a:rPr lang="en-US" sz="2600" b="1" u="none" strike="noStrike">
                <a:solidFill>
                  <a:srgbClr val="0F1B3D"/>
                </a:solidFill>
                <a:effectLst/>
                <a:uFillTx/>
                <a:latin typeface="Cambria"/>
                <a:ea typeface="Cambria"/>
              </a:rPr>
              <a:t>channel</a:t>
            </a:r>
            <a:endParaRPr lang="en-GB" sz="2600" b="0" u="none" strike="noStrike">
              <a:solidFill>
                <a:srgbClr val="000000"/>
              </a:solidFill>
              <a:effectLst/>
              <a:uFillTx/>
              <a:latin typeface="Arial"/>
            </a:endParaRPr>
          </a:p>
        </p:txBody>
      </p:sp>
      <p:sp>
        <p:nvSpPr>
          <p:cNvPr id="418" name="Text 130"/>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Like a Lightning channel</a:t>
            </a:r>
            <a:endParaRPr lang="en-GB" sz="1300" b="0" u="none" strike="noStrike">
              <a:solidFill>
                <a:srgbClr val="000000"/>
              </a:solidFill>
              <a:effectLst/>
              <a:uFillTx/>
              <a:latin typeface="Arial"/>
            </a:endParaRPr>
          </a:p>
        </p:txBody>
      </p:sp>
      <p:sp>
        <p:nvSpPr>
          <p:cNvPr id="419" name="Shape 108"/>
          <p:cNvSpPr/>
          <p:nvPr/>
        </p:nvSpPr>
        <p:spPr>
          <a:xfrm>
            <a:off x="1097280" y="1737360"/>
            <a:ext cx="1643760" cy="1278000"/>
          </a:xfrm>
          <a:prstGeom prst="rect">
            <a:avLst/>
          </a:prstGeom>
          <a:solidFill>
            <a:srgbClr val="FFFFFF"/>
          </a:solidFill>
          <a:ln w="12600">
            <a:solidFill>
              <a:srgbClr val="9CA3A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20" name="Text 138"/>
          <p:cNvSpPr/>
          <p:nvPr/>
        </p:nvSpPr>
        <p:spPr>
          <a:xfrm>
            <a:off x="1097280" y="1755720"/>
            <a:ext cx="164376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F1B3D"/>
                </a:solidFill>
                <a:effectLst/>
                <a:uFillTx/>
                <a:latin typeface="Cambria"/>
                <a:ea typeface="Cambria"/>
              </a:rPr>
              <a:t>Funding F</a:t>
            </a:r>
            <a:endParaRPr lang="en-GB" sz="1100" b="0" u="none" strike="noStrike">
              <a:solidFill>
                <a:srgbClr val="000000"/>
              </a:solidFill>
              <a:effectLst/>
              <a:uFillTx/>
              <a:latin typeface="Arial"/>
            </a:endParaRPr>
          </a:p>
        </p:txBody>
      </p:sp>
      <p:sp>
        <p:nvSpPr>
          <p:cNvPr id="421" name="Text 142"/>
          <p:cNvSpPr/>
          <p:nvPr/>
        </p:nvSpPr>
        <p:spPr>
          <a:xfrm>
            <a:off x="1097280" y="2030040"/>
            <a:ext cx="82080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In</a:t>
            </a:r>
            <a:endParaRPr lang="en-GB" sz="900" b="0" u="none" strike="noStrike">
              <a:solidFill>
                <a:srgbClr val="000000"/>
              </a:solidFill>
              <a:effectLst/>
              <a:uFillTx/>
              <a:latin typeface="Arial"/>
            </a:endParaRPr>
          </a:p>
        </p:txBody>
      </p:sp>
      <p:sp>
        <p:nvSpPr>
          <p:cNvPr id="422" name="Text 143"/>
          <p:cNvSpPr/>
          <p:nvPr/>
        </p:nvSpPr>
        <p:spPr>
          <a:xfrm>
            <a:off x="1920240" y="2030040"/>
            <a:ext cx="82080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Out</a:t>
            </a:r>
            <a:endParaRPr lang="en-GB" sz="900" b="0" u="none" strike="noStrike">
              <a:solidFill>
                <a:srgbClr val="000000"/>
              </a:solidFill>
              <a:effectLst/>
              <a:uFillTx/>
              <a:latin typeface="Arial"/>
            </a:endParaRPr>
          </a:p>
        </p:txBody>
      </p:sp>
      <p:sp>
        <p:nvSpPr>
          <p:cNvPr id="423" name="Shape 111"/>
          <p:cNvSpPr/>
          <p:nvPr/>
        </p:nvSpPr>
        <p:spPr>
          <a:xfrm>
            <a:off x="1920240" y="2029680"/>
            <a:ext cx="360" cy="932760"/>
          </a:xfrm>
          <a:prstGeom prst="line">
            <a:avLst/>
          </a:prstGeom>
          <a:ln w="6480">
            <a:solidFill>
              <a:srgbClr val="D1D5DB"/>
            </a:solidFill>
            <a:roun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424" name="Shape 120"/>
          <p:cNvSpPr/>
          <p:nvPr/>
        </p:nvSpPr>
        <p:spPr>
          <a:xfrm>
            <a:off x="1188720" y="2299680"/>
            <a:ext cx="63792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25" name="Text 144"/>
          <p:cNvSpPr/>
          <p:nvPr/>
        </p:nvSpPr>
        <p:spPr>
          <a:xfrm>
            <a:off x="1188720" y="2299680"/>
            <a:ext cx="63792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3₿</a:t>
            </a:r>
            <a:endParaRPr lang="en-GB" sz="900" b="0" u="none" strike="noStrike">
              <a:solidFill>
                <a:srgbClr val="000000"/>
              </a:solidFill>
              <a:effectLst/>
              <a:uFillTx/>
              <a:latin typeface="Arial"/>
            </a:endParaRPr>
          </a:p>
        </p:txBody>
      </p:sp>
      <p:sp>
        <p:nvSpPr>
          <p:cNvPr id="426" name="Shape 123"/>
          <p:cNvSpPr/>
          <p:nvPr/>
        </p:nvSpPr>
        <p:spPr>
          <a:xfrm>
            <a:off x="1188720" y="2638080"/>
            <a:ext cx="63792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27" name="Text 154"/>
          <p:cNvSpPr/>
          <p:nvPr/>
        </p:nvSpPr>
        <p:spPr>
          <a:xfrm>
            <a:off x="1188720" y="2638080"/>
            <a:ext cx="63792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1₿</a:t>
            </a:r>
            <a:endParaRPr lang="en-GB" sz="900" b="0" u="none" strike="noStrike">
              <a:solidFill>
                <a:srgbClr val="000000"/>
              </a:solidFill>
              <a:effectLst/>
              <a:uFillTx/>
              <a:latin typeface="Arial"/>
            </a:endParaRPr>
          </a:p>
        </p:txBody>
      </p:sp>
      <p:sp>
        <p:nvSpPr>
          <p:cNvPr id="428" name="Shape 134"/>
          <p:cNvSpPr/>
          <p:nvPr/>
        </p:nvSpPr>
        <p:spPr>
          <a:xfrm>
            <a:off x="2011680" y="2468880"/>
            <a:ext cx="63792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29" name="Text 155"/>
          <p:cNvSpPr/>
          <p:nvPr/>
        </p:nvSpPr>
        <p:spPr>
          <a:xfrm>
            <a:off x="2011680" y="2468880"/>
            <a:ext cx="63792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4₿</a:t>
            </a:r>
            <a:endParaRPr lang="en-GB" sz="900" b="0" u="none" strike="noStrike">
              <a:solidFill>
                <a:srgbClr val="000000"/>
              </a:solidFill>
              <a:effectLst/>
              <a:uFillTx/>
              <a:latin typeface="Arial"/>
            </a:endParaRPr>
          </a:p>
        </p:txBody>
      </p:sp>
      <p:sp>
        <p:nvSpPr>
          <p:cNvPr id="430" name="Text 156"/>
          <p:cNvSpPr/>
          <p:nvPr/>
        </p:nvSpPr>
        <p:spPr>
          <a:xfrm>
            <a:off x="1097280" y="3035880"/>
            <a:ext cx="164376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i="1" u="none" strike="noStrike">
                <a:solidFill>
                  <a:srgbClr val="5A6B8C"/>
                </a:solidFill>
                <a:effectLst/>
                <a:uFillTx/>
                <a:latin typeface="Calibri"/>
                <a:ea typeface="Calibri"/>
              </a:rPr>
              <a:t>on-chain</a:t>
            </a:r>
            <a:endParaRPr lang="en-GB" sz="900" b="0" u="none" strike="noStrike">
              <a:solidFill>
                <a:srgbClr val="000000"/>
              </a:solidFill>
              <a:effectLst/>
              <a:uFillTx/>
              <a:latin typeface="Arial"/>
            </a:endParaRPr>
          </a:p>
        </p:txBody>
      </p:sp>
      <p:sp>
        <p:nvSpPr>
          <p:cNvPr id="431" name="Text 157"/>
          <p:cNvSpPr/>
          <p:nvPr/>
        </p:nvSpPr>
        <p:spPr>
          <a:xfrm>
            <a:off x="640080" y="2302560"/>
            <a:ext cx="363600" cy="27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0F1B3D"/>
                </a:solidFill>
                <a:effectLst/>
                <a:uFillTx/>
                <a:latin typeface="Cambria"/>
                <a:ea typeface="Cambria"/>
              </a:rPr>
              <a:t>A</a:t>
            </a:r>
            <a:endParaRPr lang="en-GB" sz="1100" b="0" u="none" strike="noStrike">
              <a:solidFill>
                <a:srgbClr val="000000"/>
              </a:solidFill>
              <a:effectLst/>
              <a:uFillTx/>
              <a:latin typeface="Arial"/>
            </a:endParaRPr>
          </a:p>
        </p:txBody>
      </p:sp>
      <p:sp>
        <p:nvSpPr>
          <p:cNvPr id="432" name="Text 158"/>
          <p:cNvSpPr/>
          <p:nvPr/>
        </p:nvSpPr>
        <p:spPr>
          <a:xfrm>
            <a:off x="640080" y="2668320"/>
            <a:ext cx="363600" cy="27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0F1B3D"/>
                </a:solidFill>
                <a:effectLst/>
                <a:uFillTx/>
                <a:latin typeface="Cambria"/>
                <a:ea typeface="Cambria"/>
              </a:rPr>
              <a:t>B</a:t>
            </a:r>
            <a:endParaRPr lang="en-GB" sz="1100" b="0" u="none" strike="noStrike">
              <a:solidFill>
                <a:srgbClr val="000000"/>
              </a:solidFill>
              <a:effectLst/>
              <a:uFillTx/>
              <a:latin typeface="Arial"/>
            </a:endParaRPr>
          </a:p>
        </p:txBody>
      </p:sp>
      <p:sp>
        <p:nvSpPr>
          <p:cNvPr id="433" name="Shape 135"/>
          <p:cNvSpPr/>
          <p:nvPr/>
        </p:nvSpPr>
        <p:spPr>
          <a:xfrm>
            <a:off x="1023840" y="2439720"/>
            <a:ext cx="119160" cy="360"/>
          </a:xfrm>
          <a:prstGeom prst="line">
            <a:avLst/>
          </a:prstGeom>
          <a:ln w="12600">
            <a:solidFill>
              <a:srgbClr val="374151"/>
            </a:solidFill>
            <a:round/>
            <a:tailEnd len="med" type="triangle" w="med"/>
          </a:ln>
        </p:spPr>
        <p:style>
          <a:lnRef idx="0"/>
          <a:fillRef idx="0"/>
          <a:effectRef idx="0"/>
          <a:fontRef idx="minor"/>
        </p:style>
        <p:txBody>
          <a:bodyPr lIns="59400" tIns="-44640" rIns="59400" bIns="-44640" anchor="t" anchorCtr="1">
            <a:noAutofit/>
          </a:bodyPr>
          <a:p>
            <a:endParaRPr lang="en-GB" sz="1800" b="0" u="none" strike="noStrike">
              <a:solidFill>
                <a:srgbClr val="000000"/>
              </a:solidFill>
              <a:effectLst/>
              <a:uFillTx/>
              <a:latin typeface="Arial"/>
            </a:endParaRPr>
          </a:p>
        </p:txBody>
      </p:sp>
      <p:sp>
        <p:nvSpPr>
          <p:cNvPr id="434" name="Shape 136"/>
          <p:cNvSpPr/>
          <p:nvPr/>
        </p:nvSpPr>
        <p:spPr>
          <a:xfrm>
            <a:off x="1023840" y="2805480"/>
            <a:ext cx="119160" cy="360"/>
          </a:xfrm>
          <a:prstGeom prst="line">
            <a:avLst/>
          </a:prstGeom>
          <a:ln w="12600">
            <a:solidFill>
              <a:srgbClr val="374151"/>
            </a:solidFill>
            <a:round/>
            <a:tailEnd len="med" type="triangle" w="med"/>
          </a:ln>
        </p:spPr>
        <p:style>
          <a:lnRef idx="0"/>
          <a:fillRef idx="0"/>
          <a:effectRef idx="0"/>
          <a:fontRef idx="minor"/>
        </p:style>
        <p:txBody>
          <a:bodyPr lIns="59400" tIns="-44640" rIns="59400" bIns="-44640" anchor="t" anchorCtr="1">
            <a:noAutofit/>
          </a:bodyPr>
          <a:p>
            <a:endParaRPr lang="en-GB" sz="1800" b="0" u="none" strike="noStrike">
              <a:solidFill>
                <a:srgbClr val="000000"/>
              </a:solidFill>
              <a:effectLst/>
              <a:uFillTx/>
              <a:latin typeface="Arial"/>
            </a:endParaRPr>
          </a:p>
        </p:txBody>
      </p:sp>
      <p:sp>
        <p:nvSpPr>
          <p:cNvPr id="435" name="Shape 137"/>
          <p:cNvSpPr/>
          <p:nvPr/>
        </p:nvSpPr>
        <p:spPr>
          <a:xfrm>
            <a:off x="2788920" y="2629440"/>
            <a:ext cx="343080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436" name="Text 159"/>
          <p:cNvSpPr/>
          <p:nvPr/>
        </p:nvSpPr>
        <p:spPr>
          <a:xfrm>
            <a:off x="4147200" y="2446560"/>
            <a:ext cx="82080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i="1" u="none" strike="noStrike">
                <a:solidFill>
                  <a:srgbClr val="5A6B8C"/>
                </a:solidFill>
                <a:effectLst/>
                <a:uFillTx/>
                <a:latin typeface="Calibri"/>
                <a:ea typeface="Calibri"/>
              </a:rPr>
              <a:t>CheckMultiSig</a:t>
            </a:r>
            <a:endParaRPr lang="en-GB" sz="800" b="0" u="none" strike="noStrike">
              <a:solidFill>
                <a:srgbClr val="000000"/>
              </a:solidFill>
              <a:effectLst/>
              <a:uFillTx/>
              <a:latin typeface="Arial"/>
            </a:endParaRPr>
          </a:p>
        </p:txBody>
      </p:sp>
      <p:sp>
        <p:nvSpPr>
          <p:cNvPr id="437" name="Text 160"/>
          <p:cNvSpPr/>
          <p:nvPr/>
        </p:nvSpPr>
        <p:spPr>
          <a:xfrm>
            <a:off x="4147200" y="2656800"/>
            <a:ext cx="82080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5E72E4"/>
                </a:solidFill>
                <a:effectLst/>
                <a:uFillTx/>
                <a:latin typeface="Calibri"/>
                <a:ea typeface="Calibri"/>
              </a:rPr>
              <a:t>A &amp; B</a:t>
            </a:r>
            <a:endParaRPr lang="en-GB" sz="800" b="0" u="none" strike="noStrike">
              <a:solidFill>
                <a:srgbClr val="000000"/>
              </a:solidFill>
              <a:effectLst/>
              <a:uFillTx/>
              <a:latin typeface="Arial"/>
            </a:endParaRPr>
          </a:p>
        </p:txBody>
      </p:sp>
      <p:sp>
        <p:nvSpPr>
          <p:cNvPr id="438" name="Text 170"/>
          <p:cNvSpPr/>
          <p:nvPr/>
        </p:nvSpPr>
        <p:spPr>
          <a:xfrm>
            <a:off x="5943600" y="843120"/>
            <a:ext cx="21009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5A6B8C"/>
                </a:solidFill>
                <a:effectLst/>
                <a:uFillTx/>
                <a:latin typeface="Calibri"/>
                <a:ea typeface="Calibri"/>
              </a:rPr>
              <a:t>B holds a symmetric C</a:t>
            </a:r>
            <a:r>
              <a:rPr lang="en-US" sz="1000" b="0" i="1" u="none" strike="noStrike" baseline="-8000">
                <a:solidFill>
                  <a:srgbClr val="5A6B8C"/>
                </a:solidFill>
                <a:effectLst/>
                <a:uFillTx/>
                <a:latin typeface="Calibri"/>
                <a:ea typeface="Calibri"/>
              </a:rPr>
              <a:t>B</a:t>
            </a:r>
            <a:r>
              <a:rPr lang="en-US" sz="1000" b="0" i="1" u="none" strike="noStrike">
                <a:solidFill>
                  <a:srgbClr val="5A6B8C"/>
                </a:solidFill>
                <a:effectLst/>
                <a:uFillTx/>
                <a:latin typeface="Calibri"/>
                <a:ea typeface="Calibri"/>
              </a:rPr>
              <a:t>’</a:t>
            </a:r>
            <a:r>
              <a:rPr lang="en-US" sz="1000" b="0" i="1" u="none" strike="noStrike">
                <a:solidFill>
                  <a:srgbClr val="FF0000"/>
                </a:solidFill>
                <a:effectLst/>
                <a:uFillTx/>
                <a:latin typeface="Calibri"/>
                <a:ea typeface="Calibri"/>
              </a:rPr>
              <a:t>, C</a:t>
            </a:r>
            <a:r>
              <a:rPr lang="en-US" sz="1000" b="0" i="1" u="none" strike="noStrike" baseline="-8000">
                <a:solidFill>
                  <a:srgbClr val="FF0000"/>
                </a:solidFill>
                <a:effectLst/>
                <a:uFillTx/>
                <a:latin typeface="Calibri"/>
                <a:ea typeface="Calibri"/>
              </a:rPr>
              <a:t>B</a:t>
            </a:r>
            <a:r>
              <a:rPr lang="en-US" sz="1000" b="0" i="1" u="none" strike="noStrike">
                <a:solidFill>
                  <a:srgbClr val="FF0000"/>
                </a:solidFill>
                <a:effectLst/>
                <a:uFillTx/>
                <a:latin typeface="Calibri"/>
                <a:ea typeface="Calibri"/>
              </a:rPr>
              <a:t> also revoked</a:t>
            </a:r>
            <a:endParaRPr lang="en-GB" sz="1000" b="0" u="none" strike="noStrike">
              <a:solidFill>
                <a:srgbClr val="000000"/>
              </a:solidFill>
              <a:effectLst/>
              <a:uFillTx/>
              <a:latin typeface="Arial"/>
            </a:endParaRPr>
          </a:p>
        </p:txBody>
      </p:sp>
      <p:sp>
        <p:nvSpPr>
          <p:cNvPr id="439" name="Text 171"/>
          <p:cNvSpPr/>
          <p:nvPr/>
        </p:nvSpPr>
        <p:spPr>
          <a:xfrm>
            <a:off x="5943600" y="1117440"/>
            <a:ext cx="21009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5A6B8C"/>
                </a:solidFill>
                <a:effectLst/>
                <a:uFillTx/>
                <a:latin typeface="Calibri"/>
                <a:ea typeface="Calibri"/>
              </a:rPr>
              <a:t>Δ = relative timelock (e.g. 5 days)</a:t>
            </a:r>
            <a:endParaRPr lang="en-GB" sz="900" b="0" u="none" strike="noStrike">
              <a:solidFill>
                <a:srgbClr val="000000"/>
              </a:solidFill>
              <a:effectLst/>
              <a:uFillTx/>
              <a:latin typeface="Arial"/>
            </a:endParaRPr>
          </a:p>
        </p:txBody>
      </p:sp>
      <p:sp>
        <p:nvSpPr>
          <p:cNvPr id="440" name="Shape 143"/>
          <p:cNvSpPr/>
          <p:nvPr/>
        </p:nvSpPr>
        <p:spPr>
          <a:xfrm>
            <a:off x="5943600" y="1437480"/>
            <a:ext cx="180720" cy="135000"/>
          </a:xfrm>
          <a:prstGeom prst="rect">
            <a:avLst/>
          </a:prstGeom>
          <a:solidFill>
            <a:srgbClr val="FFFFFF"/>
          </a:solidFill>
          <a:ln w="12600">
            <a:solidFill>
              <a:srgbClr val="F7931A"/>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41" name="Text 172"/>
          <p:cNvSpPr/>
          <p:nvPr/>
        </p:nvSpPr>
        <p:spPr>
          <a:xfrm>
            <a:off x="6172200" y="1428480"/>
            <a:ext cx="1460880" cy="153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5A6B8C"/>
                </a:solidFill>
                <a:effectLst/>
                <a:uFillTx/>
                <a:latin typeface="Calibri"/>
                <a:ea typeface="Calibri"/>
              </a:rPr>
              <a:t>= pre-signed</a:t>
            </a:r>
            <a:endParaRPr lang="en-GB" sz="800" b="0" u="none" strike="noStrike">
              <a:solidFill>
                <a:srgbClr val="000000"/>
              </a:solidFill>
              <a:effectLst/>
              <a:uFillTx/>
              <a:latin typeface="Arial"/>
            </a:endParaRPr>
          </a:p>
        </p:txBody>
      </p:sp>
      <p:sp>
        <p:nvSpPr>
          <p:cNvPr id="442" name="Shape 144"/>
          <p:cNvSpPr/>
          <p:nvPr/>
        </p:nvSpPr>
        <p:spPr>
          <a:xfrm>
            <a:off x="365760" y="3383280"/>
            <a:ext cx="2695320" cy="1278000"/>
          </a:xfrm>
          <a:prstGeom prst="rect">
            <a:avLst/>
          </a:prstGeom>
          <a:solidFill>
            <a:srgbClr val="EEF1F8"/>
          </a:solidFill>
          <a:ln w="12600">
            <a:solidFill>
              <a:srgbClr val="DDE3F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43" name="Text 173"/>
          <p:cNvSpPr/>
          <p:nvPr/>
        </p:nvSpPr>
        <p:spPr>
          <a:xfrm>
            <a:off x="502920" y="3474720"/>
            <a:ext cx="246672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7931A"/>
                </a:solidFill>
                <a:effectLst/>
                <a:uFillTx/>
                <a:latin typeface="Cambria"/>
                <a:ea typeface="Cambria"/>
              </a:rPr>
              <a:t>Open</a:t>
            </a:r>
            <a:endParaRPr lang="en-GB" sz="1300" b="0" u="none" strike="noStrike">
              <a:solidFill>
                <a:srgbClr val="000000"/>
              </a:solidFill>
              <a:effectLst/>
              <a:uFillTx/>
              <a:latin typeface="Arial"/>
            </a:endParaRPr>
          </a:p>
        </p:txBody>
      </p:sp>
      <p:sp>
        <p:nvSpPr>
          <p:cNvPr id="444" name="Text 174"/>
          <p:cNvSpPr/>
          <p:nvPr/>
        </p:nvSpPr>
        <p:spPr>
          <a:xfrm>
            <a:off x="502920" y="3840480"/>
            <a:ext cx="2466720" cy="775080"/>
          </a:xfrm>
          <a:prstGeom prst="rect">
            <a:avLst/>
          </a:prstGeom>
          <a:noFill/>
          <a:ln w="0">
            <a:noFill/>
          </a:ln>
        </p:spPr>
        <p:style>
          <a:lnRef idx="0"/>
          <a:fillRef idx="0"/>
          <a:effectRef idx="0"/>
          <a:fontRef idx="minor"/>
        </p:style>
        <p:txBody>
          <a:bodyPr lIns="0" tIns="0" rIns="0" bIns="0" anchor="ctr">
            <a:noAutofit/>
          </a:bodyPr>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Sign C</a:t>
            </a:r>
            <a:r>
              <a:rPr lang="en-US" sz="1000" b="0" u="none" strike="noStrike" baseline="-8000">
                <a:solidFill>
                  <a:srgbClr val="0F1B3D"/>
                </a:solidFill>
                <a:effectLst/>
                <a:uFillTx/>
                <a:latin typeface="Calibri"/>
                <a:ea typeface="Calibri"/>
              </a:rPr>
              <a:t>A</a:t>
            </a:r>
            <a:r>
              <a:rPr lang="en-US" sz="1000" b="0" u="none" strike="noStrike">
                <a:solidFill>
                  <a:srgbClr val="0F1B3D"/>
                </a:solidFill>
                <a:effectLst/>
                <a:uFillTx/>
                <a:latin typeface="Calibri"/>
                <a:ea typeface="Calibri"/>
              </a:rPr>
              <a:t>, C</a:t>
            </a:r>
            <a:r>
              <a:rPr lang="en-US" sz="1000" b="0" u="none" strike="noStrike" baseline="-8000">
                <a:solidFill>
                  <a:srgbClr val="0F1B3D"/>
                </a:solidFill>
                <a:effectLst/>
                <a:uFillTx/>
                <a:latin typeface="Calibri"/>
                <a:ea typeface="Calibri"/>
              </a:rPr>
              <a:t>B</a:t>
            </a:r>
            <a:r>
              <a:rPr lang="en-US" sz="1000" b="0" u="none" strike="noStrike">
                <a:solidFill>
                  <a:srgbClr val="0F1B3D"/>
                </a:solidFill>
                <a:effectLst/>
                <a:uFillTx/>
                <a:latin typeface="Calibri"/>
                <a:ea typeface="Calibri"/>
              </a:rPr>
              <a:t> off-chain</a:t>
            </a:r>
            <a:endParaRPr lang="en-GB" sz="1000" b="0" u="none" strike="noStrike">
              <a:solidFill>
                <a:srgbClr val="000000"/>
              </a:solidFill>
              <a:effectLst/>
              <a:uFillTx/>
              <a:latin typeface="Arial"/>
            </a:endParaRPr>
          </a:p>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Publish F on-chain</a:t>
            </a:r>
            <a:endParaRPr lang="en-GB" sz="1000" b="0" u="none" strike="noStrike">
              <a:solidFill>
                <a:srgbClr val="000000"/>
              </a:solidFill>
              <a:effectLst/>
              <a:uFillTx/>
              <a:latin typeface="Arial"/>
            </a:endParaRPr>
          </a:p>
        </p:txBody>
      </p:sp>
      <p:sp>
        <p:nvSpPr>
          <p:cNvPr id="445" name="Shape 145"/>
          <p:cNvSpPr/>
          <p:nvPr/>
        </p:nvSpPr>
        <p:spPr>
          <a:xfrm>
            <a:off x="3227760" y="3383280"/>
            <a:ext cx="2695320" cy="1278000"/>
          </a:xfrm>
          <a:prstGeom prst="rect">
            <a:avLst/>
          </a:prstGeom>
          <a:solidFill>
            <a:srgbClr val="EEF1F8"/>
          </a:solidFill>
          <a:ln w="12600">
            <a:solidFill>
              <a:srgbClr val="DDE3F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46" name="Text 175"/>
          <p:cNvSpPr/>
          <p:nvPr/>
        </p:nvSpPr>
        <p:spPr>
          <a:xfrm>
            <a:off x="3364920" y="3474720"/>
            <a:ext cx="246672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7931A"/>
                </a:solidFill>
                <a:effectLst/>
                <a:uFillTx/>
                <a:latin typeface="Cambria"/>
                <a:ea typeface="Cambria"/>
              </a:rPr>
              <a:t>Α pays B 1₿</a:t>
            </a:r>
            <a:endParaRPr lang="en-GB" sz="1300" b="0" u="none" strike="noStrike">
              <a:solidFill>
                <a:srgbClr val="000000"/>
              </a:solidFill>
              <a:effectLst/>
              <a:uFillTx/>
              <a:latin typeface="Arial"/>
            </a:endParaRPr>
          </a:p>
        </p:txBody>
      </p:sp>
      <p:sp>
        <p:nvSpPr>
          <p:cNvPr id="447" name="Text 176"/>
          <p:cNvSpPr/>
          <p:nvPr/>
        </p:nvSpPr>
        <p:spPr>
          <a:xfrm>
            <a:off x="3364920" y="3840480"/>
            <a:ext cx="2466720" cy="775080"/>
          </a:xfrm>
          <a:prstGeom prst="rect">
            <a:avLst/>
          </a:prstGeom>
          <a:noFill/>
          <a:ln w="0">
            <a:noFill/>
          </a:ln>
        </p:spPr>
        <p:style>
          <a:lnRef idx="0"/>
          <a:fillRef idx="0"/>
          <a:effectRef idx="0"/>
          <a:fontRef idx="minor"/>
        </p:style>
        <p:txBody>
          <a:bodyPr lIns="0" tIns="0" rIns="0" bIns="0" anchor="ctr">
            <a:noAutofit/>
          </a:bodyPr>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Build and sign new C</a:t>
            </a:r>
            <a:r>
              <a:rPr lang="en-US" sz="1000" b="0" u="none" strike="noStrike" baseline="-8000">
                <a:solidFill>
                  <a:srgbClr val="0F1B3D"/>
                </a:solidFill>
                <a:effectLst/>
                <a:uFillTx/>
                <a:latin typeface="Calibri"/>
                <a:ea typeface="Calibri"/>
              </a:rPr>
              <a:t>A</a:t>
            </a:r>
            <a:r>
              <a:rPr lang="en-US" sz="1000" b="0" u="none" strike="noStrike">
                <a:solidFill>
                  <a:srgbClr val="0F1B3D"/>
                </a:solidFill>
                <a:effectLst/>
                <a:uFillTx/>
                <a:latin typeface="Calibri"/>
                <a:ea typeface="Calibri"/>
              </a:rPr>
              <a:t>', C</a:t>
            </a:r>
            <a:r>
              <a:rPr lang="en-US" sz="1000" b="0" u="none" strike="noStrike" baseline="-8000">
                <a:solidFill>
                  <a:srgbClr val="0F1B3D"/>
                </a:solidFill>
                <a:effectLst/>
                <a:uFillTx/>
                <a:latin typeface="Calibri"/>
                <a:ea typeface="Calibri"/>
              </a:rPr>
              <a:t>B</a:t>
            </a:r>
            <a:r>
              <a:rPr lang="en-US" sz="1000" b="0" u="none" strike="noStrike">
                <a:solidFill>
                  <a:srgbClr val="0F1B3D"/>
                </a:solidFill>
                <a:effectLst/>
                <a:uFillTx/>
                <a:latin typeface="Calibri"/>
                <a:ea typeface="Calibri"/>
              </a:rPr>
              <a:t>' with shifted balances.</a:t>
            </a:r>
            <a:endParaRPr lang="en-GB" sz="1000" b="0" u="none" strike="noStrike">
              <a:solidFill>
                <a:srgbClr val="000000"/>
              </a:solidFill>
              <a:effectLst/>
              <a:uFillTx/>
              <a:latin typeface="Arial"/>
            </a:endParaRPr>
          </a:p>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Revoke old commitments.</a:t>
            </a:r>
            <a:endParaRPr lang="en-GB" sz="1000" b="0" u="none" strike="noStrike">
              <a:solidFill>
                <a:srgbClr val="000000"/>
              </a:solidFill>
              <a:effectLst/>
              <a:uFillTx/>
              <a:latin typeface="Arial"/>
            </a:endParaRPr>
          </a:p>
        </p:txBody>
      </p:sp>
      <p:sp>
        <p:nvSpPr>
          <p:cNvPr id="448" name="Shape 146"/>
          <p:cNvSpPr/>
          <p:nvPr/>
        </p:nvSpPr>
        <p:spPr>
          <a:xfrm>
            <a:off x="6089760" y="3383280"/>
            <a:ext cx="2695320" cy="1278000"/>
          </a:xfrm>
          <a:prstGeom prst="rect">
            <a:avLst/>
          </a:prstGeom>
          <a:solidFill>
            <a:srgbClr val="EEF1F8"/>
          </a:solidFill>
          <a:ln w="12600">
            <a:solidFill>
              <a:srgbClr val="DDE3F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49" name="Text 177"/>
          <p:cNvSpPr/>
          <p:nvPr/>
        </p:nvSpPr>
        <p:spPr>
          <a:xfrm>
            <a:off x="6226920" y="3474720"/>
            <a:ext cx="246672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7931A"/>
                </a:solidFill>
                <a:effectLst/>
                <a:uFillTx/>
                <a:latin typeface="Cambria"/>
                <a:ea typeface="Cambria"/>
              </a:rPr>
              <a:t>Close (unilateral)</a:t>
            </a:r>
            <a:endParaRPr lang="en-GB" sz="1300" b="0" u="none" strike="noStrike">
              <a:solidFill>
                <a:srgbClr val="000000"/>
              </a:solidFill>
              <a:effectLst/>
              <a:uFillTx/>
              <a:latin typeface="Arial"/>
            </a:endParaRPr>
          </a:p>
        </p:txBody>
      </p:sp>
      <p:sp>
        <p:nvSpPr>
          <p:cNvPr id="450" name="Text 178"/>
          <p:cNvSpPr/>
          <p:nvPr/>
        </p:nvSpPr>
        <p:spPr>
          <a:xfrm>
            <a:off x="6226920" y="3840480"/>
            <a:ext cx="2466720" cy="775080"/>
          </a:xfrm>
          <a:prstGeom prst="rect">
            <a:avLst/>
          </a:prstGeom>
          <a:noFill/>
          <a:ln w="0">
            <a:noFill/>
          </a:ln>
        </p:spPr>
        <p:style>
          <a:lnRef idx="0"/>
          <a:fillRef idx="0"/>
          <a:effectRef idx="0"/>
          <a:fontRef idx="minor"/>
        </p:style>
        <p:txBody>
          <a:bodyPr lIns="0" tIns="0" rIns="0" bIns="0" anchor="ctr">
            <a:noAutofit/>
          </a:bodyPr>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Publish latest commitment on-chain</a:t>
            </a:r>
            <a:endParaRPr lang="en-GB" sz="1000" b="0" u="none" strike="noStrike">
              <a:solidFill>
                <a:srgbClr val="000000"/>
              </a:solidFill>
              <a:effectLst/>
              <a:uFillTx/>
              <a:latin typeface="Arial"/>
            </a:endParaRPr>
          </a:p>
          <a:p>
            <a:pPr marL="216000" indent="-216000" defTabSz="914400">
              <a:lnSpc>
                <a:spcPct val="100000"/>
              </a:lnSpc>
              <a:buClr>
                <a:srgbClr val="0F1B3D"/>
              </a:buClr>
              <a:buFont typeface="Wingdings" charset="2"/>
              <a:buChar char=""/>
              <a:tabLst>
                <a:tab pos="0" algn="l"/>
              </a:tabLst>
            </a:pPr>
            <a:r>
              <a:rPr lang="en-US" sz="1000" b="0" u="none" strike="noStrike">
                <a:solidFill>
                  <a:srgbClr val="0F1B3D"/>
                </a:solidFill>
                <a:effectLst/>
                <a:uFillTx/>
                <a:latin typeface="Calibri"/>
                <a:ea typeface="Calibri"/>
              </a:rPr>
              <a:t>Wait timelock Δ</a:t>
            </a:r>
            <a:endParaRPr lang="en-GB" sz="1000" b="0" u="none" strike="noStrike">
              <a:solidFill>
                <a:srgbClr val="000000"/>
              </a:solidFill>
              <a:effectLst/>
              <a:uFillTx/>
              <a:latin typeface="Arial"/>
            </a:endParaRPr>
          </a:p>
        </p:txBody>
      </p:sp>
      <p:sp>
        <p:nvSpPr>
          <p:cNvPr id="451" name="Text 179"/>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452" name="Text 180"/>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9 / 14</a:t>
            </a:r>
            <a:endParaRPr lang="en-GB" sz="900" b="0" u="none" strike="noStrike">
              <a:solidFill>
                <a:srgbClr val="000000"/>
              </a:solidFill>
              <a:effectLst/>
              <a:uFillTx/>
              <a:latin typeface="Arial"/>
            </a:endParaRPr>
          </a:p>
        </p:txBody>
      </p:sp>
      <p:sp>
        <p:nvSpPr>
          <p:cNvPr id="453" name="Shape 151"/>
          <p:cNvSpPr/>
          <p:nvPr/>
        </p:nvSpPr>
        <p:spPr>
          <a:xfrm>
            <a:off x="6266880" y="1738080"/>
            <a:ext cx="1918080" cy="1278000"/>
          </a:xfrm>
          <a:prstGeom prst="rect">
            <a:avLst/>
          </a:prstGeom>
          <a:solidFill>
            <a:srgbClr val="FFFFFF"/>
          </a:solidFill>
          <a:ln w="12600">
            <a:solidFill>
              <a:srgbClr val="9CA3A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54" name="Text 184"/>
          <p:cNvSpPr/>
          <p:nvPr/>
        </p:nvSpPr>
        <p:spPr>
          <a:xfrm>
            <a:off x="6266880" y="1756440"/>
            <a:ext cx="1918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F1B3D"/>
                </a:solidFill>
                <a:effectLst/>
                <a:uFillTx/>
                <a:latin typeface="Cambria"/>
                <a:ea typeface="Cambria"/>
              </a:rPr>
              <a:t>Commitment C</a:t>
            </a:r>
            <a:r>
              <a:rPr lang="en-US" sz="1100" b="1" u="none" strike="noStrike" baseline="-8000">
                <a:solidFill>
                  <a:srgbClr val="0F1B3D"/>
                </a:solidFill>
                <a:effectLst/>
                <a:uFillTx/>
                <a:latin typeface="Cambria"/>
                <a:ea typeface="Cambria"/>
              </a:rPr>
              <a:t>A</a:t>
            </a:r>
            <a:r>
              <a:rPr lang="en-US" sz="1100" b="1" u="none" strike="noStrike">
                <a:solidFill>
                  <a:srgbClr val="0F1B3D"/>
                </a:solidFill>
                <a:effectLst/>
                <a:uFillTx/>
                <a:latin typeface="Cambria"/>
                <a:ea typeface="Cambria"/>
              </a:rPr>
              <a:t>’</a:t>
            </a:r>
            <a:endParaRPr lang="en-GB" sz="1100" b="0" u="none" strike="noStrike">
              <a:solidFill>
                <a:srgbClr val="000000"/>
              </a:solidFill>
              <a:effectLst/>
              <a:uFillTx/>
              <a:latin typeface="Arial"/>
            </a:endParaRPr>
          </a:p>
        </p:txBody>
      </p:sp>
      <p:sp>
        <p:nvSpPr>
          <p:cNvPr id="455" name="Text 185"/>
          <p:cNvSpPr/>
          <p:nvPr/>
        </p:nvSpPr>
        <p:spPr>
          <a:xfrm>
            <a:off x="6266880" y="2030760"/>
            <a:ext cx="95796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In</a:t>
            </a:r>
            <a:endParaRPr lang="en-GB" sz="900" b="0" u="none" strike="noStrike">
              <a:solidFill>
                <a:srgbClr val="000000"/>
              </a:solidFill>
              <a:effectLst/>
              <a:uFillTx/>
              <a:latin typeface="Arial"/>
            </a:endParaRPr>
          </a:p>
        </p:txBody>
      </p:sp>
      <p:sp>
        <p:nvSpPr>
          <p:cNvPr id="456" name="Text 186"/>
          <p:cNvSpPr/>
          <p:nvPr/>
        </p:nvSpPr>
        <p:spPr>
          <a:xfrm>
            <a:off x="7227000" y="2030760"/>
            <a:ext cx="95796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5A6B8C"/>
                </a:solidFill>
                <a:effectLst/>
                <a:uFillTx/>
                <a:latin typeface="Calibri"/>
                <a:ea typeface="Calibri"/>
              </a:rPr>
              <a:t>Out</a:t>
            </a:r>
            <a:endParaRPr lang="en-GB" sz="900" b="0" u="none" strike="noStrike">
              <a:solidFill>
                <a:srgbClr val="000000"/>
              </a:solidFill>
              <a:effectLst/>
              <a:uFillTx/>
              <a:latin typeface="Arial"/>
            </a:endParaRPr>
          </a:p>
        </p:txBody>
      </p:sp>
      <p:sp>
        <p:nvSpPr>
          <p:cNvPr id="457" name="Shape 152"/>
          <p:cNvSpPr/>
          <p:nvPr/>
        </p:nvSpPr>
        <p:spPr>
          <a:xfrm>
            <a:off x="7227000" y="2030400"/>
            <a:ext cx="360" cy="932760"/>
          </a:xfrm>
          <a:prstGeom prst="line">
            <a:avLst/>
          </a:prstGeom>
          <a:ln w="6480">
            <a:solidFill>
              <a:srgbClr val="D1D5DB"/>
            </a:solidFill>
            <a:roun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458" name="Shape 153"/>
          <p:cNvSpPr/>
          <p:nvPr/>
        </p:nvSpPr>
        <p:spPr>
          <a:xfrm>
            <a:off x="6358320" y="2469600"/>
            <a:ext cx="775080" cy="290520"/>
          </a:xfrm>
          <a:prstGeom prst="rect">
            <a:avLst/>
          </a:prstGeom>
          <a:solidFill>
            <a:srgbClr val="FFFFFF"/>
          </a:solidFill>
          <a:ln w="12600">
            <a:solidFill>
              <a:srgbClr val="F7931A"/>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59" name="Text 187"/>
          <p:cNvSpPr/>
          <p:nvPr/>
        </p:nvSpPr>
        <p:spPr>
          <a:xfrm>
            <a:off x="6358320" y="246960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4₿</a:t>
            </a:r>
            <a:endParaRPr lang="en-GB" sz="900" b="0" u="none" strike="noStrike">
              <a:solidFill>
                <a:srgbClr val="000000"/>
              </a:solidFill>
              <a:effectLst/>
              <a:uFillTx/>
              <a:latin typeface="Arial"/>
            </a:endParaRPr>
          </a:p>
        </p:txBody>
      </p:sp>
      <p:sp>
        <p:nvSpPr>
          <p:cNvPr id="460" name="Shape 154"/>
          <p:cNvSpPr/>
          <p:nvPr/>
        </p:nvSpPr>
        <p:spPr>
          <a:xfrm>
            <a:off x="7318440" y="230040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61" name="Text 188"/>
          <p:cNvSpPr/>
          <p:nvPr/>
        </p:nvSpPr>
        <p:spPr>
          <a:xfrm>
            <a:off x="7318440" y="230040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2₿</a:t>
            </a:r>
            <a:endParaRPr lang="en-GB" sz="900" b="0" u="none" strike="noStrike">
              <a:solidFill>
                <a:srgbClr val="000000"/>
              </a:solidFill>
              <a:effectLst/>
              <a:uFillTx/>
              <a:latin typeface="Arial"/>
            </a:endParaRPr>
          </a:p>
        </p:txBody>
      </p:sp>
      <p:sp>
        <p:nvSpPr>
          <p:cNvPr id="462" name="Shape 155"/>
          <p:cNvSpPr/>
          <p:nvPr/>
        </p:nvSpPr>
        <p:spPr>
          <a:xfrm>
            <a:off x="7318440" y="2638800"/>
            <a:ext cx="775080" cy="290520"/>
          </a:xfrm>
          <a:prstGeom prst="rect">
            <a:avLst/>
          </a:prstGeom>
          <a:solidFill>
            <a:srgbClr val="FFFFFF"/>
          </a:solidFill>
          <a:ln w="126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63" name="Text 189"/>
          <p:cNvSpPr/>
          <p:nvPr/>
        </p:nvSpPr>
        <p:spPr>
          <a:xfrm>
            <a:off x="7318440" y="2638800"/>
            <a:ext cx="77508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0F1B3D"/>
                </a:solidFill>
                <a:effectLst/>
                <a:uFillTx/>
                <a:latin typeface="Calibri"/>
                <a:ea typeface="Calibri"/>
              </a:rPr>
              <a:t>2₿</a:t>
            </a:r>
            <a:endParaRPr lang="en-GB" sz="900" b="0" u="none" strike="noStrike">
              <a:solidFill>
                <a:srgbClr val="000000"/>
              </a:solidFill>
              <a:effectLst/>
              <a:uFillTx/>
              <a:latin typeface="Arial"/>
            </a:endParaRPr>
          </a:p>
        </p:txBody>
      </p:sp>
      <p:sp>
        <p:nvSpPr>
          <p:cNvPr id="464" name="Text 190"/>
          <p:cNvSpPr/>
          <p:nvPr/>
        </p:nvSpPr>
        <p:spPr>
          <a:xfrm>
            <a:off x="6266880" y="3036600"/>
            <a:ext cx="1918080" cy="18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i="1" u="none" strike="noStrike">
                <a:solidFill>
                  <a:srgbClr val="00A933"/>
                </a:solidFill>
                <a:effectLst/>
                <a:uFillTx/>
                <a:latin typeface="Calibri"/>
                <a:ea typeface="Calibri"/>
              </a:rPr>
              <a:t>on-chain</a:t>
            </a:r>
            <a:endParaRPr lang="en-GB" sz="900" b="0" u="none" strike="noStrike">
              <a:solidFill>
                <a:srgbClr val="000000"/>
              </a:solidFill>
              <a:effectLst/>
              <a:uFillTx/>
              <a:latin typeface="Arial"/>
            </a:endParaRPr>
          </a:p>
        </p:txBody>
      </p:sp>
      <p:sp>
        <p:nvSpPr>
          <p:cNvPr id="465" name="Text 191"/>
          <p:cNvSpPr/>
          <p:nvPr/>
        </p:nvSpPr>
        <p:spPr>
          <a:xfrm>
            <a:off x="8232840" y="2178720"/>
            <a:ext cx="27216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B3D"/>
                </a:solidFill>
                <a:effectLst/>
                <a:uFillTx/>
                <a:latin typeface="Cambria"/>
                <a:ea typeface="Cambria"/>
              </a:rPr>
              <a:t>A+Δ</a:t>
            </a:r>
            <a:endParaRPr lang="en-GB" sz="1100" b="0" u="none" strike="noStrike">
              <a:solidFill>
                <a:srgbClr val="000000"/>
              </a:solidFill>
              <a:effectLst/>
              <a:uFillTx/>
              <a:latin typeface="Arial"/>
            </a:endParaRPr>
          </a:p>
        </p:txBody>
      </p:sp>
      <p:sp>
        <p:nvSpPr>
          <p:cNvPr id="466" name="Text 192"/>
          <p:cNvSpPr/>
          <p:nvPr/>
        </p:nvSpPr>
        <p:spPr>
          <a:xfrm>
            <a:off x="8340840" y="2534760"/>
            <a:ext cx="27216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B3D"/>
                </a:solidFill>
                <a:effectLst/>
                <a:uFillTx/>
                <a:latin typeface="Cambria"/>
                <a:ea typeface="Cambria"/>
              </a:rPr>
              <a:t>B</a:t>
            </a:r>
            <a:endParaRPr lang="en-GB" sz="1100" b="0" u="none" strike="noStrike">
              <a:solidFill>
                <a:srgbClr val="000000"/>
              </a:solidFill>
              <a:effectLst/>
              <a:uFillTx/>
              <a:latin typeface="Arial"/>
            </a:endParaRPr>
          </a:p>
        </p:txBody>
      </p:sp>
      <p:sp>
        <p:nvSpPr>
          <p:cNvPr id="467" name="Shape 156"/>
          <p:cNvSpPr/>
          <p:nvPr/>
        </p:nvSpPr>
        <p:spPr>
          <a:xfrm>
            <a:off x="8225640" y="2450520"/>
            <a:ext cx="37080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468" name="Shape 157"/>
          <p:cNvSpPr/>
          <p:nvPr/>
        </p:nvSpPr>
        <p:spPr>
          <a:xfrm>
            <a:off x="8225640" y="2774520"/>
            <a:ext cx="370800" cy="360"/>
          </a:xfrm>
          <a:prstGeom prst="line">
            <a:avLst/>
          </a:prstGeom>
          <a:ln w="19080">
            <a:solidFill>
              <a:srgbClr val="374151"/>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9" name="Text 118"/>
          <p:cNvSpPr/>
          <p:nvPr/>
        </p:nvSpPr>
        <p:spPr>
          <a:xfrm>
            <a:off x="365760" y="255960"/>
            <a:ext cx="8411400" cy="501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An Elmo </a:t>
            </a:r>
            <a:r>
              <a:rPr lang="en-US" sz="2600" b="1" i="1" u="none" strike="noStrike">
                <a:solidFill>
                  <a:srgbClr val="0F1B3D"/>
                </a:solidFill>
                <a:effectLst/>
                <a:uFillTx/>
                <a:latin typeface="Cambria"/>
                <a:ea typeface="Cambria"/>
              </a:rPr>
              <a:t>virtual</a:t>
            </a:r>
            <a:r>
              <a:rPr lang="en-US" sz="2600" b="1" u="none" strike="noStrike">
                <a:solidFill>
                  <a:srgbClr val="0F1B3D"/>
                </a:solidFill>
                <a:effectLst/>
                <a:uFillTx/>
                <a:latin typeface="Cambria"/>
                <a:ea typeface="Cambria"/>
              </a:rPr>
              <a:t> channel (4 hops: A — E)</a:t>
            </a:r>
            <a:endParaRPr lang="en-GB" sz="2600" b="0" u="none" strike="noStrike">
              <a:solidFill>
                <a:srgbClr val="000000"/>
              </a:solidFill>
              <a:effectLst/>
              <a:uFillTx/>
              <a:latin typeface="Arial"/>
            </a:endParaRPr>
          </a:p>
        </p:txBody>
      </p:sp>
      <p:sp>
        <p:nvSpPr>
          <p:cNvPr id="470" name="Text 121"/>
          <p:cNvSpPr/>
          <p:nvPr/>
        </p:nvSpPr>
        <p:spPr>
          <a:xfrm>
            <a:off x="365760" y="749880"/>
            <a:ext cx="841140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Virtual layer brings the A ⇄ E funding output </a:t>
            </a:r>
            <a:r>
              <a:rPr lang="en-US" sz="1300" b="1" i="1" u="none" strike="noStrike">
                <a:solidFill>
                  <a:srgbClr val="5A6B8C"/>
                </a:solidFill>
                <a:effectLst/>
                <a:uFillTx/>
                <a:latin typeface="Calibri"/>
                <a:ea typeface="Calibri"/>
              </a:rPr>
              <a:t>off-chain</a:t>
            </a:r>
            <a:endParaRPr lang="en-GB" sz="1300" b="0" u="none" strike="noStrike">
              <a:solidFill>
                <a:srgbClr val="000000"/>
              </a:solidFill>
              <a:effectLst/>
              <a:uFillTx/>
              <a:latin typeface="Arial"/>
            </a:endParaRPr>
          </a:p>
        </p:txBody>
      </p:sp>
      <p:sp>
        <p:nvSpPr>
          <p:cNvPr id="471" name="Shape 138"/>
          <p:cNvSpPr/>
          <p:nvPr/>
        </p:nvSpPr>
        <p:spPr>
          <a:xfrm>
            <a:off x="365760" y="1508760"/>
            <a:ext cx="105048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72" name="Text 161"/>
          <p:cNvSpPr/>
          <p:nvPr/>
        </p:nvSpPr>
        <p:spPr>
          <a:xfrm>
            <a:off x="365760" y="1508760"/>
            <a:ext cx="10504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A'</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B'</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473" name="Text 162"/>
          <p:cNvSpPr/>
          <p:nvPr/>
        </p:nvSpPr>
        <p:spPr>
          <a:xfrm>
            <a:off x="182880" y="1280160"/>
            <a:ext cx="14162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2 ₿</a:t>
            </a:r>
            <a:endParaRPr lang="en-GB" sz="900" b="0" u="none" strike="noStrike">
              <a:solidFill>
                <a:srgbClr val="000000"/>
              </a:solidFill>
              <a:effectLst/>
              <a:uFillTx/>
              <a:latin typeface="Arial"/>
            </a:endParaRPr>
          </a:p>
        </p:txBody>
      </p:sp>
      <p:sp>
        <p:nvSpPr>
          <p:cNvPr id="474" name="Shape 139"/>
          <p:cNvSpPr/>
          <p:nvPr/>
        </p:nvSpPr>
        <p:spPr>
          <a:xfrm>
            <a:off x="2121480" y="1508760"/>
            <a:ext cx="105048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75" name="Text 163"/>
          <p:cNvSpPr/>
          <p:nvPr/>
        </p:nvSpPr>
        <p:spPr>
          <a:xfrm>
            <a:off x="2121480" y="1508760"/>
            <a:ext cx="10504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B'</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C'</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476" name="Text 164"/>
          <p:cNvSpPr/>
          <p:nvPr/>
        </p:nvSpPr>
        <p:spPr>
          <a:xfrm>
            <a:off x="1938600" y="1280160"/>
            <a:ext cx="14162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3 ₿</a:t>
            </a:r>
            <a:endParaRPr lang="en-GB" sz="900" b="0" u="none" strike="noStrike">
              <a:solidFill>
                <a:srgbClr val="000000"/>
              </a:solidFill>
              <a:effectLst/>
              <a:uFillTx/>
              <a:latin typeface="Arial"/>
            </a:endParaRPr>
          </a:p>
        </p:txBody>
      </p:sp>
      <p:sp>
        <p:nvSpPr>
          <p:cNvPr id="477" name="Shape 140"/>
          <p:cNvSpPr/>
          <p:nvPr/>
        </p:nvSpPr>
        <p:spPr>
          <a:xfrm>
            <a:off x="3877200" y="1508760"/>
            <a:ext cx="105048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78" name="Text 165"/>
          <p:cNvSpPr/>
          <p:nvPr/>
        </p:nvSpPr>
        <p:spPr>
          <a:xfrm>
            <a:off x="3877200" y="1508760"/>
            <a:ext cx="10504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C'</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D'</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479" name="Text 166"/>
          <p:cNvSpPr/>
          <p:nvPr/>
        </p:nvSpPr>
        <p:spPr>
          <a:xfrm>
            <a:off x="3694320" y="1280160"/>
            <a:ext cx="14162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4 ₿</a:t>
            </a:r>
            <a:endParaRPr lang="en-GB" sz="900" b="0" u="none" strike="noStrike">
              <a:solidFill>
                <a:srgbClr val="000000"/>
              </a:solidFill>
              <a:effectLst/>
              <a:uFillTx/>
              <a:latin typeface="Arial"/>
            </a:endParaRPr>
          </a:p>
        </p:txBody>
      </p:sp>
      <p:sp>
        <p:nvSpPr>
          <p:cNvPr id="480" name="Shape 141"/>
          <p:cNvSpPr/>
          <p:nvPr/>
        </p:nvSpPr>
        <p:spPr>
          <a:xfrm>
            <a:off x="5632560" y="1508760"/>
            <a:ext cx="105048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81" name="Text 167"/>
          <p:cNvSpPr/>
          <p:nvPr/>
        </p:nvSpPr>
        <p:spPr>
          <a:xfrm>
            <a:off x="5632560" y="1508760"/>
            <a:ext cx="10504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D'</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E'</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482" name="Text 168"/>
          <p:cNvSpPr/>
          <p:nvPr/>
        </p:nvSpPr>
        <p:spPr>
          <a:xfrm>
            <a:off x="5449680" y="1280160"/>
            <a:ext cx="14162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2 ₿</a:t>
            </a:r>
            <a:endParaRPr lang="en-GB" sz="900" b="0" u="none" strike="noStrike">
              <a:solidFill>
                <a:srgbClr val="000000"/>
              </a:solidFill>
              <a:effectLst/>
              <a:uFillTx/>
              <a:latin typeface="Arial"/>
            </a:endParaRPr>
          </a:p>
        </p:txBody>
      </p:sp>
      <p:sp>
        <p:nvSpPr>
          <p:cNvPr id="483" name="Shape 142"/>
          <p:cNvSpPr/>
          <p:nvPr/>
        </p:nvSpPr>
        <p:spPr>
          <a:xfrm>
            <a:off x="6830640" y="1508760"/>
            <a:ext cx="1187640" cy="364680"/>
          </a:xfrm>
          <a:prstGeom prst="rect">
            <a:avLst/>
          </a:prstGeom>
          <a:solidFill>
            <a:srgbClr val="DC2626"/>
          </a:solidFill>
          <a:ln w="12700">
            <a:solidFill>
              <a:srgbClr val="DC2626"/>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484" name="Text 169"/>
          <p:cNvSpPr/>
          <p:nvPr/>
        </p:nvSpPr>
        <p:spPr>
          <a:xfrm>
            <a:off x="6830640" y="1508760"/>
            <a:ext cx="11876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A</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E</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485" name="Text 181"/>
          <p:cNvSpPr/>
          <p:nvPr/>
        </p:nvSpPr>
        <p:spPr>
          <a:xfrm>
            <a:off x="6647760" y="1280160"/>
            <a:ext cx="15534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DC2626"/>
                </a:solidFill>
                <a:effectLst/>
                <a:uFillTx/>
                <a:latin typeface="Calibri"/>
                <a:ea typeface="Calibri"/>
              </a:rPr>
              <a:t>1 ₿</a:t>
            </a:r>
            <a:endParaRPr lang="en-GB" sz="900" b="0" u="none" strike="noStrike">
              <a:solidFill>
                <a:srgbClr val="000000"/>
              </a:solidFill>
              <a:effectLst/>
              <a:uFillTx/>
              <a:latin typeface="Arial"/>
            </a:endParaRPr>
          </a:p>
        </p:txBody>
      </p:sp>
      <p:sp>
        <p:nvSpPr>
          <p:cNvPr id="486" name="Shape 147"/>
          <p:cNvSpPr/>
          <p:nvPr/>
        </p:nvSpPr>
        <p:spPr>
          <a:xfrm>
            <a:off x="754560" y="4160520"/>
            <a:ext cx="141624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87" name="Text 182"/>
          <p:cNvSpPr/>
          <p:nvPr/>
        </p:nvSpPr>
        <p:spPr>
          <a:xfrm>
            <a:off x="754560" y="4160520"/>
            <a:ext cx="14162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A</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B</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488" name="Text 183"/>
          <p:cNvSpPr/>
          <p:nvPr/>
        </p:nvSpPr>
        <p:spPr>
          <a:xfrm>
            <a:off x="571680" y="4544640"/>
            <a:ext cx="17820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3 ₿</a:t>
            </a:r>
            <a:endParaRPr lang="en-GB" sz="900" b="0" u="none" strike="noStrike">
              <a:solidFill>
                <a:srgbClr val="000000"/>
              </a:solidFill>
              <a:effectLst/>
              <a:uFillTx/>
              <a:latin typeface="Arial"/>
            </a:endParaRPr>
          </a:p>
        </p:txBody>
      </p:sp>
      <p:sp>
        <p:nvSpPr>
          <p:cNvPr id="489" name="Shape 148"/>
          <p:cNvSpPr/>
          <p:nvPr/>
        </p:nvSpPr>
        <p:spPr>
          <a:xfrm>
            <a:off x="2674800" y="4160520"/>
            <a:ext cx="141624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90" name="Text 193"/>
          <p:cNvSpPr/>
          <p:nvPr/>
        </p:nvSpPr>
        <p:spPr>
          <a:xfrm>
            <a:off x="2674800" y="4160520"/>
            <a:ext cx="14162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B</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C</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491" name="Text 194"/>
          <p:cNvSpPr/>
          <p:nvPr/>
        </p:nvSpPr>
        <p:spPr>
          <a:xfrm>
            <a:off x="2491920" y="4544640"/>
            <a:ext cx="17820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4 ₿</a:t>
            </a:r>
            <a:endParaRPr lang="en-GB" sz="900" b="0" u="none" strike="noStrike">
              <a:solidFill>
                <a:srgbClr val="000000"/>
              </a:solidFill>
              <a:effectLst/>
              <a:uFillTx/>
              <a:latin typeface="Arial"/>
            </a:endParaRPr>
          </a:p>
        </p:txBody>
      </p:sp>
      <p:sp>
        <p:nvSpPr>
          <p:cNvPr id="492" name="Shape 149"/>
          <p:cNvSpPr/>
          <p:nvPr/>
        </p:nvSpPr>
        <p:spPr>
          <a:xfrm>
            <a:off x="4595040" y="4160520"/>
            <a:ext cx="141624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93" name="Text 195"/>
          <p:cNvSpPr/>
          <p:nvPr/>
        </p:nvSpPr>
        <p:spPr>
          <a:xfrm>
            <a:off x="4595040" y="4160520"/>
            <a:ext cx="14162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C</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D</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494" name="Text 196"/>
          <p:cNvSpPr/>
          <p:nvPr/>
        </p:nvSpPr>
        <p:spPr>
          <a:xfrm>
            <a:off x="4412160" y="4544640"/>
            <a:ext cx="17820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5 ₿</a:t>
            </a:r>
            <a:endParaRPr lang="en-GB" sz="900" b="0" u="none" strike="noStrike">
              <a:solidFill>
                <a:srgbClr val="000000"/>
              </a:solidFill>
              <a:effectLst/>
              <a:uFillTx/>
              <a:latin typeface="Arial"/>
            </a:endParaRPr>
          </a:p>
        </p:txBody>
      </p:sp>
      <p:sp>
        <p:nvSpPr>
          <p:cNvPr id="495" name="Shape 150"/>
          <p:cNvSpPr/>
          <p:nvPr/>
        </p:nvSpPr>
        <p:spPr>
          <a:xfrm>
            <a:off x="6515280" y="4160520"/>
            <a:ext cx="141624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96" name="Text 197"/>
          <p:cNvSpPr/>
          <p:nvPr/>
        </p:nvSpPr>
        <p:spPr>
          <a:xfrm>
            <a:off x="6515280" y="4160520"/>
            <a:ext cx="14162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D</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E</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497" name="Text 198"/>
          <p:cNvSpPr/>
          <p:nvPr/>
        </p:nvSpPr>
        <p:spPr>
          <a:xfrm>
            <a:off x="6332400" y="4544640"/>
            <a:ext cx="17820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3 ₿</a:t>
            </a:r>
            <a:endParaRPr lang="en-GB" sz="900" b="0" u="none" strike="noStrike">
              <a:solidFill>
                <a:srgbClr val="000000"/>
              </a:solidFill>
              <a:effectLst/>
              <a:uFillTx/>
              <a:latin typeface="Arial"/>
            </a:endParaRPr>
          </a:p>
        </p:txBody>
      </p:sp>
      <p:sp>
        <p:nvSpPr>
          <p:cNvPr id="498" name="Shape 158"/>
          <p:cNvSpPr/>
          <p:nvPr/>
        </p:nvSpPr>
        <p:spPr>
          <a:xfrm>
            <a:off x="274320" y="2240280"/>
            <a:ext cx="8594280" cy="1690560"/>
          </a:xfrm>
          <a:prstGeom prst="rect">
            <a:avLst/>
          </a:prstGeom>
          <a:solidFill>
            <a:srgbClr val="FAFBFE"/>
          </a:solidFill>
          <a:ln w="19050">
            <a:solidFill>
              <a:srgbClr val="9CA3AF"/>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99" name="Text 199"/>
          <p:cNvSpPr/>
          <p:nvPr/>
        </p:nvSpPr>
        <p:spPr>
          <a:xfrm>
            <a:off x="274320" y="2857680"/>
            <a:ext cx="85942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i="1" u="none" strike="noStrike">
                <a:solidFill>
                  <a:srgbClr val="5E72E4"/>
                </a:solidFill>
                <a:effectLst/>
                <a:uFillTx/>
                <a:latin typeface="Cambria"/>
                <a:ea typeface="Cambria"/>
              </a:rPr>
              <a:t>Virtual layer</a:t>
            </a:r>
            <a:endParaRPr lang="en-GB" sz="2200" b="0" u="none" strike="noStrike">
              <a:solidFill>
                <a:srgbClr val="000000"/>
              </a:solidFill>
              <a:effectLst/>
              <a:uFillTx/>
              <a:latin typeface="Arial"/>
            </a:endParaRPr>
          </a:p>
        </p:txBody>
      </p:sp>
      <p:sp>
        <p:nvSpPr>
          <p:cNvPr id="500" name="Text 200"/>
          <p:cNvSpPr/>
          <p:nvPr/>
        </p:nvSpPr>
        <p:spPr>
          <a:xfrm>
            <a:off x="274320" y="3195720"/>
            <a:ext cx="8594280" cy="273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i="1" u="none" strike="noStrike">
                <a:solidFill>
                  <a:srgbClr val="5A6B8C"/>
                </a:solidFill>
                <a:effectLst/>
                <a:uFillTx/>
                <a:latin typeface="Calibri"/>
                <a:ea typeface="Calibri"/>
              </a:rPr>
              <a:t>pre-signed off-chain transactions</a:t>
            </a:r>
            <a:endParaRPr lang="en-GB" sz="1100" b="0" u="none" strike="noStrike">
              <a:solidFill>
                <a:srgbClr val="000000"/>
              </a:solidFill>
              <a:effectLst/>
              <a:uFillTx/>
              <a:latin typeface="Arial"/>
            </a:endParaRPr>
          </a:p>
        </p:txBody>
      </p:sp>
      <p:sp>
        <p:nvSpPr>
          <p:cNvPr id="501" name="Shape 159"/>
          <p:cNvSpPr/>
          <p:nvPr/>
        </p:nvSpPr>
        <p:spPr>
          <a:xfrm flipV="1">
            <a:off x="1463040" y="3931920"/>
            <a:ext cx="360" cy="228600"/>
          </a:xfrm>
          <a:prstGeom prst="line">
            <a:avLst/>
          </a:prstGeom>
          <a:ln w="25400">
            <a:solidFill>
              <a:srgbClr val="F7931A"/>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02" name="Shape 160"/>
          <p:cNvSpPr/>
          <p:nvPr/>
        </p:nvSpPr>
        <p:spPr>
          <a:xfrm flipV="1">
            <a:off x="3383280" y="3931920"/>
            <a:ext cx="360" cy="228600"/>
          </a:xfrm>
          <a:prstGeom prst="line">
            <a:avLst/>
          </a:prstGeom>
          <a:ln w="25400">
            <a:solidFill>
              <a:srgbClr val="F7931A"/>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03" name="Shape 161"/>
          <p:cNvSpPr/>
          <p:nvPr/>
        </p:nvSpPr>
        <p:spPr>
          <a:xfrm flipV="1">
            <a:off x="5303520" y="3931920"/>
            <a:ext cx="360" cy="228600"/>
          </a:xfrm>
          <a:prstGeom prst="line">
            <a:avLst/>
          </a:prstGeom>
          <a:ln w="25400">
            <a:solidFill>
              <a:srgbClr val="F7931A"/>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04" name="Shape 162"/>
          <p:cNvSpPr/>
          <p:nvPr/>
        </p:nvSpPr>
        <p:spPr>
          <a:xfrm flipV="1">
            <a:off x="7223760" y="3931920"/>
            <a:ext cx="360" cy="228600"/>
          </a:xfrm>
          <a:prstGeom prst="line">
            <a:avLst/>
          </a:prstGeom>
          <a:ln w="25400">
            <a:solidFill>
              <a:srgbClr val="F7931A"/>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05" name="Shape 163"/>
          <p:cNvSpPr/>
          <p:nvPr/>
        </p:nvSpPr>
        <p:spPr>
          <a:xfrm flipV="1">
            <a:off x="891360" y="1874520"/>
            <a:ext cx="360" cy="365760"/>
          </a:xfrm>
          <a:prstGeom prst="line">
            <a:avLst/>
          </a:prstGeom>
          <a:ln w="25400">
            <a:solidFill>
              <a:srgbClr val="F7931A"/>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06" name="Shape 164"/>
          <p:cNvSpPr/>
          <p:nvPr/>
        </p:nvSpPr>
        <p:spPr>
          <a:xfrm flipV="1">
            <a:off x="2647080" y="1874520"/>
            <a:ext cx="360" cy="365760"/>
          </a:xfrm>
          <a:prstGeom prst="line">
            <a:avLst/>
          </a:prstGeom>
          <a:ln w="25400">
            <a:solidFill>
              <a:srgbClr val="F7931A"/>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07" name="Shape 165"/>
          <p:cNvSpPr/>
          <p:nvPr/>
        </p:nvSpPr>
        <p:spPr>
          <a:xfrm flipV="1">
            <a:off x="4402800" y="1874520"/>
            <a:ext cx="360" cy="365760"/>
          </a:xfrm>
          <a:prstGeom prst="line">
            <a:avLst/>
          </a:prstGeom>
          <a:ln w="25400">
            <a:solidFill>
              <a:srgbClr val="F7931A"/>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08" name="Shape 166"/>
          <p:cNvSpPr/>
          <p:nvPr/>
        </p:nvSpPr>
        <p:spPr>
          <a:xfrm flipV="1">
            <a:off x="6158160" y="1874520"/>
            <a:ext cx="360" cy="365760"/>
          </a:xfrm>
          <a:prstGeom prst="line">
            <a:avLst/>
          </a:prstGeom>
          <a:ln w="25400">
            <a:solidFill>
              <a:srgbClr val="F7931A"/>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09" name="Shape 167"/>
          <p:cNvSpPr/>
          <p:nvPr/>
        </p:nvSpPr>
        <p:spPr>
          <a:xfrm flipV="1">
            <a:off x="7424640" y="1874520"/>
            <a:ext cx="360" cy="365760"/>
          </a:xfrm>
          <a:prstGeom prst="line">
            <a:avLst/>
          </a:prstGeom>
          <a:ln w="27940">
            <a:solidFill>
              <a:srgbClr val="DC2626"/>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10" name="Text 201"/>
          <p:cNvSpPr/>
          <p:nvPr/>
        </p:nvSpPr>
        <p:spPr>
          <a:xfrm>
            <a:off x="365760" y="4892040"/>
            <a:ext cx="3656520" cy="227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511" name="Text 202"/>
          <p:cNvSpPr/>
          <p:nvPr/>
        </p:nvSpPr>
        <p:spPr>
          <a:xfrm>
            <a:off x="8321040" y="4892040"/>
            <a:ext cx="730440" cy="227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1 / 2</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2" name="Text 203"/>
          <p:cNvSpPr/>
          <p:nvPr/>
        </p:nvSpPr>
        <p:spPr>
          <a:xfrm>
            <a:off x="365760" y="255960"/>
            <a:ext cx="8411400" cy="501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B3D"/>
                </a:solidFill>
                <a:effectLst/>
                <a:uFillTx/>
                <a:latin typeface="Cambria"/>
                <a:ea typeface="Cambria"/>
              </a:rPr>
              <a:t>An Elmo </a:t>
            </a:r>
            <a:r>
              <a:rPr lang="en-US" sz="2400" b="1" i="1" u="none" strike="noStrike">
                <a:solidFill>
                  <a:srgbClr val="0F1B3D"/>
                </a:solidFill>
                <a:effectLst/>
                <a:uFillTx/>
                <a:latin typeface="Cambria"/>
                <a:ea typeface="Cambria"/>
              </a:rPr>
              <a:t>virtual</a:t>
            </a:r>
            <a:r>
              <a:rPr lang="en-US" sz="2400" b="1" u="none" strike="noStrike">
                <a:solidFill>
                  <a:srgbClr val="0F1B3D"/>
                </a:solidFill>
                <a:effectLst/>
                <a:uFillTx/>
                <a:latin typeface="Cambria"/>
                <a:ea typeface="Cambria"/>
              </a:rPr>
              <a:t> channel — forced close example</a:t>
            </a:r>
            <a:endParaRPr lang="en-GB" sz="2400" b="0" u="none" strike="noStrike">
              <a:solidFill>
                <a:srgbClr val="000000"/>
              </a:solidFill>
              <a:effectLst/>
              <a:uFillTx/>
              <a:latin typeface="Arial"/>
            </a:endParaRPr>
          </a:p>
        </p:txBody>
      </p:sp>
      <p:sp>
        <p:nvSpPr>
          <p:cNvPr id="513" name="Text 204"/>
          <p:cNvSpPr/>
          <p:nvPr/>
        </p:nvSpPr>
        <p:spPr>
          <a:xfrm>
            <a:off x="365760" y="749880"/>
            <a:ext cx="841140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5A6B8C"/>
                </a:solidFill>
                <a:effectLst/>
                <a:uFillTx/>
                <a:latin typeface="Calibri"/>
                <a:ea typeface="Calibri"/>
              </a:rPr>
              <a:t>ANYPREVOUT needed so that a single commitment tx can spend any of the bridge txs</a:t>
            </a:r>
            <a:endParaRPr lang="en-GB" sz="1200" b="0" u="none" strike="noStrike">
              <a:solidFill>
                <a:srgbClr val="000000"/>
              </a:solidFill>
              <a:effectLst/>
              <a:uFillTx/>
              <a:latin typeface="Arial"/>
            </a:endParaRPr>
          </a:p>
        </p:txBody>
      </p:sp>
      <p:sp>
        <p:nvSpPr>
          <p:cNvPr id="514" name="Shape 169"/>
          <p:cNvSpPr/>
          <p:nvPr/>
        </p:nvSpPr>
        <p:spPr>
          <a:xfrm>
            <a:off x="365760" y="1508760"/>
            <a:ext cx="105048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15" name="Text 205"/>
          <p:cNvSpPr/>
          <p:nvPr/>
        </p:nvSpPr>
        <p:spPr>
          <a:xfrm>
            <a:off x="365760" y="1508760"/>
            <a:ext cx="10504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A'</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B'</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516" name="Text 206"/>
          <p:cNvSpPr/>
          <p:nvPr/>
        </p:nvSpPr>
        <p:spPr>
          <a:xfrm>
            <a:off x="182880" y="1280160"/>
            <a:ext cx="14162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2 ₿</a:t>
            </a:r>
            <a:endParaRPr lang="en-GB" sz="900" b="0" u="none" strike="noStrike">
              <a:solidFill>
                <a:srgbClr val="000000"/>
              </a:solidFill>
              <a:effectLst/>
              <a:uFillTx/>
              <a:latin typeface="Arial"/>
            </a:endParaRPr>
          </a:p>
        </p:txBody>
      </p:sp>
      <p:sp>
        <p:nvSpPr>
          <p:cNvPr id="517" name="Shape 170"/>
          <p:cNvSpPr/>
          <p:nvPr/>
        </p:nvSpPr>
        <p:spPr>
          <a:xfrm>
            <a:off x="1563480" y="1508760"/>
            <a:ext cx="41040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18" name="Text 207"/>
          <p:cNvSpPr/>
          <p:nvPr/>
        </p:nvSpPr>
        <p:spPr>
          <a:xfrm>
            <a:off x="1563480" y="1508760"/>
            <a:ext cx="41040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onsolas"/>
                <a:ea typeface="Consolas"/>
              </a:rPr>
              <a:t>B</a:t>
            </a:r>
            <a:endParaRPr lang="en-GB" sz="1100" b="0" u="none" strike="noStrike">
              <a:solidFill>
                <a:srgbClr val="000000"/>
              </a:solidFill>
              <a:effectLst/>
              <a:uFillTx/>
              <a:latin typeface="Arial"/>
            </a:endParaRPr>
          </a:p>
        </p:txBody>
      </p:sp>
      <p:sp>
        <p:nvSpPr>
          <p:cNvPr id="519" name="Text 208"/>
          <p:cNvSpPr/>
          <p:nvPr/>
        </p:nvSpPr>
        <p:spPr>
          <a:xfrm>
            <a:off x="1380600" y="1280160"/>
            <a:ext cx="77616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1 ₿</a:t>
            </a:r>
            <a:endParaRPr lang="en-GB" sz="900" b="0" u="none" strike="noStrike">
              <a:solidFill>
                <a:srgbClr val="000000"/>
              </a:solidFill>
              <a:effectLst/>
              <a:uFillTx/>
              <a:latin typeface="Arial"/>
            </a:endParaRPr>
          </a:p>
        </p:txBody>
      </p:sp>
      <p:sp>
        <p:nvSpPr>
          <p:cNvPr id="520" name="Shape 171"/>
          <p:cNvSpPr/>
          <p:nvPr/>
        </p:nvSpPr>
        <p:spPr>
          <a:xfrm>
            <a:off x="2121480" y="1508760"/>
            <a:ext cx="105048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21" name="Text 209"/>
          <p:cNvSpPr/>
          <p:nvPr/>
        </p:nvSpPr>
        <p:spPr>
          <a:xfrm>
            <a:off x="2121480" y="1508760"/>
            <a:ext cx="10504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B'</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C'</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522" name="Text 210"/>
          <p:cNvSpPr/>
          <p:nvPr/>
        </p:nvSpPr>
        <p:spPr>
          <a:xfrm>
            <a:off x="1938600" y="1280160"/>
            <a:ext cx="14162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3 ₿</a:t>
            </a:r>
            <a:endParaRPr lang="en-GB" sz="900" b="0" u="none" strike="noStrike">
              <a:solidFill>
                <a:srgbClr val="000000"/>
              </a:solidFill>
              <a:effectLst/>
              <a:uFillTx/>
              <a:latin typeface="Arial"/>
            </a:endParaRPr>
          </a:p>
        </p:txBody>
      </p:sp>
      <p:sp>
        <p:nvSpPr>
          <p:cNvPr id="523" name="Shape 172"/>
          <p:cNvSpPr/>
          <p:nvPr/>
        </p:nvSpPr>
        <p:spPr>
          <a:xfrm>
            <a:off x="3319200" y="1508760"/>
            <a:ext cx="41040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24" name="Text 211"/>
          <p:cNvSpPr/>
          <p:nvPr/>
        </p:nvSpPr>
        <p:spPr>
          <a:xfrm>
            <a:off x="3319200" y="1508760"/>
            <a:ext cx="41040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onsolas"/>
                <a:ea typeface="Consolas"/>
              </a:rPr>
              <a:t>C</a:t>
            </a:r>
            <a:endParaRPr lang="en-GB" sz="1100" b="0" u="none" strike="noStrike">
              <a:solidFill>
                <a:srgbClr val="000000"/>
              </a:solidFill>
              <a:effectLst/>
              <a:uFillTx/>
              <a:latin typeface="Arial"/>
            </a:endParaRPr>
          </a:p>
        </p:txBody>
      </p:sp>
      <p:sp>
        <p:nvSpPr>
          <p:cNvPr id="525" name="Text 212"/>
          <p:cNvSpPr/>
          <p:nvPr/>
        </p:nvSpPr>
        <p:spPr>
          <a:xfrm>
            <a:off x="3136320" y="1280160"/>
            <a:ext cx="77616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1 ₿</a:t>
            </a:r>
            <a:endParaRPr lang="en-GB" sz="900" b="0" u="none" strike="noStrike">
              <a:solidFill>
                <a:srgbClr val="000000"/>
              </a:solidFill>
              <a:effectLst/>
              <a:uFillTx/>
              <a:latin typeface="Arial"/>
            </a:endParaRPr>
          </a:p>
        </p:txBody>
      </p:sp>
      <p:sp>
        <p:nvSpPr>
          <p:cNvPr id="526" name="Shape 173"/>
          <p:cNvSpPr/>
          <p:nvPr/>
        </p:nvSpPr>
        <p:spPr>
          <a:xfrm>
            <a:off x="3877200" y="1508760"/>
            <a:ext cx="105048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27" name="Text 213"/>
          <p:cNvSpPr/>
          <p:nvPr/>
        </p:nvSpPr>
        <p:spPr>
          <a:xfrm>
            <a:off x="3877200" y="1508760"/>
            <a:ext cx="10504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C'</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D'</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528" name="Text 214"/>
          <p:cNvSpPr/>
          <p:nvPr/>
        </p:nvSpPr>
        <p:spPr>
          <a:xfrm>
            <a:off x="3694320" y="1280160"/>
            <a:ext cx="14162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4 ₿</a:t>
            </a:r>
            <a:endParaRPr lang="en-GB" sz="900" b="0" u="none" strike="noStrike">
              <a:solidFill>
                <a:srgbClr val="000000"/>
              </a:solidFill>
              <a:effectLst/>
              <a:uFillTx/>
              <a:latin typeface="Arial"/>
            </a:endParaRPr>
          </a:p>
        </p:txBody>
      </p:sp>
      <p:sp>
        <p:nvSpPr>
          <p:cNvPr id="529" name="Shape 174"/>
          <p:cNvSpPr/>
          <p:nvPr/>
        </p:nvSpPr>
        <p:spPr>
          <a:xfrm>
            <a:off x="5074920" y="1508760"/>
            <a:ext cx="41040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30" name="Text 215"/>
          <p:cNvSpPr/>
          <p:nvPr/>
        </p:nvSpPr>
        <p:spPr>
          <a:xfrm>
            <a:off x="5074920" y="1508760"/>
            <a:ext cx="41040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onsolas"/>
                <a:ea typeface="Consolas"/>
              </a:rPr>
              <a:t>D</a:t>
            </a:r>
            <a:endParaRPr lang="en-GB" sz="1100" b="0" u="none" strike="noStrike">
              <a:solidFill>
                <a:srgbClr val="000000"/>
              </a:solidFill>
              <a:effectLst/>
              <a:uFillTx/>
              <a:latin typeface="Arial"/>
            </a:endParaRPr>
          </a:p>
        </p:txBody>
      </p:sp>
      <p:sp>
        <p:nvSpPr>
          <p:cNvPr id="531" name="Text 216"/>
          <p:cNvSpPr/>
          <p:nvPr/>
        </p:nvSpPr>
        <p:spPr>
          <a:xfrm>
            <a:off x="4892040" y="1280160"/>
            <a:ext cx="77616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1 ₿</a:t>
            </a:r>
            <a:endParaRPr lang="en-GB" sz="900" b="0" u="none" strike="noStrike">
              <a:solidFill>
                <a:srgbClr val="000000"/>
              </a:solidFill>
              <a:effectLst/>
              <a:uFillTx/>
              <a:latin typeface="Arial"/>
            </a:endParaRPr>
          </a:p>
        </p:txBody>
      </p:sp>
      <p:sp>
        <p:nvSpPr>
          <p:cNvPr id="532" name="Shape 175"/>
          <p:cNvSpPr/>
          <p:nvPr/>
        </p:nvSpPr>
        <p:spPr>
          <a:xfrm>
            <a:off x="5632560" y="1508760"/>
            <a:ext cx="105048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33" name="Text 217"/>
          <p:cNvSpPr/>
          <p:nvPr/>
        </p:nvSpPr>
        <p:spPr>
          <a:xfrm>
            <a:off x="5632560" y="1508760"/>
            <a:ext cx="10504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D'</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E'</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534" name="Text 218"/>
          <p:cNvSpPr/>
          <p:nvPr/>
        </p:nvSpPr>
        <p:spPr>
          <a:xfrm>
            <a:off x="5449680" y="1280160"/>
            <a:ext cx="14162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2 ₿</a:t>
            </a:r>
            <a:endParaRPr lang="en-GB" sz="900" b="0" u="none" strike="noStrike">
              <a:solidFill>
                <a:srgbClr val="000000"/>
              </a:solidFill>
              <a:effectLst/>
              <a:uFillTx/>
              <a:latin typeface="Arial"/>
            </a:endParaRPr>
          </a:p>
        </p:txBody>
      </p:sp>
      <p:sp>
        <p:nvSpPr>
          <p:cNvPr id="535" name="Shape 176"/>
          <p:cNvSpPr/>
          <p:nvPr/>
        </p:nvSpPr>
        <p:spPr>
          <a:xfrm>
            <a:off x="6830640" y="1508760"/>
            <a:ext cx="1187640" cy="364680"/>
          </a:xfrm>
          <a:prstGeom prst="rect">
            <a:avLst/>
          </a:prstGeom>
          <a:solidFill>
            <a:srgbClr val="DC2626"/>
          </a:solidFill>
          <a:ln w="12700">
            <a:solidFill>
              <a:srgbClr val="DC2626"/>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36" name="Text 219"/>
          <p:cNvSpPr/>
          <p:nvPr/>
        </p:nvSpPr>
        <p:spPr>
          <a:xfrm>
            <a:off x="6830640" y="1508760"/>
            <a:ext cx="11876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A</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E</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537" name="Text 220"/>
          <p:cNvSpPr/>
          <p:nvPr/>
        </p:nvSpPr>
        <p:spPr>
          <a:xfrm>
            <a:off x="6647760" y="1280160"/>
            <a:ext cx="15534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DC2626"/>
                </a:solidFill>
                <a:effectLst/>
                <a:uFillTx/>
                <a:latin typeface="Calibri"/>
                <a:ea typeface="Calibri"/>
              </a:rPr>
              <a:t>1 ₿</a:t>
            </a:r>
            <a:endParaRPr lang="en-GB" sz="900" b="0" u="none" strike="noStrike">
              <a:solidFill>
                <a:srgbClr val="000000"/>
              </a:solidFill>
              <a:effectLst/>
              <a:uFillTx/>
              <a:latin typeface="Arial"/>
            </a:endParaRPr>
          </a:p>
        </p:txBody>
      </p:sp>
      <p:sp>
        <p:nvSpPr>
          <p:cNvPr id="538" name="Shape 177"/>
          <p:cNvSpPr/>
          <p:nvPr/>
        </p:nvSpPr>
        <p:spPr>
          <a:xfrm>
            <a:off x="754560" y="4160520"/>
            <a:ext cx="141624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39" name="Text 221"/>
          <p:cNvSpPr/>
          <p:nvPr/>
        </p:nvSpPr>
        <p:spPr>
          <a:xfrm>
            <a:off x="754560" y="4160520"/>
            <a:ext cx="14162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A</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B</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540" name="Text 222"/>
          <p:cNvSpPr/>
          <p:nvPr/>
        </p:nvSpPr>
        <p:spPr>
          <a:xfrm>
            <a:off x="571680" y="4544640"/>
            <a:ext cx="17820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3 ₿</a:t>
            </a:r>
            <a:endParaRPr lang="en-GB" sz="900" b="0" u="none" strike="noStrike">
              <a:solidFill>
                <a:srgbClr val="000000"/>
              </a:solidFill>
              <a:effectLst/>
              <a:uFillTx/>
              <a:latin typeface="Arial"/>
            </a:endParaRPr>
          </a:p>
        </p:txBody>
      </p:sp>
      <p:sp>
        <p:nvSpPr>
          <p:cNvPr id="541" name="Shape 178"/>
          <p:cNvSpPr/>
          <p:nvPr/>
        </p:nvSpPr>
        <p:spPr>
          <a:xfrm>
            <a:off x="2674800" y="4160520"/>
            <a:ext cx="141624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42" name="Text 223"/>
          <p:cNvSpPr/>
          <p:nvPr/>
        </p:nvSpPr>
        <p:spPr>
          <a:xfrm>
            <a:off x="2674800" y="4160520"/>
            <a:ext cx="14162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B</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C</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543" name="Text 224"/>
          <p:cNvSpPr/>
          <p:nvPr/>
        </p:nvSpPr>
        <p:spPr>
          <a:xfrm>
            <a:off x="2491920" y="4544640"/>
            <a:ext cx="17820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4 ₿</a:t>
            </a:r>
            <a:endParaRPr lang="en-GB" sz="900" b="0" u="none" strike="noStrike">
              <a:solidFill>
                <a:srgbClr val="000000"/>
              </a:solidFill>
              <a:effectLst/>
              <a:uFillTx/>
              <a:latin typeface="Arial"/>
            </a:endParaRPr>
          </a:p>
        </p:txBody>
      </p:sp>
      <p:sp>
        <p:nvSpPr>
          <p:cNvPr id="544" name="Shape 179"/>
          <p:cNvSpPr/>
          <p:nvPr/>
        </p:nvSpPr>
        <p:spPr>
          <a:xfrm>
            <a:off x="4595040" y="4160520"/>
            <a:ext cx="141624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45" name="Text 225"/>
          <p:cNvSpPr/>
          <p:nvPr/>
        </p:nvSpPr>
        <p:spPr>
          <a:xfrm>
            <a:off x="4595040" y="4160520"/>
            <a:ext cx="14162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C</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D</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546" name="Text 226"/>
          <p:cNvSpPr/>
          <p:nvPr/>
        </p:nvSpPr>
        <p:spPr>
          <a:xfrm>
            <a:off x="4412160" y="4544640"/>
            <a:ext cx="17820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5 ₿</a:t>
            </a:r>
            <a:endParaRPr lang="en-GB" sz="900" b="0" u="none" strike="noStrike">
              <a:solidFill>
                <a:srgbClr val="000000"/>
              </a:solidFill>
              <a:effectLst/>
              <a:uFillTx/>
              <a:latin typeface="Arial"/>
            </a:endParaRPr>
          </a:p>
        </p:txBody>
      </p:sp>
      <p:sp>
        <p:nvSpPr>
          <p:cNvPr id="547" name="Shape 180"/>
          <p:cNvSpPr/>
          <p:nvPr/>
        </p:nvSpPr>
        <p:spPr>
          <a:xfrm>
            <a:off x="6515280" y="4160520"/>
            <a:ext cx="1416240" cy="364680"/>
          </a:xfrm>
          <a:prstGeom prst="rect">
            <a:avLst/>
          </a:prstGeom>
          <a:solidFill>
            <a:srgbClr val="F7931A"/>
          </a:solidFill>
          <a:ln w="12700">
            <a:solidFill>
              <a:srgbClr val="F7931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48" name="Text 227"/>
          <p:cNvSpPr/>
          <p:nvPr/>
        </p:nvSpPr>
        <p:spPr>
          <a:xfrm>
            <a:off x="6515280" y="4160520"/>
            <a:ext cx="141624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onsolas"/>
                <a:ea typeface="Consolas"/>
              </a:rPr>
              <a:t>D</a:t>
            </a:r>
            <a:r>
              <a:rPr lang="en-US" sz="1000" b="1" u="none" strike="noStrike" baseline="-40000">
                <a:solidFill>
                  <a:srgbClr val="FFFFFF"/>
                </a:solidFill>
                <a:effectLst/>
                <a:uFillTx/>
                <a:latin typeface="Consolas"/>
                <a:ea typeface="Consolas"/>
              </a:rPr>
              <a:t>F</a:t>
            </a:r>
            <a:r>
              <a:rPr lang="en-US" sz="1000" b="1" u="none" strike="noStrike">
                <a:solidFill>
                  <a:srgbClr val="FFFFFF"/>
                </a:solidFill>
                <a:effectLst/>
                <a:uFillTx/>
                <a:latin typeface="Consolas"/>
                <a:ea typeface="Consolas"/>
              </a:rPr>
              <a:t> ∧ E</a:t>
            </a:r>
            <a:r>
              <a:rPr lang="en-US" sz="1000" b="1" u="none" strike="noStrike" baseline="-40000">
                <a:solidFill>
                  <a:srgbClr val="FFFFFF"/>
                </a:solidFill>
                <a:effectLst/>
                <a:uFillTx/>
                <a:latin typeface="Consolas"/>
                <a:ea typeface="Consolas"/>
              </a:rPr>
              <a:t>F</a:t>
            </a:r>
            <a:endParaRPr lang="en-GB" sz="1000" b="0" u="none" strike="noStrike">
              <a:solidFill>
                <a:srgbClr val="000000"/>
              </a:solidFill>
              <a:effectLst/>
              <a:uFillTx/>
              <a:latin typeface="Arial"/>
            </a:endParaRPr>
          </a:p>
        </p:txBody>
      </p:sp>
      <p:sp>
        <p:nvSpPr>
          <p:cNvPr id="549" name="Text 228"/>
          <p:cNvSpPr/>
          <p:nvPr/>
        </p:nvSpPr>
        <p:spPr>
          <a:xfrm>
            <a:off x="6332400" y="4544640"/>
            <a:ext cx="17820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7931A"/>
                </a:solidFill>
                <a:effectLst/>
                <a:uFillTx/>
                <a:latin typeface="Calibri"/>
                <a:ea typeface="Calibri"/>
              </a:rPr>
              <a:t>3 ₿</a:t>
            </a:r>
            <a:endParaRPr lang="en-GB" sz="900" b="0" u="none" strike="noStrike">
              <a:solidFill>
                <a:srgbClr val="000000"/>
              </a:solidFill>
              <a:effectLst/>
              <a:uFillTx/>
              <a:latin typeface="Arial"/>
            </a:endParaRPr>
          </a:p>
        </p:txBody>
      </p:sp>
      <p:sp>
        <p:nvSpPr>
          <p:cNvPr id="550" name="Shape 181"/>
          <p:cNvSpPr/>
          <p:nvPr/>
        </p:nvSpPr>
        <p:spPr>
          <a:xfrm>
            <a:off x="274320" y="2240280"/>
            <a:ext cx="8594280" cy="1690560"/>
          </a:xfrm>
          <a:prstGeom prst="rect">
            <a:avLst/>
          </a:prstGeom>
          <a:solidFill>
            <a:srgbClr val="FAFBFE"/>
          </a:solidFill>
          <a:ln w="19050">
            <a:solidFill>
              <a:srgbClr val="9CA3AF"/>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51" name="Shape 182"/>
          <p:cNvSpPr/>
          <p:nvPr/>
        </p:nvSpPr>
        <p:spPr>
          <a:xfrm flipV="1">
            <a:off x="1463040" y="3812760"/>
            <a:ext cx="360" cy="347760"/>
          </a:xfrm>
          <a:prstGeom prst="line">
            <a:avLst/>
          </a:prstGeom>
          <a:ln w="15240">
            <a:solidFill>
              <a:srgbClr val="374151"/>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52" name="Shape 183"/>
          <p:cNvSpPr/>
          <p:nvPr/>
        </p:nvSpPr>
        <p:spPr>
          <a:xfrm flipV="1">
            <a:off x="3383280" y="3447000"/>
            <a:ext cx="822960" cy="713520"/>
          </a:xfrm>
          <a:prstGeom prst="line">
            <a:avLst/>
          </a:prstGeom>
          <a:ln w="15240">
            <a:solidFill>
              <a:srgbClr val="374151"/>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53" name="Shape 184"/>
          <p:cNvSpPr/>
          <p:nvPr/>
        </p:nvSpPr>
        <p:spPr>
          <a:xfrm flipV="1">
            <a:off x="5303520" y="3812760"/>
            <a:ext cx="1920240" cy="347760"/>
          </a:xfrm>
          <a:prstGeom prst="line">
            <a:avLst/>
          </a:prstGeom>
          <a:ln w="15240">
            <a:solidFill>
              <a:srgbClr val="374151"/>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54" name="Shape 185"/>
          <p:cNvSpPr/>
          <p:nvPr/>
        </p:nvSpPr>
        <p:spPr>
          <a:xfrm flipV="1">
            <a:off x="7223760" y="3812760"/>
            <a:ext cx="360" cy="347760"/>
          </a:xfrm>
          <a:prstGeom prst="line">
            <a:avLst/>
          </a:prstGeom>
          <a:ln w="15240">
            <a:solidFill>
              <a:srgbClr val="374151"/>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555" name="Shape 186"/>
          <p:cNvSpPr/>
          <p:nvPr/>
        </p:nvSpPr>
        <p:spPr>
          <a:xfrm flipH="1" flipV="1">
            <a:off x="891360" y="1874520"/>
            <a:ext cx="571680" cy="1536120"/>
          </a:xfrm>
          <a:prstGeom prst="line">
            <a:avLst/>
          </a:prstGeom>
          <a:ln w="15240">
            <a:solidFill>
              <a:srgbClr val="F7931A"/>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56" name="Shape 187"/>
          <p:cNvSpPr/>
          <p:nvPr/>
        </p:nvSpPr>
        <p:spPr>
          <a:xfrm flipH="1" flipV="1">
            <a:off x="1769040" y="1874520"/>
            <a:ext cx="516960" cy="530280"/>
          </a:xfrm>
          <a:prstGeom prst="line">
            <a:avLst/>
          </a:prstGeom>
          <a:ln w="15240">
            <a:solidFill>
              <a:srgbClr val="F7931A"/>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57" name="Shape 188"/>
          <p:cNvSpPr/>
          <p:nvPr/>
        </p:nvSpPr>
        <p:spPr>
          <a:xfrm flipH="1" flipV="1">
            <a:off x="2647080" y="1874520"/>
            <a:ext cx="1559160" cy="1170360"/>
          </a:xfrm>
          <a:prstGeom prst="line">
            <a:avLst/>
          </a:prstGeom>
          <a:ln w="15240">
            <a:solidFill>
              <a:srgbClr val="F7931A"/>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58" name="Shape 189"/>
          <p:cNvSpPr/>
          <p:nvPr/>
        </p:nvSpPr>
        <p:spPr>
          <a:xfrm flipH="1" flipV="1">
            <a:off x="3524760" y="1874520"/>
            <a:ext cx="681480" cy="1170360"/>
          </a:xfrm>
          <a:prstGeom prst="line">
            <a:avLst/>
          </a:prstGeom>
          <a:ln w="15240">
            <a:solidFill>
              <a:srgbClr val="F7931A"/>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59" name="Shape 190"/>
          <p:cNvSpPr/>
          <p:nvPr/>
        </p:nvSpPr>
        <p:spPr>
          <a:xfrm flipH="1" flipV="1">
            <a:off x="4402800" y="1874520"/>
            <a:ext cx="2820960" cy="1536120"/>
          </a:xfrm>
          <a:prstGeom prst="line">
            <a:avLst/>
          </a:prstGeom>
          <a:ln w="15240">
            <a:solidFill>
              <a:srgbClr val="F7931A"/>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60" name="Shape 191"/>
          <p:cNvSpPr/>
          <p:nvPr/>
        </p:nvSpPr>
        <p:spPr>
          <a:xfrm flipH="1" flipV="1">
            <a:off x="5280480" y="1874520"/>
            <a:ext cx="1943280" cy="1536120"/>
          </a:xfrm>
          <a:prstGeom prst="line">
            <a:avLst/>
          </a:prstGeom>
          <a:ln w="15240">
            <a:solidFill>
              <a:srgbClr val="F7931A"/>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61" name="Shape 192"/>
          <p:cNvSpPr/>
          <p:nvPr/>
        </p:nvSpPr>
        <p:spPr>
          <a:xfrm flipH="1" flipV="1">
            <a:off x="6158160" y="1874520"/>
            <a:ext cx="1065600" cy="1536120"/>
          </a:xfrm>
          <a:prstGeom prst="line">
            <a:avLst/>
          </a:prstGeom>
          <a:ln w="15240">
            <a:solidFill>
              <a:srgbClr val="F7931A"/>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62" name="Shape 193"/>
          <p:cNvSpPr/>
          <p:nvPr/>
        </p:nvSpPr>
        <p:spPr>
          <a:xfrm flipH="1" flipV="1">
            <a:off x="7424640" y="1874520"/>
            <a:ext cx="530640" cy="530280"/>
          </a:xfrm>
          <a:prstGeom prst="line">
            <a:avLst/>
          </a:prstGeom>
          <a:ln w="22860">
            <a:solidFill>
              <a:srgbClr val="DC2626"/>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63" name="Shape 194"/>
          <p:cNvSpPr/>
          <p:nvPr/>
        </p:nvSpPr>
        <p:spPr>
          <a:xfrm flipV="1">
            <a:off x="1590120" y="2761560"/>
            <a:ext cx="568440" cy="694440"/>
          </a:xfrm>
          <a:prstGeom prst="line">
            <a:avLst/>
          </a:prstGeom>
          <a:ln w="17780">
            <a:solidFill>
              <a:srgbClr val="5E72E4"/>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64" name="Text 229"/>
          <p:cNvSpPr/>
          <p:nvPr/>
        </p:nvSpPr>
        <p:spPr>
          <a:xfrm>
            <a:off x="1713600" y="3110040"/>
            <a:ext cx="54756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i="1" u="none" strike="noStrike">
                <a:solidFill>
                  <a:srgbClr val="5E72E4"/>
                </a:solidFill>
                <a:effectLst/>
                <a:uFillTx/>
                <a:latin typeface="Cambria"/>
                <a:ea typeface="Cambria"/>
              </a:rPr>
              <a:t>{A}</a:t>
            </a:r>
            <a:endParaRPr lang="en-GB" sz="900" b="0" u="none" strike="noStrike">
              <a:solidFill>
                <a:srgbClr val="000000"/>
              </a:solidFill>
              <a:effectLst/>
              <a:uFillTx/>
              <a:latin typeface="Arial"/>
            </a:endParaRPr>
          </a:p>
        </p:txBody>
      </p:sp>
      <p:sp>
        <p:nvSpPr>
          <p:cNvPr id="565" name="Shape 195"/>
          <p:cNvSpPr/>
          <p:nvPr/>
        </p:nvSpPr>
        <p:spPr>
          <a:xfrm flipH="1" flipV="1">
            <a:off x="4405680" y="3270240"/>
            <a:ext cx="2618280" cy="317160"/>
          </a:xfrm>
          <a:prstGeom prst="line">
            <a:avLst/>
          </a:prstGeom>
          <a:ln w="17780">
            <a:solidFill>
              <a:srgbClr val="5E72E4"/>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66" name="Text 230"/>
          <p:cNvSpPr/>
          <p:nvPr/>
        </p:nvSpPr>
        <p:spPr>
          <a:xfrm>
            <a:off x="5329440" y="3501000"/>
            <a:ext cx="7304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i="1" u="none" strike="noStrike">
                <a:solidFill>
                  <a:srgbClr val="5E72E4"/>
                </a:solidFill>
                <a:effectLst/>
                <a:uFillTx/>
                <a:latin typeface="Cambria"/>
                <a:ea typeface="Cambria"/>
              </a:rPr>
              <a:t>{D, E}</a:t>
            </a:r>
            <a:endParaRPr lang="en-GB" sz="900" b="0" u="none" strike="noStrike">
              <a:solidFill>
                <a:srgbClr val="000000"/>
              </a:solidFill>
              <a:effectLst/>
              <a:uFillTx/>
              <a:latin typeface="Arial"/>
            </a:endParaRPr>
          </a:p>
        </p:txBody>
      </p:sp>
      <p:sp>
        <p:nvSpPr>
          <p:cNvPr id="567" name="Shape 196"/>
          <p:cNvSpPr/>
          <p:nvPr/>
        </p:nvSpPr>
        <p:spPr>
          <a:xfrm flipH="1" flipV="1">
            <a:off x="2476800" y="2669400"/>
            <a:ext cx="1538280" cy="513000"/>
          </a:xfrm>
          <a:prstGeom prst="line">
            <a:avLst/>
          </a:prstGeom>
          <a:ln w="17780">
            <a:solidFill>
              <a:srgbClr val="5E72E4"/>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568" name="Text 231"/>
          <p:cNvSpPr/>
          <p:nvPr/>
        </p:nvSpPr>
        <p:spPr>
          <a:xfrm>
            <a:off x="2886840" y="2678400"/>
            <a:ext cx="82188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i="1" u="none" strike="noStrike">
                <a:solidFill>
                  <a:srgbClr val="5E72E4"/>
                </a:solidFill>
                <a:effectLst/>
                <a:uFillTx/>
                <a:latin typeface="Cambria"/>
                <a:ea typeface="Cambria"/>
              </a:rPr>
              <a:t>{C, D, E}</a:t>
            </a:r>
            <a:endParaRPr lang="en-GB" sz="900" b="0" u="none" strike="noStrike">
              <a:solidFill>
                <a:srgbClr val="000000"/>
              </a:solidFill>
              <a:effectLst/>
              <a:uFillTx/>
              <a:latin typeface="Arial"/>
            </a:endParaRPr>
          </a:p>
        </p:txBody>
      </p:sp>
      <p:sp>
        <p:nvSpPr>
          <p:cNvPr id="569" name="Shape 197"/>
          <p:cNvSpPr/>
          <p:nvPr/>
        </p:nvSpPr>
        <p:spPr>
          <a:xfrm>
            <a:off x="2486880" y="2606040"/>
            <a:ext cx="5267160" cy="360"/>
          </a:xfrm>
          <a:prstGeom prst="line">
            <a:avLst/>
          </a:prstGeom>
          <a:ln w="17780">
            <a:solidFill>
              <a:srgbClr val="5E72E4"/>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570" name="Text 232"/>
          <p:cNvSpPr/>
          <p:nvPr/>
        </p:nvSpPr>
        <p:spPr>
          <a:xfrm>
            <a:off x="4297680" y="2331720"/>
            <a:ext cx="164484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i="1" u="none" strike="noStrike">
                <a:solidFill>
                  <a:srgbClr val="5E72E4"/>
                </a:solidFill>
                <a:effectLst/>
                <a:uFillTx/>
                <a:latin typeface="Cambria"/>
                <a:ea typeface="Cambria"/>
              </a:rPr>
              <a:t>A</a:t>
            </a:r>
            <a:r>
              <a:rPr lang="en-US" sz="900" b="1" i="1" u="none" strike="noStrike" baseline="-40000">
                <a:solidFill>
                  <a:srgbClr val="5E72E4"/>
                </a:solidFill>
                <a:effectLst/>
                <a:uFillTx/>
                <a:latin typeface="Cambria"/>
                <a:ea typeface="Cambria"/>
              </a:rPr>
              <a:t>b</a:t>
            </a:r>
            <a:r>
              <a:rPr lang="en-US" sz="900" b="1" i="1" u="none" strike="noStrike">
                <a:solidFill>
                  <a:srgbClr val="5E72E4"/>
                </a:solidFill>
                <a:effectLst/>
                <a:uFillTx/>
                <a:latin typeface="Cambria"/>
                <a:ea typeface="Cambria"/>
              </a:rPr>
              <a:t> ∧ C</a:t>
            </a:r>
            <a:r>
              <a:rPr lang="en-US" sz="900" b="1" i="1" u="none" strike="noStrike" baseline="-40000">
                <a:solidFill>
                  <a:srgbClr val="5E72E4"/>
                </a:solidFill>
                <a:effectLst/>
                <a:uFillTx/>
                <a:latin typeface="Cambria"/>
                <a:ea typeface="Cambria"/>
              </a:rPr>
              <a:t>b</a:t>
            </a:r>
            <a:r>
              <a:rPr lang="en-US" sz="900" b="1" i="1" u="none" strike="noStrike">
                <a:solidFill>
                  <a:srgbClr val="5E72E4"/>
                </a:solidFill>
                <a:effectLst/>
                <a:uFillTx/>
                <a:latin typeface="Cambria"/>
                <a:ea typeface="Cambria"/>
              </a:rPr>
              <a:t> ∧ E</a:t>
            </a:r>
            <a:r>
              <a:rPr lang="en-US" sz="900" b="1" i="1" u="none" strike="noStrike" baseline="-40000">
                <a:solidFill>
                  <a:srgbClr val="5E72E4"/>
                </a:solidFill>
                <a:effectLst/>
                <a:uFillTx/>
                <a:latin typeface="Cambria"/>
                <a:ea typeface="Cambria"/>
              </a:rPr>
              <a:t>b</a:t>
            </a:r>
            <a:endParaRPr lang="en-GB" sz="900" b="0" u="none" strike="noStrike">
              <a:solidFill>
                <a:srgbClr val="000000"/>
              </a:solidFill>
              <a:effectLst/>
              <a:uFillTx/>
              <a:latin typeface="Arial"/>
            </a:endParaRPr>
          </a:p>
        </p:txBody>
      </p:sp>
      <p:sp>
        <p:nvSpPr>
          <p:cNvPr id="571" name="Shape 198"/>
          <p:cNvSpPr/>
          <p:nvPr/>
        </p:nvSpPr>
        <p:spPr>
          <a:xfrm>
            <a:off x="1261800" y="3410640"/>
            <a:ext cx="401400" cy="401400"/>
          </a:xfrm>
          <a:prstGeom prst="ellipse">
            <a:avLst/>
          </a:prstGeom>
          <a:solidFill>
            <a:srgbClr val="5E72E4"/>
          </a:solidFill>
          <a:ln w="12700">
            <a:solidFill>
              <a:srgbClr val="5E72E4"/>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2" name="Text 233"/>
          <p:cNvSpPr/>
          <p:nvPr/>
        </p:nvSpPr>
        <p:spPr>
          <a:xfrm>
            <a:off x="1261800" y="3410640"/>
            <a:ext cx="401400" cy="40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A</a:t>
            </a:r>
            <a:endParaRPr lang="en-GB" sz="1300" b="0" u="none" strike="noStrike">
              <a:solidFill>
                <a:srgbClr val="000000"/>
              </a:solidFill>
              <a:effectLst/>
              <a:uFillTx/>
              <a:latin typeface="Arial"/>
            </a:endParaRPr>
          </a:p>
        </p:txBody>
      </p:sp>
      <p:sp>
        <p:nvSpPr>
          <p:cNvPr id="573" name="Shape 199"/>
          <p:cNvSpPr/>
          <p:nvPr/>
        </p:nvSpPr>
        <p:spPr>
          <a:xfrm>
            <a:off x="2084760" y="2404800"/>
            <a:ext cx="401400" cy="401400"/>
          </a:xfrm>
          <a:prstGeom prst="ellipse">
            <a:avLst/>
          </a:prstGeom>
          <a:solidFill>
            <a:srgbClr val="5E72E4"/>
          </a:solidFill>
          <a:ln w="12700">
            <a:solidFill>
              <a:srgbClr val="5E72E4"/>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4" name="Text 234"/>
          <p:cNvSpPr/>
          <p:nvPr/>
        </p:nvSpPr>
        <p:spPr>
          <a:xfrm>
            <a:off x="2084760" y="2404800"/>
            <a:ext cx="401400" cy="40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B</a:t>
            </a:r>
            <a:endParaRPr lang="en-GB" sz="1300" b="0" u="none" strike="noStrike">
              <a:solidFill>
                <a:srgbClr val="000000"/>
              </a:solidFill>
              <a:effectLst/>
              <a:uFillTx/>
              <a:latin typeface="Arial"/>
            </a:endParaRPr>
          </a:p>
        </p:txBody>
      </p:sp>
      <p:sp>
        <p:nvSpPr>
          <p:cNvPr id="575" name="Shape 200"/>
          <p:cNvSpPr/>
          <p:nvPr/>
        </p:nvSpPr>
        <p:spPr>
          <a:xfrm>
            <a:off x="4005000" y="3044880"/>
            <a:ext cx="401400" cy="401400"/>
          </a:xfrm>
          <a:prstGeom prst="ellipse">
            <a:avLst/>
          </a:prstGeom>
          <a:solidFill>
            <a:srgbClr val="5E72E4"/>
          </a:solidFill>
          <a:ln w="12700">
            <a:solidFill>
              <a:srgbClr val="5E72E4"/>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6" name="Text 235"/>
          <p:cNvSpPr/>
          <p:nvPr/>
        </p:nvSpPr>
        <p:spPr>
          <a:xfrm>
            <a:off x="4005000" y="3044880"/>
            <a:ext cx="401400" cy="40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C</a:t>
            </a:r>
            <a:endParaRPr lang="en-GB" sz="1300" b="0" u="none" strike="noStrike">
              <a:solidFill>
                <a:srgbClr val="000000"/>
              </a:solidFill>
              <a:effectLst/>
              <a:uFillTx/>
              <a:latin typeface="Arial"/>
            </a:endParaRPr>
          </a:p>
        </p:txBody>
      </p:sp>
      <p:sp>
        <p:nvSpPr>
          <p:cNvPr id="577" name="Shape 201"/>
          <p:cNvSpPr/>
          <p:nvPr/>
        </p:nvSpPr>
        <p:spPr>
          <a:xfrm>
            <a:off x="7022520" y="3410640"/>
            <a:ext cx="401400" cy="401400"/>
          </a:xfrm>
          <a:prstGeom prst="ellipse">
            <a:avLst/>
          </a:prstGeom>
          <a:solidFill>
            <a:srgbClr val="5E72E4"/>
          </a:solidFill>
          <a:ln w="12700">
            <a:solidFill>
              <a:srgbClr val="5E72E4"/>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8" name="Text 236"/>
          <p:cNvSpPr/>
          <p:nvPr/>
        </p:nvSpPr>
        <p:spPr>
          <a:xfrm>
            <a:off x="7022520" y="3410640"/>
            <a:ext cx="401400" cy="40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D</a:t>
            </a:r>
            <a:endParaRPr lang="en-GB" sz="1300" b="0" u="none" strike="noStrike">
              <a:solidFill>
                <a:srgbClr val="000000"/>
              </a:solidFill>
              <a:effectLst/>
              <a:uFillTx/>
              <a:latin typeface="Arial"/>
            </a:endParaRPr>
          </a:p>
        </p:txBody>
      </p:sp>
      <p:sp>
        <p:nvSpPr>
          <p:cNvPr id="579" name="Shape 202"/>
          <p:cNvSpPr/>
          <p:nvPr/>
        </p:nvSpPr>
        <p:spPr>
          <a:xfrm>
            <a:off x="7754040" y="2404800"/>
            <a:ext cx="401400" cy="401400"/>
          </a:xfrm>
          <a:prstGeom prst="ellipse">
            <a:avLst/>
          </a:prstGeom>
          <a:solidFill>
            <a:srgbClr val="DC2626"/>
          </a:solidFill>
          <a:ln w="12700">
            <a:solidFill>
              <a:srgbClr val="DC2626"/>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80" name="Text 237"/>
          <p:cNvSpPr/>
          <p:nvPr/>
        </p:nvSpPr>
        <p:spPr>
          <a:xfrm>
            <a:off x="7754040" y="2404800"/>
            <a:ext cx="401400" cy="40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i="1" u="none" strike="noStrike">
                <a:solidFill>
                  <a:srgbClr val="FFFFFF"/>
                </a:solidFill>
                <a:effectLst/>
                <a:uFillTx/>
                <a:latin typeface="Cambria"/>
                <a:ea typeface="Cambria"/>
              </a:rPr>
              <a:t>b</a:t>
            </a:r>
            <a:endParaRPr lang="en-GB" sz="1300" b="0" u="none" strike="noStrike">
              <a:solidFill>
                <a:srgbClr val="000000"/>
              </a:solidFill>
              <a:effectLst/>
              <a:uFillTx/>
              <a:latin typeface="Arial"/>
            </a:endParaRPr>
          </a:p>
        </p:txBody>
      </p:sp>
      <p:sp>
        <p:nvSpPr>
          <p:cNvPr id="581" name="Text 238"/>
          <p:cNvSpPr/>
          <p:nvPr/>
        </p:nvSpPr>
        <p:spPr>
          <a:xfrm>
            <a:off x="365760" y="4892040"/>
            <a:ext cx="3656520" cy="227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582" name="Text 239"/>
          <p:cNvSpPr/>
          <p:nvPr/>
        </p:nvSpPr>
        <p:spPr>
          <a:xfrm>
            <a:off x="8321040" y="4892040"/>
            <a:ext cx="730440" cy="227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2 / 2</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583"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Why we need ANYPREVOUT</a:t>
            </a:r>
            <a:endParaRPr lang="en-GB" sz="2600" b="0" u="none" strike="noStrike">
              <a:solidFill>
                <a:srgbClr val="000000"/>
              </a:solidFill>
              <a:effectLst/>
              <a:uFillTx/>
              <a:latin typeface="Arial"/>
            </a:endParaRPr>
          </a:p>
        </p:txBody>
      </p:sp>
      <p:sp>
        <p:nvSpPr>
          <p:cNvPr id="584"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A proposed Bitcoin sighash mode (BIP-118) — without it, Elmo collapses</a:t>
            </a:r>
            <a:endParaRPr lang="en-GB" sz="1300" b="0" u="none" strike="noStrike">
              <a:solidFill>
                <a:srgbClr val="000000"/>
              </a:solidFill>
              <a:effectLst/>
              <a:uFillTx/>
              <a:latin typeface="Arial"/>
            </a:endParaRPr>
          </a:p>
        </p:txBody>
      </p:sp>
      <p:sp>
        <p:nvSpPr>
          <p:cNvPr id="585" name="Shape 3"/>
          <p:cNvSpPr/>
          <p:nvPr/>
        </p:nvSpPr>
        <p:spPr>
          <a:xfrm>
            <a:off x="365760" y="1325880"/>
            <a:ext cx="4021200" cy="1369440"/>
          </a:xfrm>
          <a:prstGeom prst="rect">
            <a:avLst/>
          </a:prstGeom>
          <a:solidFill>
            <a:srgbClr val="FEF2F2"/>
          </a:solidFill>
          <a:ln w="12600">
            <a:solidFill>
              <a:srgbClr val="FECAC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586" name="Image 0" descr="preencoded.png"/>
          <p:cNvPicPr/>
          <p:nvPr/>
        </p:nvPicPr>
        <p:blipFill>
          <a:blip r:embed="rId1"/>
          <a:stretch/>
        </p:blipFill>
        <p:spPr>
          <a:xfrm>
            <a:off x="502920" y="1463040"/>
            <a:ext cx="272160" cy="272160"/>
          </a:xfrm>
          <a:prstGeom prst="rect">
            <a:avLst/>
          </a:prstGeom>
          <a:noFill/>
          <a:ln w="0">
            <a:noFill/>
          </a:ln>
        </p:spPr>
      </p:pic>
      <p:sp>
        <p:nvSpPr>
          <p:cNvPr id="587" name="Text 4"/>
          <p:cNvSpPr/>
          <p:nvPr/>
        </p:nvSpPr>
        <p:spPr>
          <a:xfrm>
            <a:off x="868680" y="1417320"/>
            <a:ext cx="338112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F1B3D"/>
                </a:solidFill>
                <a:effectLst/>
                <a:uFillTx/>
                <a:latin typeface="Cambria"/>
                <a:ea typeface="Cambria"/>
              </a:rPr>
              <a:t>Today: signatures lock the input</a:t>
            </a:r>
            <a:endParaRPr lang="en-GB" sz="1300" b="0" u="none" strike="noStrike">
              <a:solidFill>
                <a:srgbClr val="000000"/>
              </a:solidFill>
              <a:effectLst/>
              <a:uFillTx/>
              <a:latin typeface="Arial"/>
            </a:endParaRPr>
          </a:p>
        </p:txBody>
      </p:sp>
      <p:sp>
        <p:nvSpPr>
          <p:cNvPr id="588" name="Text 5"/>
          <p:cNvSpPr/>
          <p:nvPr/>
        </p:nvSpPr>
        <p:spPr>
          <a:xfrm>
            <a:off x="502920" y="1783080"/>
            <a:ext cx="3838320" cy="86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Every signature commits to the hash of the output it's spending. You can't pre-sign a tx and decide later what it spends.</a:t>
            </a:r>
            <a:endParaRPr lang="en-GB" sz="1100" b="0" u="none" strike="noStrike">
              <a:solidFill>
                <a:srgbClr val="000000"/>
              </a:solidFill>
              <a:effectLst/>
              <a:uFillTx/>
              <a:latin typeface="Arial"/>
            </a:endParaRPr>
          </a:p>
        </p:txBody>
      </p:sp>
      <p:sp>
        <p:nvSpPr>
          <p:cNvPr id="589" name="Shape 6"/>
          <p:cNvSpPr/>
          <p:nvPr/>
        </p:nvSpPr>
        <p:spPr>
          <a:xfrm>
            <a:off x="4754880" y="1325880"/>
            <a:ext cx="4021200" cy="1369440"/>
          </a:xfrm>
          <a:prstGeom prst="rect">
            <a:avLst/>
          </a:prstGeom>
          <a:solidFill>
            <a:srgbClr val="F0FDF4"/>
          </a:solidFill>
          <a:ln w="12600">
            <a:solidFill>
              <a:srgbClr val="BBF7D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590" name="Image 1" descr="preencoded.png"/>
          <p:cNvPicPr/>
          <p:nvPr/>
        </p:nvPicPr>
        <p:blipFill>
          <a:blip r:embed="rId2"/>
          <a:stretch/>
        </p:blipFill>
        <p:spPr>
          <a:xfrm>
            <a:off x="4892040" y="1463040"/>
            <a:ext cx="272160" cy="272160"/>
          </a:xfrm>
          <a:prstGeom prst="rect">
            <a:avLst/>
          </a:prstGeom>
          <a:noFill/>
          <a:ln w="0">
            <a:noFill/>
          </a:ln>
        </p:spPr>
      </p:pic>
      <p:sp>
        <p:nvSpPr>
          <p:cNvPr id="591" name="Text 7"/>
          <p:cNvSpPr/>
          <p:nvPr/>
        </p:nvSpPr>
        <p:spPr>
          <a:xfrm>
            <a:off x="5257800" y="1417320"/>
            <a:ext cx="328968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F1B3D"/>
                </a:solidFill>
                <a:effectLst/>
                <a:uFillTx/>
                <a:latin typeface="Cambria"/>
                <a:ea typeface="Cambria"/>
              </a:rPr>
              <a:t>ANYPREVOUT (BIP-118)</a:t>
            </a:r>
            <a:endParaRPr lang="en-GB" sz="1300" b="0" u="none" strike="noStrike">
              <a:solidFill>
                <a:srgbClr val="000000"/>
              </a:solidFill>
              <a:effectLst/>
              <a:uFillTx/>
              <a:latin typeface="Arial"/>
            </a:endParaRPr>
          </a:p>
        </p:txBody>
      </p:sp>
      <p:sp>
        <p:nvSpPr>
          <p:cNvPr id="592" name="Text 8"/>
          <p:cNvSpPr/>
          <p:nvPr/>
        </p:nvSpPr>
        <p:spPr>
          <a:xfrm>
            <a:off x="4892040" y="1783080"/>
            <a:ext cx="3838320" cy="86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A signature can spend ANY output with a matching script — even outputs that didn't exist at signing time.</a:t>
            </a:r>
            <a:endParaRPr lang="en-GB" sz="1100" b="0" u="none" strike="noStrike">
              <a:solidFill>
                <a:srgbClr val="000000"/>
              </a:solidFill>
              <a:effectLst/>
              <a:uFillTx/>
              <a:latin typeface="Arial"/>
            </a:endParaRPr>
          </a:p>
        </p:txBody>
      </p:sp>
      <p:sp>
        <p:nvSpPr>
          <p:cNvPr id="593" name="Shape 9"/>
          <p:cNvSpPr/>
          <p:nvPr/>
        </p:nvSpPr>
        <p:spPr>
          <a:xfrm>
            <a:off x="365760" y="2834640"/>
            <a:ext cx="8410320" cy="1323720"/>
          </a:xfrm>
          <a:prstGeom prst="rect">
            <a:avLst/>
          </a:prstGeom>
          <a:solidFill>
            <a:srgbClr val="EEF1F8"/>
          </a:solidFill>
          <a:ln w="12600">
            <a:solidFill>
              <a:srgbClr val="DDE3F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594" name="Image 2" descr="preencoded.png"/>
          <p:cNvPicPr/>
          <p:nvPr/>
        </p:nvPicPr>
        <p:blipFill>
          <a:blip r:embed="rId3"/>
          <a:stretch/>
        </p:blipFill>
        <p:spPr>
          <a:xfrm>
            <a:off x="548640" y="2971800"/>
            <a:ext cx="363600" cy="363600"/>
          </a:xfrm>
          <a:prstGeom prst="rect">
            <a:avLst/>
          </a:prstGeom>
          <a:noFill/>
          <a:ln w="0">
            <a:noFill/>
          </a:ln>
        </p:spPr>
      </p:pic>
      <p:sp>
        <p:nvSpPr>
          <p:cNvPr id="595" name="Text 10"/>
          <p:cNvSpPr/>
          <p:nvPr/>
        </p:nvSpPr>
        <p:spPr>
          <a:xfrm>
            <a:off x="1005840" y="2926080"/>
            <a:ext cx="731304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1B3D"/>
                </a:solidFill>
                <a:effectLst/>
                <a:uFillTx/>
                <a:latin typeface="Cambria"/>
                <a:ea typeface="Cambria"/>
              </a:rPr>
              <a:t>Why Elmo needs it</a:t>
            </a:r>
            <a:endParaRPr lang="en-GB" sz="1400" b="0" u="none" strike="noStrike">
              <a:solidFill>
                <a:srgbClr val="000000"/>
              </a:solidFill>
              <a:effectLst/>
              <a:uFillTx/>
              <a:latin typeface="Arial"/>
            </a:endParaRPr>
          </a:p>
        </p:txBody>
      </p:sp>
      <p:sp>
        <p:nvSpPr>
          <p:cNvPr id="596" name="Text 11"/>
          <p:cNvSpPr/>
          <p:nvPr/>
        </p:nvSpPr>
        <p:spPr>
          <a:xfrm>
            <a:off x="548640" y="3291840"/>
            <a:ext cx="8181720" cy="86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Many different virtual outputs could end up funding A ⇄ E (depending on close ordering). Without ANYPREVOUT, A and E would need a SEPARATE pre-signed commitment for each possibility — exponential blowup with recursion depth. With ANYPREVOUT, ONE pair of commitments (signed APO) spends ALL of them via the uniform bridge output. Payments stay O(1).</a:t>
            </a:r>
            <a:endParaRPr lang="en-GB" sz="1100" b="0" u="none" strike="noStrike">
              <a:solidFill>
                <a:srgbClr val="000000"/>
              </a:solidFill>
              <a:effectLst/>
              <a:uFillTx/>
              <a:latin typeface="Arial"/>
            </a:endParaRPr>
          </a:p>
        </p:txBody>
      </p:sp>
      <p:sp>
        <p:nvSpPr>
          <p:cNvPr id="597" name="Shape 12"/>
          <p:cNvSpPr/>
          <p:nvPr/>
        </p:nvSpPr>
        <p:spPr>
          <a:xfrm>
            <a:off x="365760" y="4251960"/>
            <a:ext cx="8410320" cy="500760"/>
          </a:xfrm>
          <a:prstGeom prst="rect">
            <a:avLst/>
          </a:prstGeom>
          <a:solidFill>
            <a:srgbClr val="0F1B3D"/>
          </a:solidFill>
          <a:ln w="12600">
            <a:solidFill>
              <a:srgbClr val="0F1B3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598" name="Image 3" descr="preencoded.png"/>
          <p:cNvPicPr/>
          <p:nvPr/>
        </p:nvPicPr>
        <p:blipFill>
          <a:blip r:embed="rId4"/>
          <a:stretch/>
        </p:blipFill>
        <p:spPr>
          <a:xfrm>
            <a:off x="502920" y="4370760"/>
            <a:ext cx="253800" cy="253800"/>
          </a:xfrm>
          <a:prstGeom prst="rect">
            <a:avLst/>
          </a:prstGeom>
          <a:noFill/>
          <a:ln w="0">
            <a:noFill/>
          </a:ln>
        </p:spPr>
      </p:pic>
      <p:sp>
        <p:nvSpPr>
          <p:cNvPr id="599" name="Text 13"/>
          <p:cNvSpPr/>
          <p:nvPr/>
        </p:nvSpPr>
        <p:spPr>
          <a:xfrm>
            <a:off x="822960" y="4251960"/>
            <a:ext cx="786168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5C26B"/>
                </a:solidFill>
                <a:effectLst/>
                <a:uFillTx/>
                <a:latin typeface="Calibri"/>
                <a:ea typeface="Calibri"/>
              </a:rPr>
              <a:t>APO is used by:  commitment-tx signatures  ·  bridge-tx signatures  →  marked  *  on the previous slide</a:t>
            </a:r>
            <a:endParaRPr lang="en-GB" sz="1100" b="0" u="none" strike="noStrike">
              <a:solidFill>
                <a:srgbClr val="000000"/>
              </a:solidFill>
              <a:effectLst/>
              <a:uFillTx/>
              <a:latin typeface="Arial"/>
            </a:endParaRPr>
          </a:p>
        </p:txBody>
      </p:sp>
      <p:sp>
        <p:nvSpPr>
          <p:cNvPr id="600" name="Text 14"/>
          <p:cNvSpPr/>
          <p:nvPr/>
        </p:nvSpPr>
        <p:spPr>
          <a:xfrm>
            <a:off x="365760" y="4846320"/>
            <a:ext cx="841032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i="1" u="none" strike="noStrike">
                <a:solidFill>
                  <a:srgbClr val="5A6B8C"/>
                </a:solidFill>
                <a:effectLst/>
                <a:uFillTx/>
                <a:latin typeface="Calibri"/>
                <a:ea typeface="Calibri"/>
              </a:rPr>
              <a:t>Conjecture: no efficient recursive virtual channel on Bitcoin is possible without a covenant-like primitive.</a:t>
            </a:r>
            <a:endParaRPr lang="en-GB" sz="1000" b="0" u="none" strike="noStrike">
              <a:solidFill>
                <a:srgbClr val="000000"/>
              </a:solidFill>
              <a:effectLst/>
              <a:uFillTx/>
              <a:latin typeface="Arial"/>
            </a:endParaRPr>
          </a:p>
        </p:txBody>
      </p:sp>
      <p:sp>
        <p:nvSpPr>
          <p:cNvPr id="601" name="Text 15"/>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602" name="Text 16"/>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11 / 14</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603"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Closing: off-chain if everyone cooperates, on-chain if not</a:t>
            </a:r>
            <a:endParaRPr lang="en-GB" sz="2600" b="0" u="none" strike="noStrike">
              <a:solidFill>
                <a:srgbClr val="000000"/>
              </a:solidFill>
              <a:effectLst/>
              <a:uFillTx/>
              <a:latin typeface="Arial"/>
            </a:endParaRPr>
          </a:p>
        </p:txBody>
      </p:sp>
      <p:sp>
        <p:nvSpPr>
          <p:cNvPr id="604"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Either endpoint can unilaterally force the A ⇄ E funding output on-chain</a:t>
            </a:r>
            <a:endParaRPr lang="en-GB" sz="1300" b="0" u="none" strike="noStrike">
              <a:solidFill>
                <a:srgbClr val="000000"/>
              </a:solidFill>
              <a:effectLst/>
              <a:uFillTx/>
              <a:latin typeface="Arial"/>
            </a:endParaRPr>
          </a:p>
        </p:txBody>
      </p:sp>
      <p:sp>
        <p:nvSpPr>
          <p:cNvPr id="605" name="Shape 3"/>
          <p:cNvSpPr/>
          <p:nvPr/>
        </p:nvSpPr>
        <p:spPr>
          <a:xfrm>
            <a:off x="365760" y="1325880"/>
            <a:ext cx="4021200" cy="3289680"/>
          </a:xfrm>
          <a:prstGeom prst="rect">
            <a:avLst/>
          </a:prstGeom>
          <a:solidFill>
            <a:srgbClr val="F0FDF4"/>
          </a:solidFill>
          <a:ln w="12600">
            <a:solidFill>
              <a:srgbClr val="BBF7D0"/>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606" name="Image 0" descr="preencoded.png"/>
          <p:cNvPicPr/>
          <p:nvPr/>
        </p:nvPicPr>
        <p:blipFill>
          <a:blip r:embed="rId1"/>
          <a:stretch/>
        </p:blipFill>
        <p:spPr>
          <a:xfrm>
            <a:off x="548640" y="1463040"/>
            <a:ext cx="317880" cy="317880"/>
          </a:xfrm>
          <a:prstGeom prst="rect">
            <a:avLst/>
          </a:prstGeom>
          <a:noFill/>
          <a:ln w="0">
            <a:noFill/>
          </a:ln>
        </p:spPr>
      </p:pic>
      <p:sp>
        <p:nvSpPr>
          <p:cNvPr id="607" name="Text 4"/>
          <p:cNvSpPr/>
          <p:nvPr/>
        </p:nvSpPr>
        <p:spPr>
          <a:xfrm>
            <a:off x="960120" y="1444680"/>
            <a:ext cx="3381120" cy="45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B3D"/>
                </a:solidFill>
                <a:effectLst/>
                <a:uFillTx/>
                <a:latin typeface="Cambria"/>
                <a:ea typeface="Cambria"/>
              </a:rPr>
              <a:t>Cooperative close with all base parties — off-chain</a:t>
            </a:r>
            <a:endParaRPr lang="en-GB" sz="1100" b="0" u="none" strike="noStrike">
              <a:solidFill>
                <a:srgbClr val="000000"/>
              </a:solidFill>
              <a:effectLst/>
              <a:uFillTx/>
              <a:latin typeface="Arial"/>
            </a:endParaRPr>
          </a:p>
        </p:txBody>
      </p:sp>
      <p:sp>
        <p:nvSpPr>
          <p:cNvPr id="608" name="Shape 5"/>
          <p:cNvSpPr/>
          <p:nvPr/>
        </p:nvSpPr>
        <p:spPr>
          <a:xfrm>
            <a:off x="548640" y="1965960"/>
            <a:ext cx="272160" cy="272160"/>
          </a:xfrm>
          <a:prstGeom prst="ellipse">
            <a:avLst/>
          </a:prstGeom>
          <a:solidFill>
            <a:srgbClr val="16A34A"/>
          </a:solidFill>
          <a:ln w="12600">
            <a:solidFill>
              <a:srgbClr val="16A34A"/>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09" name="Text 6"/>
          <p:cNvSpPr/>
          <p:nvPr/>
        </p:nvSpPr>
        <p:spPr>
          <a:xfrm>
            <a:off x="548640" y="1965960"/>
            <a:ext cx="27216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1</a:t>
            </a:r>
            <a:endParaRPr lang="en-GB" sz="1100" b="0" u="none" strike="noStrike">
              <a:solidFill>
                <a:srgbClr val="000000"/>
              </a:solidFill>
              <a:effectLst/>
              <a:uFillTx/>
              <a:latin typeface="Arial"/>
            </a:endParaRPr>
          </a:p>
        </p:txBody>
      </p:sp>
      <p:sp>
        <p:nvSpPr>
          <p:cNvPr id="610" name="Text 7"/>
          <p:cNvSpPr/>
          <p:nvPr/>
        </p:nvSpPr>
        <p:spPr>
          <a:xfrm>
            <a:off x="914400" y="1920240"/>
            <a:ext cx="338112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Endpoints agree on final A ⇄ E balance</a:t>
            </a:r>
            <a:endParaRPr lang="en-GB" sz="1100" b="0" u="none" strike="noStrike">
              <a:solidFill>
                <a:srgbClr val="000000"/>
              </a:solidFill>
              <a:effectLst/>
              <a:uFillTx/>
              <a:latin typeface="Arial"/>
            </a:endParaRPr>
          </a:p>
        </p:txBody>
      </p:sp>
      <p:sp>
        <p:nvSpPr>
          <p:cNvPr id="611" name="Shape 8"/>
          <p:cNvSpPr/>
          <p:nvPr/>
        </p:nvSpPr>
        <p:spPr>
          <a:xfrm>
            <a:off x="548640" y="2468880"/>
            <a:ext cx="272160" cy="272160"/>
          </a:xfrm>
          <a:prstGeom prst="ellipse">
            <a:avLst/>
          </a:prstGeom>
          <a:solidFill>
            <a:srgbClr val="16A34A"/>
          </a:solidFill>
          <a:ln w="12600">
            <a:solidFill>
              <a:srgbClr val="16A34A"/>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12" name="Text 9"/>
          <p:cNvSpPr/>
          <p:nvPr/>
        </p:nvSpPr>
        <p:spPr>
          <a:xfrm>
            <a:off x="548640" y="2468880"/>
            <a:ext cx="27216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2</a:t>
            </a:r>
            <a:endParaRPr lang="en-GB" sz="1100" b="0" u="none" strike="noStrike">
              <a:solidFill>
                <a:srgbClr val="000000"/>
              </a:solidFill>
              <a:effectLst/>
              <a:uFillTx/>
              <a:latin typeface="Arial"/>
            </a:endParaRPr>
          </a:p>
        </p:txBody>
      </p:sp>
      <p:sp>
        <p:nvSpPr>
          <p:cNvPr id="613" name="Text 10"/>
          <p:cNvSpPr/>
          <p:nvPr/>
        </p:nvSpPr>
        <p:spPr>
          <a:xfrm>
            <a:off x="914400" y="2423160"/>
            <a:ext cx="338112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Each base channel restores commitments with collateral moved back in</a:t>
            </a:r>
            <a:endParaRPr lang="en-GB" sz="1100" b="0" u="none" strike="noStrike">
              <a:solidFill>
                <a:srgbClr val="000000"/>
              </a:solidFill>
              <a:effectLst/>
              <a:uFillTx/>
              <a:latin typeface="Arial"/>
            </a:endParaRPr>
          </a:p>
        </p:txBody>
      </p:sp>
      <p:sp>
        <p:nvSpPr>
          <p:cNvPr id="614" name="Shape 11"/>
          <p:cNvSpPr/>
          <p:nvPr/>
        </p:nvSpPr>
        <p:spPr>
          <a:xfrm>
            <a:off x="548640" y="2971800"/>
            <a:ext cx="272160" cy="272160"/>
          </a:xfrm>
          <a:prstGeom prst="ellipse">
            <a:avLst/>
          </a:prstGeom>
          <a:solidFill>
            <a:srgbClr val="16A34A"/>
          </a:solidFill>
          <a:ln w="12600">
            <a:solidFill>
              <a:srgbClr val="16A34A"/>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15" name="Text 12"/>
          <p:cNvSpPr/>
          <p:nvPr/>
        </p:nvSpPr>
        <p:spPr>
          <a:xfrm>
            <a:off x="548640" y="2971800"/>
            <a:ext cx="27216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3</a:t>
            </a:r>
            <a:endParaRPr lang="en-GB" sz="1100" b="0" u="none" strike="noStrike">
              <a:solidFill>
                <a:srgbClr val="000000"/>
              </a:solidFill>
              <a:effectLst/>
              <a:uFillTx/>
              <a:latin typeface="Arial"/>
            </a:endParaRPr>
          </a:p>
        </p:txBody>
      </p:sp>
      <p:sp>
        <p:nvSpPr>
          <p:cNvPr id="616" name="Text 13"/>
          <p:cNvSpPr/>
          <p:nvPr/>
        </p:nvSpPr>
        <p:spPr>
          <a:xfrm>
            <a:off x="914400" y="2926080"/>
            <a:ext cx="338112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Intermediaries 'break even' across their two channels</a:t>
            </a:r>
            <a:endParaRPr lang="en-GB" sz="1100" b="0" u="none" strike="noStrike">
              <a:solidFill>
                <a:srgbClr val="000000"/>
              </a:solidFill>
              <a:effectLst/>
              <a:uFillTx/>
              <a:latin typeface="Arial"/>
            </a:endParaRPr>
          </a:p>
        </p:txBody>
      </p:sp>
      <p:sp>
        <p:nvSpPr>
          <p:cNvPr id="617" name="Shape 14"/>
          <p:cNvSpPr/>
          <p:nvPr/>
        </p:nvSpPr>
        <p:spPr>
          <a:xfrm>
            <a:off x="548640" y="3474720"/>
            <a:ext cx="272160" cy="272160"/>
          </a:xfrm>
          <a:prstGeom prst="ellipse">
            <a:avLst/>
          </a:prstGeom>
          <a:solidFill>
            <a:srgbClr val="16A34A"/>
          </a:solidFill>
          <a:ln w="12600">
            <a:solidFill>
              <a:srgbClr val="16A34A"/>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18" name="Text 15"/>
          <p:cNvSpPr/>
          <p:nvPr/>
        </p:nvSpPr>
        <p:spPr>
          <a:xfrm>
            <a:off x="548640" y="3474720"/>
            <a:ext cx="27216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4</a:t>
            </a:r>
            <a:endParaRPr lang="en-GB" sz="1100" b="0" u="none" strike="noStrike">
              <a:solidFill>
                <a:srgbClr val="000000"/>
              </a:solidFill>
              <a:effectLst/>
              <a:uFillTx/>
              <a:latin typeface="Arial"/>
            </a:endParaRPr>
          </a:p>
        </p:txBody>
      </p:sp>
      <p:sp>
        <p:nvSpPr>
          <p:cNvPr id="619" name="Text 16"/>
          <p:cNvSpPr/>
          <p:nvPr/>
        </p:nvSpPr>
        <p:spPr>
          <a:xfrm>
            <a:off x="914400" y="3429000"/>
            <a:ext cx="338112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All virtual txs are revoked</a:t>
            </a:r>
            <a:endParaRPr lang="en-GB" sz="1100" b="0" u="none" strike="noStrike">
              <a:solidFill>
                <a:srgbClr val="000000"/>
              </a:solidFill>
              <a:effectLst/>
              <a:uFillTx/>
              <a:latin typeface="Arial"/>
            </a:endParaRPr>
          </a:p>
        </p:txBody>
      </p:sp>
      <p:sp>
        <p:nvSpPr>
          <p:cNvPr id="620" name="Shape 17"/>
          <p:cNvSpPr/>
          <p:nvPr/>
        </p:nvSpPr>
        <p:spPr>
          <a:xfrm>
            <a:off x="548640" y="3977640"/>
            <a:ext cx="272160" cy="272160"/>
          </a:xfrm>
          <a:prstGeom prst="ellipse">
            <a:avLst/>
          </a:prstGeom>
          <a:solidFill>
            <a:srgbClr val="16A34A"/>
          </a:solidFill>
          <a:ln w="12600">
            <a:solidFill>
              <a:srgbClr val="16A34A"/>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21" name="Text 18"/>
          <p:cNvSpPr/>
          <p:nvPr/>
        </p:nvSpPr>
        <p:spPr>
          <a:xfrm>
            <a:off x="548640" y="3977640"/>
            <a:ext cx="272160" cy="27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5</a:t>
            </a:r>
            <a:endParaRPr lang="en-GB" sz="1100" b="0" u="none" strike="noStrike">
              <a:solidFill>
                <a:srgbClr val="000000"/>
              </a:solidFill>
              <a:effectLst/>
              <a:uFillTx/>
              <a:latin typeface="Arial"/>
            </a:endParaRPr>
          </a:p>
        </p:txBody>
      </p:sp>
      <p:sp>
        <p:nvSpPr>
          <p:cNvPr id="622" name="Text 19"/>
          <p:cNvSpPr/>
          <p:nvPr/>
        </p:nvSpPr>
        <p:spPr>
          <a:xfrm>
            <a:off x="914400" y="3931920"/>
            <a:ext cx="3381120" cy="40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Zero on-chain footprint</a:t>
            </a:r>
            <a:endParaRPr lang="en-GB" sz="1100" b="0" u="none" strike="noStrike">
              <a:solidFill>
                <a:srgbClr val="000000"/>
              </a:solidFill>
              <a:effectLst/>
              <a:uFillTx/>
              <a:latin typeface="Arial"/>
            </a:endParaRPr>
          </a:p>
        </p:txBody>
      </p:sp>
      <p:sp>
        <p:nvSpPr>
          <p:cNvPr id="623" name="Shape 20"/>
          <p:cNvSpPr/>
          <p:nvPr/>
        </p:nvSpPr>
        <p:spPr>
          <a:xfrm>
            <a:off x="4754880" y="1325880"/>
            <a:ext cx="4021200" cy="3289680"/>
          </a:xfrm>
          <a:prstGeom prst="rect">
            <a:avLst/>
          </a:prstGeom>
          <a:solidFill>
            <a:srgbClr val="FEF2F2"/>
          </a:solidFill>
          <a:ln w="12600">
            <a:solidFill>
              <a:srgbClr val="FECAC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624" name="Image 1" descr="preencoded.png"/>
          <p:cNvPicPr/>
          <p:nvPr/>
        </p:nvPicPr>
        <p:blipFill>
          <a:blip r:embed="rId2"/>
          <a:stretch/>
        </p:blipFill>
        <p:spPr>
          <a:xfrm>
            <a:off x="4937760" y="1463040"/>
            <a:ext cx="317880" cy="317880"/>
          </a:xfrm>
          <a:prstGeom prst="rect">
            <a:avLst/>
          </a:prstGeom>
          <a:noFill/>
          <a:ln w="0">
            <a:noFill/>
          </a:ln>
        </p:spPr>
      </p:pic>
      <p:sp>
        <p:nvSpPr>
          <p:cNvPr id="625" name="Text 21"/>
          <p:cNvSpPr/>
          <p:nvPr/>
        </p:nvSpPr>
        <p:spPr>
          <a:xfrm>
            <a:off x="5349240" y="1444680"/>
            <a:ext cx="3243960" cy="31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F1B3D"/>
                </a:solidFill>
                <a:effectLst/>
                <a:uFillTx/>
                <a:latin typeface="Cambria"/>
                <a:ea typeface="Cambria"/>
              </a:rPr>
              <a:t>Unilateral close — on-chain</a:t>
            </a:r>
            <a:endParaRPr lang="en-GB" sz="1300" b="0" u="none" strike="noStrike">
              <a:solidFill>
                <a:srgbClr val="000000"/>
              </a:solidFill>
              <a:effectLst/>
              <a:uFillTx/>
              <a:latin typeface="Arial"/>
            </a:endParaRPr>
          </a:p>
        </p:txBody>
      </p:sp>
      <p:sp>
        <p:nvSpPr>
          <p:cNvPr id="626" name="Text 22"/>
          <p:cNvSpPr/>
          <p:nvPr/>
        </p:nvSpPr>
        <p:spPr>
          <a:xfrm>
            <a:off x="4937760" y="1874520"/>
            <a:ext cx="374688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5A6B8C"/>
                </a:solidFill>
                <a:effectLst/>
                <a:uFillTx/>
                <a:latin typeface="Calibri"/>
                <a:ea typeface="Calibri"/>
              </a:rPr>
              <a:t>Cascade of virtual txs lands the A ⇄ E funding output on-chain</a:t>
            </a:r>
            <a:endParaRPr lang="en-GB" sz="1000" b="0" u="none" strike="noStrike">
              <a:solidFill>
                <a:srgbClr val="000000"/>
              </a:solidFill>
              <a:effectLst/>
              <a:uFillTx/>
              <a:latin typeface="Arial"/>
            </a:endParaRPr>
          </a:p>
        </p:txBody>
      </p:sp>
      <p:sp>
        <p:nvSpPr>
          <p:cNvPr id="627" name="Shape 23"/>
          <p:cNvSpPr/>
          <p:nvPr/>
        </p:nvSpPr>
        <p:spPr>
          <a:xfrm>
            <a:off x="4937760" y="2377440"/>
            <a:ext cx="199080" cy="199080"/>
          </a:xfrm>
          <a:prstGeom prst="ellipse">
            <a:avLst/>
          </a:prstGeom>
          <a:solidFill>
            <a:srgbClr val="DC2626"/>
          </a:solidFill>
          <a:ln w="12600">
            <a:solidFill>
              <a:srgbClr val="DC2626"/>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28" name="Text 24"/>
          <p:cNvSpPr/>
          <p:nvPr/>
        </p:nvSpPr>
        <p:spPr>
          <a:xfrm>
            <a:off x="4937760" y="2377440"/>
            <a:ext cx="19908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ambria"/>
                <a:ea typeface="Cambria"/>
              </a:rPr>
              <a:t>!</a:t>
            </a:r>
            <a:endParaRPr lang="en-GB" sz="1000" b="0" u="none" strike="noStrike">
              <a:solidFill>
                <a:srgbClr val="000000"/>
              </a:solidFill>
              <a:effectLst/>
              <a:uFillTx/>
              <a:latin typeface="Arial"/>
            </a:endParaRPr>
          </a:p>
        </p:txBody>
      </p:sp>
      <p:sp>
        <p:nvSpPr>
          <p:cNvPr id="629" name="Text 25"/>
          <p:cNvSpPr/>
          <p:nvPr/>
        </p:nvSpPr>
        <p:spPr>
          <a:xfrm>
            <a:off x="5212080" y="2331720"/>
            <a:ext cx="351828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Every intermediary publishes exactly 1 on-chain tx</a:t>
            </a:r>
            <a:endParaRPr lang="en-GB" sz="1100" b="0" u="none" strike="noStrike">
              <a:solidFill>
                <a:srgbClr val="000000"/>
              </a:solidFill>
              <a:effectLst/>
              <a:uFillTx/>
              <a:latin typeface="Arial"/>
            </a:endParaRPr>
          </a:p>
        </p:txBody>
      </p:sp>
      <p:sp>
        <p:nvSpPr>
          <p:cNvPr id="630" name="Shape 26"/>
          <p:cNvSpPr/>
          <p:nvPr/>
        </p:nvSpPr>
        <p:spPr>
          <a:xfrm>
            <a:off x="4937760" y="2880360"/>
            <a:ext cx="199080" cy="199080"/>
          </a:xfrm>
          <a:prstGeom prst="ellipse">
            <a:avLst/>
          </a:prstGeom>
          <a:solidFill>
            <a:srgbClr val="DC2626"/>
          </a:solidFill>
          <a:ln w="12600">
            <a:solidFill>
              <a:srgbClr val="DC2626"/>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31" name="Text 27"/>
          <p:cNvSpPr/>
          <p:nvPr/>
        </p:nvSpPr>
        <p:spPr>
          <a:xfrm>
            <a:off x="4937760" y="2880360"/>
            <a:ext cx="19908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ambria"/>
                <a:ea typeface="Cambria"/>
              </a:rPr>
              <a:t>!</a:t>
            </a:r>
            <a:endParaRPr lang="en-GB" sz="1000" b="0" u="none" strike="noStrike">
              <a:solidFill>
                <a:srgbClr val="000000"/>
              </a:solidFill>
              <a:effectLst/>
              <a:uFillTx/>
              <a:latin typeface="Arial"/>
            </a:endParaRPr>
          </a:p>
        </p:txBody>
      </p:sp>
      <p:sp>
        <p:nvSpPr>
          <p:cNvPr id="632" name="Text 28"/>
          <p:cNvSpPr/>
          <p:nvPr/>
        </p:nvSpPr>
        <p:spPr>
          <a:xfrm>
            <a:off x="5212080" y="2834640"/>
            <a:ext cx="351828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Each endpoint publishes 0–3 on-chain txs</a:t>
            </a:r>
            <a:endParaRPr lang="en-GB" sz="1100" b="0" u="none" strike="noStrike">
              <a:solidFill>
                <a:srgbClr val="000000"/>
              </a:solidFill>
              <a:effectLst/>
              <a:uFillTx/>
              <a:latin typeface="Arial"/>
            </a:endParaRPr>
          </a:p>
        </p:txBody>
      </p:sp>
      <p:sp>
        <p:nvSpPr>
          <p:cNvPr id="633" name="Shape 29"/>
          <p:cNvSpPr/>
          <p:nvPr/>
        </p:nvSpPr>
        <p:spPr>
          <a:xfrm>
            <a:off x="4937760" y="3383280"/>
            <a:ext cx="199080" cy="199080"/>
          </a:xfrm>
          <a:prstGeom prst="ellipse">
            <a:avLst/>
          </a:prstGeom>
          <a:solidFill>
            <a:srgbClr val="DC2626"/>
          </a:solidFill>
          <a:ln w="12600">
            <a:solidFill>
              <a:srgbClr val="DC2626"/>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34" name="Text 30"/>
          <p:cNvSpPr/>
          <p:nvPr/>
        </p:nvSpPr>
        <p:spPr>
          <a:xfrm>
            <a:off x="4937760" y="3383280"/>
            <a:ext cx="19908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ambria"/>
                <a:ea typeface="Cambria"/>
              </a:rPr>
              <a:t>!</a:t>
            </a:r>
            <a:endParaRPr lang="en-GB" sz="1000" b="0" u="none" strike="noStrike">
              <a:solidFill>
                <a:srgbClr val="000000"/>
              </a:solidFill>
              <a:effectLst/>
              <a:uFillTx/>
              <a:latin typeface="Arial"/>
            </a:endParaRPr>
          </a:p>
        </p:txBody>
      </p:sp>
      <p:sp>
        <p:nvSpPr>
          <p:cNvPr id="635" name="Text 31"/>
          <p:cNvSpPr/>
          <p:nvPr/>
        </p:nvSpPr>
        <p:spPr>
          <a:xfrm>
            <a:off x="5212080" y="3337560"/>
            <a:ext cx="351828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If any intermediary stays inactive, a timelock collapses its slot into the funding output (they lose collateral)</a:t>
            </a:r>
            <a:endParaRPr lang="en-GB" sz="1100" b="0" u="none" strike="noStrike">
              <a:solidFill>
                <a:srgbClr val="000000"/>
              </a:solidFill>
              <a:effectLst/>
              <a:uFillTx/>
              <a:latin typeface="Arial"/>
            </a:endParaRPr>
          </a:p>
        </p:txBody>
      </p:sp>
      <p:sp>
        <p:nvSpPr>
          <p:cNvPr id="636" name="Shape 32"/>
          <p:cNvSpPr/>
          <p:nvPr/>
        </p:nvSpPr>
        <p:spPr>
          <a:xfrm>
            <a:off x="4937760" y="3886200"/>
            <a:ext cx="199080" cy="199080"/>
          </a:xfrm>
          <a:prstGeom prst="ellipse">
            <a:avLst/>
          </a:prstGeom>
          <a:solidFill>
            <a:srgbClr val="DC2626"/>
          </a:solidFill>
          <a:ln w="12600">
            <a:solidFill>
              <a:srgbClr val="DC2626"/>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37" name="Text 33"/>
          <p:cNvSpPr/>
          <p:nvPr/>
        </p:nvSpPr>
        <p:spPr>
          <a:xfrm>
            <a:off x="4937760" y="3886200"/>
            <a:ext cx="199080" cy="199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Cambria"/>
                <a:ea typeface="Cambria"/>
              </a:rPr>
              <a:t>!</a:t>
            </a:r>
            <a:endParaRPr lang="en-GB" sz="1000" b="0" u="none" strike="noStrike">
              <a:solidFill>
                <a:srgbClr val="000000"/>
              </a:solidFill>
              <a:effectLst/>
              <a:uFillTx/>
              <a:latin typeface="Arial"/>
            </a:endParaRPr>
          </a:p>
        </p:txBody>
      </p:sp>
      <p:sp>
        <p:nvSpPr>
          <p:cNvPr id="638" name="Text 34"/>
          <p:cNvSpPr/>
          <p:nvPr/>
        </p:nvSpPr>
        <p:spPr>
          <a:xfrm>
            <a:off x="5212080" y="3840480"/>
            <a:ext cx="351828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0F1B3D"/>
                </a:solidFill>
                <a:effectLst/>
                <a:uFillTx/>
                <a:latin typeface="Calibri"/>
                <a:ea typeface="Calibri"/>
              </a:rPr>
              <a:t>Total cost is independent of path length</a:t>
            </a:r>
            <a:endParaRPr lang="en-GB" sz="1100" b="0" u="none" strike="noStrike">
              <a:solidFill>
                <a:srgbClr val="000000"/>
              </a:solidFill>
              <a:effectLst/>
              <a:uFillTx/>
              <a:latin typeface="Arial"/>
            </a:endParaRPr>
          </a:p>
        </p:txBody>
      </p:sp>
      <p:sp>
        <p:nvSpPr>
          <p:cNvPr id="639" name="Text 35"/>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640" name="Text 36"/>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12 / 14</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1" name="Text 0"/>
          <p:cNvSpPr/>
          <p:nvPr/>
        </p:nvSpPr>
        <p:spPr>
          <a:xfrm>
            <a:off x="365760" y="255960"/>
            <a:ext cx="8410320" cy="50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F1B3D"/>
                </a:solidFill>
                <a:effectLst/>
                <a:uFillTx/>
                <a:latin typeface="Cambria"/>
                <a:ea typeface="Cambria"/>
              </a:rPr>
              <a:t>Elmo holds its own on cost &amp; simulated latency</a:t>
            </a:r>
            <a:endParaRPr lang="en-GB" sz="2600" b="0" u="none" strike="noStrike">
              <a:solidFill>
                <a:srgbClr val="000000"/>
              </a:solidFill>
              <a:effectLst/>
              <a:uFillTx/>
              <a:latin typeface="Arial"/>
            </a:endParaRPr>
          </a:p>
        </p:txBody>
      </p:sp>
      <p:sp>
        <p:nvSpPr>
          <p:cNvPr id="642" name="Text 1"/>
          <p:cNvSpPr/>
          <p:nvPr/>
        </p:nvSpPr>
        <p:spPr>
          <a:xfrm>
            <a:off x="365760" y="749880"/>
            <a:ext cx="8410320" cy="29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A6B8C"/>
                </a:solidFill>
                <a:effectLst/>
                <a:uFillTx/>
                <a:latin typeface="Calibri"/>
                <a:ea typeface="Calibri"/>
              </a:rPr>
              <a:t>On par with Donner, slightly cheaper than LVPC — with strictly more flexibility</a:t>
            </a:r>
            <a:endParaRPr lang="en-GB" sz="1300" b="0" u="none" strike="noStrike">
              <a:solidFill>
                <a:srgbClr val="000000"/>
              </a:solidFill>
              <a:effectLst/>
              <a:uFillTx/>
              <a:latin typeface="Arial"/>
            </a:endParaRPr>
          </a:p>
        </p:txBody>
      </p:sp>
      <p:sp>
        <p:nvSpPr>
          <p:cNvPr id="643" name="Text 3"/>
          <p:cNvSpPr/>
          <p:nvPr/>
        </p:nvSpPr>
        <p:spPr>
          <a:xfrm>
            <a:off x="365760" y="1280160"/>
            <a:ext cx="429552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5A6B8C"/>
                </a:solidFill>
                <a:effectLst/>
                <a:uFillTx/>
                <a:latin typeface="Cambria"/>
                <a:ea typeface="Cambria"/>
              </a:rPr>
              <a:t>Average payment delay (seconds, less is better)</a:t>
            </a:r>
            <a:endParaRPr lang="en-GB" sz="1100" b="0" u="none" strike="noStrike">
              <a:solidFill>
                <a:srgbClr val="000000"/>
              </a:solidFill>
              <a:effectLst/>
              <a:uFillTx/>
              <a:latin typeface="Arial"/>
            </a:endParaRPr>
          </a:p>
        </p:txBody>
      </p:sp>
      <p:graphicFrame>
        <p:nvGraphicFramePr>
          <p:cNvPr id="644" name="Chart 0"/>
          <p:cNvGraphicFramePr/>
          <p:nvPr/>
        </p:nvGraphicFramePr>
        <p:xfrm>
          <a:off x="365760" y="1554480"/>
          <a:ext cx="4386960" cy="3106800"/>
        </p:xfrm>
        <a:graphic>
          <a:graphicData uri="http://schemas.openxmlformats.org/drawingml/2006/chart">
            <c:chart xmlns:c="http://schemas.openxmlformats.org/drawingml/2006/chart" xmlns:r="http://schemas.openxmlformats.org/officeDocument/2006/relationships" r:id="rId1"/>
          </a:graphicData>
        </a:graphic>
      </p:graphicFrame>
      <p:sp>
        <p:nvSpPr>
          <p:cNvPr id="645" name="Text 4"/>
          <p:cNvSpPr/>
          <p:nvPr/>
        </p:nvSpPr>
        <p:spPr>
          <a:xfrm>
            <a:off x="4937760" y="1280160"/>
            <a:ext cx="383832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5A6B8C"/>
                </a:solidFill>
                <a:effectLst/>
                <a:uFillTx/>
                <a:latin typeface="Cambria"/>
                <a:ea typeface="Cambria"/>
              </a:rPr>
              <a:t>Relative payment fees (1.0 = highest, less is better)</a:t>
            </a:r>
            <a:endParaRPr lang="en-GB" sz="1100" b="0" u="none" strike="noStrike">
              <a:solidFill>
                <a:srgbClr val="000000"/>
              </a:solidFill>
              <a:effectLst/>
              <a:uFillTx/>
              <a:latin typeface="Arial"/>
            </a:endParaRPr>
          </a:p>
        </p:txBody>
      </p:sp>
      <p:graphicFrame>
        <p:nvGraphicFramePr>
          <p:cNvPr id="646" name="Chart 1"/>
          <p:cNvGraphicFramePr/>
          <p:nvPr/>
        </p:nvGraphicFramePr>
        <p:xfrm>
          <a:off x="4937760" y="1554480"/>
          <a:ext cx="3838320" cy="3106800"/>
        </p:xfrm>
        <a:graphic>
          <a:graphicData uri="http://schemas.openxmlformats.org/drawingml/2006/chart">
            <c:chart xmlns:c="http://schemas.openxmlformats.org/drawingml/2006/chart" xmlns:r="http://schemas.openxmlformats.org/officeDocument/2006/relationships" r:id="rId2"/>
          </a:graphicData>
        </a:graphic>
      </p:graphicFrame>
      <p:sp>
        <p:nvSpPr>
          <p:cNvPr id="647" name="Shape 5"/>
          <p:cNvSpPr/>
          <p:nvPr/>
        </p:nvSpPr>
        <p:spPr>
          <a:xfrm>
            <a:off x="365760" y="4754880"/>
            <a:ext cx="8410320" cy="52560"/>
          </a:xfrm>
          <a:prstGeom prst="rect">
            <a:avLst/>
          </a:prstGeom>
          <a:solidFill>
            <a:srgbClr val="F7931A"/>
          </a:solidFill>
          <a:ln w="12600">
            <a:solidFill>
              <a:srgbClr val="F7931A"/>
            </a:solidFill>
            <a:round/>
          </a:ln>
        </p:spPr>
        <p:style>
          <a:lnRef idx="0"/>
          <a:fillRef idx="0"/>
          <a:effectRef idx="0"/>
          <a:fontRef idx="minor"/>
        </p:style>
        <p:txBody>
          <a:bodyPr lIns="90000" tIns="9720" rIns="90000" bIns="9720" anchor="t">
            <a:noAutofit/>
          </a:bodyPr>
          <a:p>
            <a:endParaRPr lang="en-GB" sz="1800" b="0" u="none" strike="noStrike">
              <a:solidFill>
                <a:srgbClr val="000000"/>
              </a:solidFill>
              <a:effectLst/>
              <a:uFillTx/>
              <a:latin typeface="Arial"/>
            </a:endParaRPr>
          </a:p>
        </p:txBody>
      </p:sp>
      <p:sp>
        <p:nvSpPr>
          <p:cNvPr id="648" name="Text 6"/>
          <p:cNvSpPr/>
          <p:nvPr/>
        </p:nvSpPr>
        <p:spPr>
          <a:xfrm>
            <a:off x="365760" y="4892040"/>
            <a:ext cx="3655440" cy="22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6B8C"/>
                </a:solidFill>
                <a:effectLst/>
                <a:uFillTx/>
                <a:latin typeface="Calibri"/>
                <a:ea typeface="Calibri"/>
              </a:rPr>
              <a:t>Elmo · ICBC 2026</a:t>
            </a:r>
            <a:endParaRPr lang="en-GB" sz="900" b="0" u="none" strike="noStrike">
              <a:solidFill>
                <a:srgbClr val="000000"/>
              </a:solidFill>
              <a:effectLst/>
              <a:uFillTx/>
              <a:latin typeface="Arial"/>
            </a:endParaRPr>
          </a:p>
        </p:txBody>
      </p:sp>
      <p:sp>
        <p:nvSpPr>
          <p:cNvPr id="649" name="Text 7"/>
          <p:cNvSpPr/>
          <p:nvPr/>
        </p:nvSpPr>
        <p:spPr>
          <a:xfrm>
            <a:off x="8321040" y="4892040"/>
            <a:ext cx="729360" cy="22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5A6B8C"/>
                </a:solidFill>
                <a:effectLst/>
                <a:uFillTx/>
                <a:latin typeface="Calibri"/>
                <a:ea typeface="Calibri"/>
              </a:rPr>
              <a:t>13 / 14</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650" name="Shape 0"/>
          <p:cNvSpPr/>
          <p:nvPr/>
        </p:nvSpPr>
        <p:spPr>
          <a:xfrm>
            <a:off x="457200" y="457200"/>
            <a:ext cx="162360" cy="162360"/>
          </a:xfrm>
          <a:prstGeom prst="ellipse">
            <a:avLst/>
          </a:prstGeom>
          <a:solidFill>
            <a:srgbClr val="F7931A"/>
          </a:solidFill>
          <a:ln w="12600">
            <a:solidFill>
              <a:srgbClr val="F7931A"/>
            </a:solidFill>
            <a:round/>
          </a:ln>
        </p:spPr>
        <p:style>
          <a:lnRef idx="0"/>
          <a:fillRef idx="0"/>
          <a:effectRef idx="0"/>
          <a:fontRef idx="minor"/>
        </p:style>
        <p:txBody>
          <a:bodyPr lIns="81360" tIns="45000" rIns="81360" bIns="45000" anchor="t">
            <a:noAutofit/>
          </a:bodyPr>
          <a:p>
            <a:endParaRPr lang="en-GB" sz="1800" b="0" u="none" strike="noStrike">
              <a:solidFill>
                <a:srgbClr val="000000"/>
              </a:solidFill>
              <a:effectLst/>
              <a:uFillTx/>
              <a:latin typeface="Arial"/>
            </a:endParaRPr>
          </a:p>
        </p:txBody>
      </p:sp>
      <p:sp>
        <p:nvSpPr>
          <p:cNvPr id="651" name="Text 1"/>
          <p:cNvSpPr/>
          <p:nvPr/>
        </p:nvSpPr>
        <p:spPr>
          <a:xfrm>
            <a:off x="457200" y="777240"/>
            <a:ext cx="8227440" cy="36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5C26B"/>
                </a:solidFill>
                <a:effectLst/>
                <a:uFillTx/>
                <a:latin typeface="Calibri"/>
                <a:ea typeface="Calibri"/>
              </a:rPr>
              <a:t>TAKEAWAYS</a:t>
            </a:r>
            <a:endParaRPr lang="en-GB" sz="1300" b="0" u="none" strike="noStrike">
              <a:solidFill>
                <a:srgbClr val="FFFFFF"/>
              </a:solidFill>
              <a:effectLst/>
              <a:uFillTx/>
              <a:latin typeface="Arial"/>
            </a:endParaRPr>
          </a:p>
        </p:txBody>
      </p:sp>
      <p:sp>
        <p:nvSpPr>
          <p:cNvPr id="652" name="Text 2"/>
          <p:cNvSpPr/>
          <p:nvPr/>
        </p:nvSpPr>
        <p:spPr>
          <a:xfrm>
            <a:off x="457200" y="1143000"/>
            <a:ext cx="8227440" cy="72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000" b="1" u="none" strike="noStrike">
                <a:solidFill>
                  <a:srgbClr val="FFFFFF"/>
                </a:solidFill>
                <a:effectLst/>
                <a:uFillTx/>
                <a:latin typeface="Cambria"/>
                <a:ea typeface="Cambria"/>
              </a:rPr>
              <a:t>Elmo</a:t>
            </a:r>
            <a:endParaRPr lang="en-GB" sz="5000" b="0" u="none" strike="noStrike">
              <a:solidFill>
                <a:srgbClr val="FFFFFF"/>
              </a:solidFill>
              <a:effectLst/>
              <a:uFillTx/>
              <a:latin typeface="Arial"/>
            </a:endParaRPr>
          </a:p>
        </p:txBody>
      </p:sp>
      <p:sp>
        <p:nvSpPr>
          <p:cNvPr id="653" name="Shape 3"/>
          <p:cNvSpPr/>
          <p:nvPr/>
        </p:nvSpPr>
        <p:spPr>
          <a:xfrm>
            <a:off x="457200" y="2057400"/>
            <a:ext cx="8227440" cy="500760"/>
          </a:xfrm>
          <a:prstGeom prst="rect">
            <a:avLst/>
          </a:prstGeom>
          <a:solidFill>
            <a:srgbClr val="1A2A5C"/>
          </a:solidFill>
          <a:ln w="12600">
            <a:solidFill>
              <a:srgbClr val="2A3A6E"/>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654" name="Image 0" descr="preencoded.png"/>
          <p:cNvPicPr/>
          <p:nvPr/>
        </p:nvPicPr>
        <p:blipFill>
          <a:blip r:embed="rId1"/>
          <a:stretch/>
        </p:blipFill>
        <p:spPr>
          <a:xfrm>
            <a:off x="594360" y="2167200"/>
            <a:ext cx="290520" cy="290520"/>
          </a:xfrm>
          <a:prstGeom prst="rect">
            <a:avLst/>
          </a:prstGeom>
          <a:noFill/>
          <a:ln w="0">
            <a:noFill/>
          </a:ln>
        </p:spPr>
      </p:pic>
      <p:sp>
        <p:nvSpPr>
          <p:cNvPr id="655" name="Text 4"/>
          <p:cNvSpPr/>
          <p:nvPr/>
        </p:nvSpPr>
        <p:spPr>
          <a:xfrm>
            <a:off x="1005840" y="2094120"/>
            <a:ext cx="502704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Cambria"/>
                <a:ea typeface="Cambria"/>
              </a:rPr>
              <a:t>Recursive · Variadic · Symmetric</a:t>
            </a:r>
            <a:endParaRPr lang="en-GB" sz="1400" b="0" u="none" strike="noStrike">
              <a:solidFill>
                <a:srgbClr val="FFFFFF"/>
              </a:solidFill>
              <a:effectLst/>
              <a:uFillTx/>
              <a:latin typeface="Arial"/>
            </a:endParaRPr>
          </a:p>
        </p:txBody>
      </p:sp>
      <p:sp>
        <p:nvSpPr>
          <p:cNvPr id="656" name="Text 5"/>
          <p:cNvSpPr/>
          <p:nvPr/>
        </p:nvSpPr>
        <p:spPr>
          <a:xfrm>
            <a:off x="1005840" y="2313360"/>
            <a:ext cx="71301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B8C2D8"/>
                </a:solidFill>
                <a:effectLst/>
                <a:uFillTx/>
                <a:latin typeface="Calibri"/>
                <a:ea typeface="Calibri"/>
              </a:rPr>
              <a:t>First Bitcoin construction with all three — open problem closed for indefinite-lifetime channels</a:t>
            </a:r>
            <a:endParaRPr lang="en-GB" sz="1000" b="0" u="none" strike="noStrike">
              <a:solidFill>
                <a:srgbClr val="FFFFFF"/>
              </a:solidFill>
              <a:effectLst/>
              <a:uFillTx/>
              <a:latin typeface="Arial"/>
            </a:endParaRPr>
          </a:p>
        </p:txBody>
      </p:sp>
      <p:sp>
        <p:nvSpPr>
          <p:cNvPr id="657" name="Shape 6"/>
          <p:cNvSpPr/>
          <p:nvPr/>
        </p:nvSpPr>
        <p:spPr>
          <a:xfrm>
            <a:off x="457200" y="2651760"/>
            <a:ext cx="8227440" cy="500760"/>
          </a:xfrm>
          <a:prstGeom prst="rect">
            <a:avLst/>
          </a:prstGeom>
          <a:solidFill>
            <a:srgbClr val="1A2A5C"/>
          </a:solidFill>
          <a:ln w="12600">
            <a:solidFill>
              <a:srgbClr val="2A3A6E"/>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658" name="Image 1" descr="preencoded.png"/>
          <p:cNvPicPr/>
          <p:nvPr/>
        </p:nvPicPr>
        <p:blipFill>
          <a:blip r:embed="rId2"/>
          <a:stretch/>
        </p:blipFill>
        <p:spPr>
          <a:xfrm>
            <a:off x="594360" y="2761560"/>
            <a:ext cx="290520" cy="290520"/>
          </a:xfrm>
          <a:prstGeom prst="rect">
            <a:avLst/>
          </a:prstGeom>
          <a:noFill/>
          <a:ln w="0">
            <a:noFill/>
          </a:ln>
        </p:spPr>
      </p:pic>
      <p:sp>
        <p:nvSpPr>
          <p:cNvPr id="659" name="Text 7"/>
          <p:cNvSpPr/>
          <p:nvPr/>
        </p:nvSpPr>
        <p:spPr>
          <a:xfrm>
            <a:off x="1005840" y="2688480"/>
            <a:ext cx="502704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Cambria"/>
                <a:ea typeface="Cambria"/>
              </a:rPr>
              <a:t>Powered by ANYPREVOUT</a:t>
            </a:r>
            <a:endParaRPr lang="en-GB" sz="1400" b="0" u="none" strike="noStrike">
              <a:solidFill>
                <a:srgbClr val="FFFFFF"/>
              </a:solidFill>
              <a:effectLst/>
              <a:uFillTx/>
              <a:latin typeface="Arial"/>
            </a:endParaRPr>
          </a:p>
        </p:txBody>
      </p:sp>
      <p:sp>
        <p:nvSpPr>
          <p:cNvPr id="660" name="Text 8"/>
          <p:cNvSpPr/>
          <p:nvPr/>
        </p:nvSpPr>
        <p:spPr>
          <a:xfrm>
            <a:off x="1005840" y="2907720"/>
            <a:ext cx="71301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B8C2D8"/>
                </a:solidFill>
                <a:effectLst/>
                <a:uFillTx/>
                <a:latin typeface="Calibri"/>
                <a:ea typeface="Calibri"/>
              </a:rPr>
              <a:t>One pair of commitment txs spans every closing scenario · payments stay O(1)</a:t>
            </a:r>
            <a:endParaRPr lang="en-GB" sz="1000" b="0" u="none" strike="noStrike">
              <a:solidFill>
                <a:srgbClr val="FFFFFF"/>
              </a:solidFill>
              <a:effectLst/>
              <a:uFillTx/>
              <a:latin typeface="Arial"/>
            </a:endParaRPr>
          </a:p>
        </p:txBody>
      </p:sp>
      <p:sp>
        <p:nvSpPr>
          <p:cNvPr id="661" name="Shape 9"/>
          <p:cNvSpPr/>
          <p:nvPr/>
        </p:nvSpPr>
        <p:spPr>
          <a:xfrm>
            <a:off x="457200" y="3246120"/>
            <a:ext cx="8227440" cy="500760"/>
          </a:xfrm>
          <a:prstGeom prst="rect">
            <a:avLst/>
          </a:prstGeom>
          <a:solidFill>
            <a:srgbClr val="1A2A5C"/>
          </a:solidFill>
          <a:ln w="12600">
            <a:solidFill>
              <a:srgbClr val="2A3A6E"/>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662" name="Image 2" descr="preencoded.png"/>
          <p:cNvPicPr/>
          <p:nvPr/>
        </p:nvPicPr>
        <p:blipFill>
          <a:blip r:embed="rId3"/>
          <a:stretch/>
        </p:blipFill>
        <p:spPr>
          <a:xfrm>
            <a:off x="594360" y="3355920"/>
            <a:ext cx="290520" cy="290520"/>
          </a:xfrm>
          <a:prstGeom prst="rect">
            <a:avLst/>
          </a:prstGeom>
          <a:noFill/>
          <a:ln w="0">
            <a:noFill/>
          </a:ln>
        </p:spPr>
      </p:pic>
      <p:sp>
        <p:nvSpPr>
          <p:cNvPr id="663" name="Text 10"/>
          <p:cNvSpPr/>
          <p:nvPr/>
        </p:nvSpPr>
        <p:spPr>
          <a:xfrm>
            <a:off x="1005840" y="3282840"/>
            <a:ext cx="502704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Cambria"/>
                <a:ea typeface="Cambria"/>
              </a:rPr>
              <a:t>UC-secure with balance security</a:t>
            </a:r>
            <a:endParaRPr lang="en-GB" sz="1400" b="0" u="none" strike="noStrike">
              <a:solidFill>
                <a:srgbClr val="FFFFFF"/>
              </a:solidFill>
              <a:effectLst/>
              <a:uFillTx/>
              <a:latin typeface="Arial"/>
            </a:endParaRPr>
          </a:p>
        </p:txBody>
      </p:sp>
      <p:sp>
        <p:nvSpPr>
          <p:cNvPr id="664" name="Text 11"/>
          <p:cNvSpPr/>
          <p:nvPr/>
        </p:nvSpPr>
        <p:spPr>
          <a:xfrm>
            <a:off x="1005840" y="3502080"/>
            <a:ext cx="71301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B8C2D8"/>
                </a:solidFill>
                <a:effectLst/>
                <a:uFillTx/>
                <a:latin typeface="Calibri"/>
                <a:ea typeface="Calibri"/>
              </a:rPr>
              <a:t>Novel induction-based proof technique for recursive functionalities</a:t>
            </a:r>
            <a:endParaRPr lang="en-GB" sz="1000" b="0" u="none" strike="noStrike">
              <a:solidFill>
                <a:srgbClr val="FFFFFF"/>
              </a:solidFill>
              <a:effectLst/>
              <a:uFillTx/>
              <a:latin typeface="Arial"/>
            </a:endParaRPr>
          </a:p>
        </p:txBody>
      </p:sp>
      <p:sp>
        <p:nvSpPr>
          <p:cNvPr id="665" name="Shape 12"/>
          <p:cNvSpPr/>
          <p:nvPr/>
        </p:nvSpPr>
        <p:spPr>
          <a:xfrm>
            <a:off x="457200" y="3840480"/>
            <a:ext cx="8227440" cy="500760"/>
          </a:xfrm>
          <a:prstGeom prst="rect">
            <a:avLst/>
          </a:prstGeom>
          <a:solidFill>
            <a:srgbClr val="1A2A5C"/>
          </a:solidFill>
          <a:ln w="12600">
            <a:solidFill>
              <a:srgbClr val="2A3A6E"/>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666" name="Image 3" descr="preencoded.png"/>
          <p:cNvPicPr/>
          <p:nvPr/>
        </p:nvPicPr>
        <p:blipFill>
          <a:blip r:embed="rId4"/>
          <a:stretch/>
        </p:blipFill>
        <p:spPr>
          <a:xfrm>
            <a:off x="594360" y="3950280"/>
            <a:ext cx="290520" cy="290520"/>
          </a:xfrm>
          <a:prstGeom prst="rect">
            <a:avLst/>
          </a:prstGeom>
          <a:noFill/>
          <a:ln w="0">
            <a:noFill/>
          </a:ln>
        </p:spPr>
      </p:pic>
      <p:sp>
        <p:nvSpPr>
          <p:cNvPr id="667" name="Text 13"/>
          <p:cNvSpPr/>
          <p:nvPr/>
        </p:nvSpPr>
        <p:spPr>
          <a:xfrm>
            <a:off x="1005840" y="3877200"/>
            <a:ext cx="502704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Cambria"/>
                <a:ea typeface="Cambria"/>
              </a:rPr>
              <a:t>Practical &amp; evaluated</a:t>
            </a:r>
            <a:endParaRPr lang="en-GB" sz="1400" b="0" u="none" strike="noStrike">
              <a:solidFill>
                <a:srgbClr val="FFFFFF"/>
              </a:solidFill>
              <a:effectLst/>
              <a:uFillTx/>
              <a:latin typeface="Arial"/>
            </a:endParaRPr>
          </a:p>
        </p:txBody>
      </p:sp>
      <p:sp>
        <p:nvSpPr>
          <p:cNvPr id="668" name="Text 14"/>
          <p:cNvSpPr/>
          <p:nvPr/>
        </p:nvSpPr>
        <p:spPr>
          <a:xfrm>
            <a:off x="1005840" y="4096440"/>
            <a:ext cx="7130160" cy="27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B8C2D8"/>
                </a:solidFill>
                <a:effectLst/>
                <a:uFillTx/>
                <a:latin typeface="Calibri"/>
                <a:ea typeface="Calibri"/>
              </a:rPr>
              <a:t>Open-source simulator · matches or beats Donner and LVPC on latency and fees</a:t>
            </a:r>
            <a:endParaRPr lang="en-GB" sz="1000" b="0" u="none" strike="noStrike">
              <a:solidFill>
                <a:srgbClr val="FFFFFF"/>
              </a:solidFill>
              <a:effectLst/>
              <a:uFillTx/>
              <a:latin typeface="Arial"/>
            </a:endParaRPr>
          </a:p>
        </p:txBody>
      </p:sp>
      <p:sp>
        <p:nvSpPr>
          <p:cNvPr id="669" name="Text 15"/>
          <p:cNvSpPr/>
          <p:nvPr/>
        </p:nvSpPr>
        <p:spPr>
          <a:xfrm>
            <a:off x="457200" y="4617720"/>
            <a:ext cx="5484240" cy="36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i="1" u="none" strike="noStrike">
                <a:solidFill>
                  <a:srgbClr val="F5C26B"/>
                </a:solidFill>
                <a:effectLst/>
                <a:uFillTx/>
                <a:latin typeface="Cambria"/>
                <a:ea typeface="Cambria"/>
              </a:rPr>
              <a:t>Thank you — questions?</a:t>
            </a:r>
            <a:endParaRPr lang="en-GB" sz="2000" b="0" u="none" strike="noStrike">
              <a:solidFill>
                <a:srgbClr val="FFFFFF"/>
              </a:solidFill>
              <a:effectLst/>
              <a:uFillTx/>
              <a:latin typeface="Arial"/>
            </a:endParaRPr>
          </a:p>
        </p:txBody>
      </p:sp>
      <p:sp>
        <p:nvSpPr>
          <p:cNvPr id="670" name="Text 16"/>
          <p:cNvSpPr/>
          <p:nvPr/>
        </p:nvSpPr>
        <p:spPr>
          <a:xfrm>
            <a:off x="5486400" y="4709160"/>
            <a:ext cx="3381120" cy="27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F5C26B"/>
                </a:solidFill>
                <a:effectLst/>
                <a:uFillTx/>
                <a:latin typeface="Calibri"/>
                <a:ea typeface="Calibri"/>
              </a:rPr>
              <a:t>orfeas.litos@proton.me</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1671</TotalTime>
  <Application>LibreOffice/26.2.2.2$Linux_X86_64 LibreOffice_project/620$Build-2</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2026-05-12T19:08:25Z</dcterms:created>
  <dc:creator>Kiayias, Schaller, Thyfronitis Litos</dc:creator>
  <dc:description/>
  <dc:language>en-GB</dc:language>
  <cp:lastModifiedBy/>
  <dcterms:modified xsi:type="dcterms:W3CDTF">2026-06-01T05:22:52Z</dcterms:modified>
  <cp:revision>11</cp:revision>
  <dc:subject>PptxGenJS Presentation</dc:subject>
  <dc:title>Elmo: Recursive Virtual Payment Channels for Bitcoin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14</vt:r8>
  </property>
  <property fmtid="{D5CDD505-2E9C-101B-9397-08002B2CF9AE}" pid="3" name="PresentationFormat">
    <vt:lpwstr>On-screen Show (16:9)</vt:lpwstr>
  </property>
  <property fmtid="{D5CDD505-2E9C-101B-9397-08002B2CF9AE}" pid="4" name="Slides">
    <vt:r8>14</vt:r8>
  </property>
</Properties>
</file>